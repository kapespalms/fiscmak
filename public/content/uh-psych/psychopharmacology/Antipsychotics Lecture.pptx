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24" r:id="rId4"/>
  </p:sldMasterIdLst>
  <p:notesMasterIdLst>
    <p:notesMasterId r:id="rId61"/>
  </p:notesMasterIdLst>
  <p:handoutMasterIdLst>
    <p:handoutMasterId r:id="rId62"/>
  </p:handoutMasterIdLst>
  <p:sldIdLst>
    <p:sldId id="350" r:id="rId5"/>
    <p:sldId id="257" r:id="rId6"/>
    <p:sldId id="364" r:id="rId7"/>
    <p:sldId id="258" r:id="rId8"/>
    <p:sldId id="365" r:id="rId9"/>
    <p:sldId id="366" r:id="rId10"/>
    <p:sldId id="342" r:id="rId11"/>
    <p:sldId id="263" r:id="rId12"/>
    <p:sldId id="316" r:id="rId13"/>
    <p:sldId id="319" r:id="rId14"/>
    <p:sldId id="309" r:id="rId15"/>
    <p:sldId id="284" r:id="rId16"/>
    <p:sldId id="351" r:id="rId17"/>
    <p:sldId id="362" r:id="rId18"/>
    <p:sldId id="268" r:id="rId19"/>
    <p:sldId id="293" r:id="rId20"/>
    <p:sldId id="288" r:id="rId21"/>
    <p:sldId id="290" r:id="rId22"/>
    <p:sldId id="296" r:id="rId23"/>
    <p:sldId id="269" r:id="rId24"/>
    <p:sldId id="357" r:id="rId25"/>
    <p:sldId id="294" r:id="rId26"/>
    <p:sldId id="341" r:id="rId27"/>
    <p:sldId id="369" r:id="rId28"/>
    <p:sldId id="370" r:id="rId29"/>
    <p:sldId id="371" r:id="rId30"/>
    <p:sldId id="278" r:id="rId31"/>
    <p:sldId id="298" r:id="rId32"/>
    <p:sldId id="299" r:id="rId33"/>
    <p:sldId id="340" r:id="rId34"/>
    <p:sldId id="358" r:id="rId35"/>
    <p:sldId id="272" r:id="rId36"/>
    <p:sldId id="300" r:id="rId37"/>
    <p:sldId id="301" r:id="rId38"/>
    <p:sldId id="302" r:id="rId39"/>
    <p:sldId id="303" r:id="rId40"/>
    <p:sldId id="367" r:id="rId41"/>
    <p:sldId id="321" r:id="rId42"/>
    <p:sldId id="281" r:id="rId43"/>
    <p:sldId id="276" r:id="rId44"/>
    <p:sldId id="363" r:id="rId45"/>
    <p:sldId id="280" r:id="rId46"/>
    <p:sldId id="274" r:id="rId47"/>
    <p:sldId id="305" r:id="rId48"/>
    <p:sldId id="336" r:id="rId49"/>
    <p:sldId id="337" r:id="rId50"/>
    <p:sldId id="338" r:id="rId51"/>
    <p:sldId id="339" r:id="rId52"/>
    <p:sldId id="306" r:id="rId53"/>
    <p:sldId id="307" r:id="rId54"/>
    <p:sldId id="359" r:id="rId55"/>
    <p:sldId id="283" r:id="rId56"/>
    <p:sldId id="360" r:id="rId57"/>
    <p:sldId id="324" r:id="rId58"/>
    <p:sldId id="270" r:id="rId59"/>
    <p:sldId id="332" r:id="rId60"/>
  </p:sldIdLst>
  <p:sldSz cx="9144000" cy="6858000" type="screen4x3"/>
  <p:notesSz cx="9296400" cy="701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partment of Veterans Affairs" initials="DoVA" lastIdx="17" clrIdx="0"/>
  <p:cmAuthor id="1" name="Fuller, Matthew A. (VHACLE)" initials="FMA(" lastIdx="15" clrIdx="1">
    <p:extLst>
      <p:ext uri="{19B8F6BF-5375-455C-9EA6-DF929625EA0E}">
        <p15:presenceInfo xmlns:p15="http://schemas.microsoft.com/office/powerpoint/2012/main" userId="S-1-5-21-1608456028-1819364391-624655392-4658" providerId="AD"/>
      </p:ext>
    </p:extLst>
  </p:cmAuthor>
  <p:cmAuthor id="2" name="Colleen Hall" initials="CH [11]" lastIdx="1" clrIdx="2"/>
  <p:cmAuthor id="3" name="Willborn, Robert J. (VHACLE)" initials="WRJ(" lastIdx="2" clrIdx="3">
    <p:extLst>
      <p:ext uri="{19B8F6BF-5375-455C-9EA6-DF929625EA0E}">
        <p15:presenceInfo xmlns:p15="http://schemas.microsoft.com/office/powerpoint/2012/main" userId="S-1-5-21-1608456028-1819364391-624655392-25334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9" autoAdjust="0"/>
    <p:restoredTop sz="79092" autoAdjust="0"/>
  </p:normalViewPr>
  <p:slideViewPr>
    <p:cSldViewPr>
      <p:cViewPr varScale="1">
        <p:scale>
          <a:sx n="86" d="100"/>
          <a:sy n="86" d="100"/>
        </p:scale>
        <p:origin x="732"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3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B7F6F3-765A-4617-8B98-939EE37747C6}" type="doc">
      <dgm:prSet loTypeId="urn:microsoft.com/office/officeart/2011/layout/TabList" loCatId="list" qsTypeId="urn:microsoft.com/office/officeart/2005/8/quickstyle/simple1" qsCatId="simple" csTypeId="urn:microsoft.com/office/officeart/2005/8/colors/colorful2" csCatId="colorful" phldr="1"/>
      <dgm:spPr/>
      <dgm:t>
        <a:bodyPr/>
        <a:lstStyle/>
        <a:p>
          <a:endParaRPr lang="en-US"/>
        </a:p>
      </dgm:t>
    </dgm:pt>
    <dgm:pt modelId="{C1B22AA5-DE15-425F-A02A-09520A9EC207}">
      <dgm:prSet phldrT="[Text]"/>
      <dgm:spPr/>
      <dgm:t>
        <a:bodyPr/>
        <a:lstStyle/>
        <a:p>
          <a:r>
            <a:rPr lang="en-US" b="1" dirty="0">
              <a:solidFill>
                <a:schemeClr val="tx1"/>
              </a:solidFill>
            </a:rPr>
            <a:t>Dopamine - D</a:t>
          </a:r>
          <a:r>
            <a:rPr lang="en-US" b="1" baseline="-25000" dirty="0">
              <a:solidFill>
                <a:schemeClr val="tx1"/>
              </a:solidFill>
            </a:rPr>
            <a:t>2</a:t>
          </a:r>
          <a:r>
            <a:rPr lang="en-US" b="1" dirty="0">
              <a:solidFill>
                <a:schemeClr val="tx1"/>
              </a:solidFill>
            </a:rPr>
            <a:t> receptor antagonism</a:t>
          </a:r>
          <a:endParaRPr lang="en-US" dirty="0">
            <a:solidFill>
              <a:schemeClr val="tx1"/>
            </a:solidFill>
          </a:endParaRPr>
        </a:p>
      </dgm:t>
    </dgm:pt>
    <dgm:pt modelId="{8BC42F4C-29C7-4AC2-8A2B-7322DDE3A621}" type="parTrans" cxnId="{B26267A2-63D8-4924-9B12-C857A214C5FF}">
      <dgm:prSet/>
      <dgm:spPr/>
      <dgm:t>
        <a:bodyPr/>
        <a:lstStyle/>
        <a:p>
          <a:endParaRPr lang="en-US"/>
        </a:p>
      </dgm:t>
    </dgm:pt>
    <dgm:pt modelId="{2A35C6A9-4C74-4FB3-BD66-3DD87C81FB0C}" type="sibTrans" cxnId="{B26267A2-63D8-4924-9B12-C857A214C5FF}">
      <dgm:prSet/>
      <dgm:spPr/>
      <dgm:t>
        <a:bodyPr/>
        <a:lstStyle/>
        <a:p>
          <a:endParaRPr lang="en-US"/>
        </a:p>
      </dgm:t>
    </dgm:pt>
    <dgm:pt modelId="{EC395DE4-3A93-4768-BBCC-33F3CFB1561D}">
      <dgm:prSet phldrT="[Text]" custT="1"/>
      <dgm:spPr/>
      <dgm:t>
        <a:bodyPr/>
        <a:lstStyle/>
        <a:p>
          <a:r>
            <a:rPr lang="en-US" sz="2400" dirty="0"/>
            <a:t>Therapeutic effect, EPS, hyperprolactinemia, worsening of negative symptoms </a:t>
          </a:r>
        </a:p>
      </dgm:t>
    </dgm:pt>
    <dgm:pt modelId="{890BAFB6-626D-4575-BF70-644029BE29CA}" type="parTrans" cxnId="{72C95491-0BBF-47FB-835D-522CD5EA8839}">
      <dgm:prSet/>
      <dgm:spPr/>
      <dgm:t>
        <a:bodyPr/>
        <a:lstStyle/>
        <a:p>
          <a:endParaRPr lang="en-US"/>
        </a:p>
      </dgm:t>
    </dgm:pt>
    <dgm:pt modelId="{C74A7AB4-5EBB-4936-BA24-3C5657621030}" type="sibTrans" cxnId="{72C95491-0BBF-47FB-835D-522CD5EA8839}">
      <dgm:prSet/>
      <dgm:spPr/>
      <dgm:t>
        <a:bodyPr/>
        <a:lstStyle/>
        <a:p>
          <a:endParaRPr lang="en-US"/>
        </a:p>
      </dgm:t>
    </dgm:pt>
    <dgm:pt modelId="{B397B88F-186C-49F5-8D79-12EA706C14B8}">
      <dgm:prSet phldrT="[Text]"/>
      <dgm:spPr/>
      <dgm:t>
        <a:bodyPr/>
        <a:lstStyle/>
        <a:p>
          <a:r>
            <a:rPr lang="en-US" b="1" dirty="0">
              <a:solidFill>
                <a:schemeClr val="tx1"/>
              </a:solidFill>
            </a:rPr>
            <a:t>Muscarinic - M</a:t>
          </a:r>
          <a:r>
            <a:rPr lang="en-US" b="1" baseline="-25000" dirty="0">
              <a:solidFill>
                <a:schemeClr val="tx1"/>
              </a:solidFill>
            </a:rPr>
            <a:t>1</a:t>
          </a:r>
          <a:r>
            <a:rPr lang="en-US" b="1" dirty="0">
              <a:solidFill>
                <a:schemeClr val="tx1"/>
              </a:solidFill>
            </a:rPr>
            <a:t> receptor antagonism</a:t>
          </a:r>
          <a:endParaRPr lang="en-US" dirty="0">
            <a:solidFill>
              <a:schemeClr val="tx1"/>
            </a:solidFill>
          </a:endParaRPr>
        </a:p>
      </dgm:t>
    </dgm:pt>
    <dgm:pt modelId="{288FF139-EA9F-425D-8003-FA9AE53B779B}" type="parTrans" cxnId="{E8713605-DC52-4B73-8DAB-4CF2725A0266}">
      <dgm:prSet/>
      <dgm:spPr/>
      <dgm:t>
        <a:bodyPr/>
        <a:lstStyle/>
        <a:p>
          <a:endParaRPr lang="en-US"/>
        </a:p>
      </dgm:t>
    </dgm:pt>
    <dgm:pt modelId="{3E737132-DE81-49C5-B6DE-329B8378D602}" type="sibTrans" cxnId="{E8713605-DC52-4B73-8DAB-4CF2725A0266}">
      <dgm:prSet/>
      <dgm:spPr/>
      <dgm:t>
        <a:bodyPr/>
        <a:lstStyle/>
        <a:p>
          <a:endParaRPr lang="en-US"/>
        </a:p>
      </dgm:t>
    </dgm:pt>
    <dgm:pt modelId="{F3A8CB1F-C16E-42CA-9B8F-C645A216EEAA}">
      <dgm:prSet phldrT="[Text]" custT="1"/>
      <dgm:spPr/>
      <dgm:t>
        <a:bodyPr/>
        <a:lstStyle/>
        <a:p>
          <a:r>
            <a:rPr lang="en-US" sz="2400" dirty="0"/>
            <a:t>Anti-cholinergic effects: dry mouth, constipation, urinary retention, blurry vision </a:t>
          </a:r>
        </a:p>
      </dgm:t>
    </dgm:pt>
    <dgm:pt modelId="{E0BD1605-2BEA-4FCC-AC2D-09A00C7BD40F}" type="parTrans" cxnId="{96AAB8A3-D397-4075-AB6C-184D5AF3C4D2}">
      <dgm:prSet/>
      <dgm:spPr/>
      <dgm:t>
        <a:bodyPr/>
        <a:lstStyle/>
        <a:p>
          <a:endParaRPr lang="en-US"/>
        </a:p>
      </dgm:t>
    </dgm:pt>
    <dgm:pt modelId="{5B3FDD85-05D7-40B6-A010-F9A0CBC7B7A8}" type="sibTrans" cxnId="{96AAB8A3-D397-4075-AB6C-184D5AF3C4D2}">
      <dgm:prSet/>
      <dgm:spPr/>
      <dgm:t>
        <a:bodyPr/>
        <a:lstStyle/>
        <a:p>
          <a:endParaRPr lang="en-US"/>
        </a:p>
      </dgm:t>
    </dgm:pt>
    <dgm:pt modelId="{196B9DCC-0C40-47CF-8E5D-07ABF42F3EC0}">
      <dgm:prSet phldrT="[Text]"/>
      <dgm:spPr/>
      <dgm:t>
        <a:bodyPr/>
        <a:lstStyle/>
        <a:p>
          <a:r>
            <a:rPr lang="en-US" b="1" dirty="0">
              <a:solidFill>
                <a:schemeClr val="tx1"/>
              </a:solidFill>
            </a:rPr>
            <a:t>Histaminic - H</a:t>
          </a:r>
          <a:r>
            <a:rPr lang="en-US" b="1" baseline="-25000" dirty="0">
              <a:solidFill>
                <a:schemeClr val="tx1"/>
              </a:solidFill>
            </a:rPr>
            <a:t>1</a:t>
          </a:r>
          <a:r>
            <a:rPr lang="en-US" b="1" dirty="0">
              <a:solidFill>
                <a:schemeClr val="tx1"/>
              </a:solidFill>
            </a:rPr>
            <a:t> receptor antagonism</a:t>
          </a:r>
          <a:endParaRPr lang="en-US" dirty="0">
            <a:solidFill>
              <a:schemeClr val="tx1"/>
            </a:solidFill>
          </a:endParaRPr>
        </a:p>
      </dgm:t>
    </dgm:pt>
    <dgm:pt modelId="{6DA84A88-7540-41ED-97BF-4C98B934E9FE}" type="parTrans" cxnId="{3F016CBA-90EC-4566-AA99-AE292D39A6C9}">
      <dgm:prSet/>
      <dgm:spPr/>
      <dgm:t>
        <a:bodyPr/>
        <a:lstStyle/>
        <a:p>
          <a:endParaRPr lang="en-US"/>
        </a:p>
      </dgm:t>
    </dgm:pt>
    <dgm:pt modelId="{63BF3999-7438-4E74-9867-AF1ADA2F601B}" type="sibTrans" cxnId="{3F016CBA-90EC-4566-AA99-AE292D39A6C9}">
      <dgm:prSet/>
      <dgm:spPr/>
      <dgm:t>
        <a:bodyPr/>
        <a:lstStyle/>
        <a:p>
          <a:endParaRPr lang="en-US"/>
        </a:p>
      </dgm:t>
    </dgm:pt>
    <dgm:pt modelId="{E3F070E2-49E9-45F7-AE23-1742BF79840F}">
      <dgm:prSet phldrT="[Text]" custT="1"/>
      <dgm:spPr/>
      <dgm:t>
        <a:bodyPr/>
        <a:lstStyle/>
        <a:p>
          <a:r>
            <a:rPr lang="en-US" sz="2400" dirty="0"/>
            <a:t>Sedation, weight gain</a:t>
          </a:r>
        </a:p>
      </dgm:t>
    </dgm:pt>
    <dgm:pt modelId="{136A8B3F-42C3-4D0E-B592-1FB5076CD0AC}" type="parTrans" cxnId="{7008E6DE-C911-460F-BD63-745938A76DFA}">
      <dgm:prSet/>
      <dgm:spPr/>
      <dgm:t>
        <a:bodyPr/>
        <a:lstStyle/>
        <a:p>
          <a:endParaRPr lang="en-US"/>
        </a:p>
      </dgm:t>
    </dgm:pt>
    <dgm:pt modelId="{7BBFB7CD-E897-4D44-BA2D-29B36E4509B3}" type="sibTrans" cxnId="{7008E6DE-C911-460F-BD63-745938A76DFA}">
      <dgm:prSet/>
      <dgm:spPr/>
      <dgm:t>
        <a:bodyPr/>
        <a:lstStyle/>
        <a:p>
          <a:endParaRPr lang="en-US"/>
        </a:p>
      </dgm:t>
    </dgm:pt>
    <dgm:pt modelId="{CD056DEF-C803-43C4-ABD5-6B7C1649EC24}">
      <dgm:prSet/>
      <dgm:spPr/>
      <dgm:t>
        <a:bodyPr/>
        <a:lstStyle/>
        <a:p>
          <a:r>
            <a:rPr lang="en-US" b="1" dirty="0">
              <a:solidFill>
                <a:schemeClr val="tx1"/>
              </a:solidFill>
            </a:rPr>
            <a:t>Alpha</a:t>
          </a:r>
          <a:r>
            <a:rPr lang="en-US" b="1" baseline="-25000" dirty="0">
              <a:solidFill>
                <a:schemeClr val="tx1"/>
              </a:solidFill>
            </a:rPr>
            <a:t>1</a:t>
          </a:r>
          <a:r>
            <a:rPr lang="en-US" b="1" dirty="0">
              <a:solidFill>
                <a:schemeClr val="tx1"/>
              </a:solidFill>
            </a:rPr>
            <a:t> receptor antagonism</a:t>
          </a:r>
        </a:p>
      </dgm:t>
    </dgm:pt>
    <dgm:pt modelId="{5F7BCCAE-966E-4362-9459-C682F6AEA014}" type="parTrans" cxnId="{DCEF9598-A179-461B-927C-852360F04037}">
      <dgm:prSet/>
      <dgm:spPr/>
      <dgm:t>
        <a:bodyPr/>
        <a:lstStyle/>
        <a:p>
          <a:endParaRPr lang="en-US"/>
        </a:p>
      </dgm:t>
    </dgm:pt>
    <dgm:pt modelId="{4A17BD13-77B1-4E1E-8C59-8796F1465F07}" type="sibTrans" cxnId="{DCEF9598-A179-461B-927C-852360F04037}">
      <dgm:prSet/>
      <dgm:spPr/>
      <dgm:t>
        <a:bodyPr/>
        <a:lstStyle/>
        <a:p>
          <a:endParaRPr lang="en-US"/>
        </a:p>
      </dgm:t>
    </dgm:pt>
    <dgm:pt modelId="{2D03C7EB-316C-4495-A328-B709AD94EF8D}">
      <dgm:prSet custT="1"/>
      <dgm:spPr/>
      <dgm:t>
        <a:bodyPr/>
        <a:lstStyle/>
        <a:p>
          <a:r>
            <a:rPr lang="en-US" sz="2400" dirty="0"/>
            <a:t>Syncope, reflex tachycardia </a:t>
          </a:r>
          <a:endParaRPr lang="en-US" sz="2400" b="1" dirty="0"/>
        </a:p>
      </dgm:t>
    </dgm:pt>
    <dgm:pt modelId="{747CAA97-4BAC-4848-85BB-E8845C164477}" type="parTrans" cxnId="{88278347-2517-4509-B762-974790944119}">
      <dgm:prSet/>
      <dgm:spPr/>
      <dgm:t>
        <a:bodyPr/>
        <a:lstStyle/>
        <a:p>
          <a:endParaRPr lang="en-US"/>
        </a:p>
      </dgm:t>
    </dgm:pt>
    <dgm:pt modelId="{04FA5A1B-9F7D-4D8B-9708-F2334E647D55}" type="sibTrans" cxnId="{88278347-2517-4509-B762-974790944119}">
      <dgm:prSet/>
      <dgm:spPr/>
      <dgm:t>
        <a:bodyPr/>
        <a:lstStyle/>
        <a:p>
          <a:endParaRPr lang="en-US"/>
        </a:p>
      </dgm:t>
    </dgm:pt>
    <dgm:pt modelId="{1CEB3C2E-89AE-4E91-826E-64A2BB614252}" type="pres">
      <dgm:prSet presAssocID="{8DB7F6F3-765A-4617-8B98-939EE37747C6}" presName="Name0" presStyleCnt="0">
        <dgm:presLayoutVars>
          <dgm:chMax/>
          <dgm:chPref val="3"/>
          <dgm:dir/>
          <dgm:animOne val="branch"/>
          <dgm:animLvl val="lvl"/>
        </dgm:presLayoutVars>
      </dgm:prSet>
      <dgm:spPr/>
      <dgm:t>
        <a:bodyPr/>
        <a:lstStyle/>
        <a:p>
          <a:endParaRPr lang="en-US"/>
        </a:p>
      </dgm:t>
    </dgm:pt>
    <dgm:pt modelId="{C28267E0-82B8-444B-B58C-28B5C957FFB8}" type="pres">
      <dgm:prSet presAssocID="{C1B22AA5-DE15-425F-A02A-09520A9EC207}" presName="composite" presStyleCnt="0"/>
      <dgm:spPr/>
    </dgm:pt>
    <dgm:pt modelId="{0D0EB5ED-A510-40DA-9FEC-A77C62DFBEAD}" type="pres">
      <dgm:prSet presAssocID="{C1B22AA5-DE15-425F-A02A-09520A9EC207}" presName="FirstChild" presStyleLbl="revTx" presStyleIdx="0" presStyleCnt="4">
        <dgm:presLayoutVars>
          <dgm:chMax val="0"/>
          <dgm:chPref val="0"/>
          <dgm:bulletEnabled val="1"/>
        </dgm:presLayoutVars>
      </dgm:prSet>
      <dgm:spPr/>
      <dgm:t>
        <a:bodyPr/>
        <a:lstStyle/>
        <a:p>
          <a:endParaRPr lang="en-US"/>
        </a:p>
      </dgm:t>
    </dgm:pt>
    <dgm:pt modelId="{3C247E5A-5C67-4C29-B37E-DC71913D56F6}" type="pres">
      <dgm:prSet presAssocID="{C1B22AA5-DE15-425F-A02A-09520A9EC207}" presName="Parent" presStyleLbl="alignNode1" presStyleIdx="0" presStyleCnt="4">
        <dgm:presLayoutVars>
          <dgm:chMax val="3"/>
          <dgm:chPref val="3"/>
          <dgm:bulletEnabled val="1"/>
        </dgm:presLayoutVars>
      </dgm:prSet>
      <dgm:spPr/>
      <dgm:t>
        <a:bodyPr/>
        <a:lstStyle/>
        <a:p>
          <a:endParaRPr lang="en-US"/>
        </a:p>
      </dgm:t>
    </dgm:pt>
    <dgm:pt modelId="{2606DC5D-91F9-4729-B1BF-0D4302FDBBB2}" type="pres">
      <dgm:prSet presAssocID="{C1B22AA5-DE15-425F-A02A-09520A9EC207}" presName="Accent" presStyleLbl="parChTrans1D1" presStyleIdx="0" presStyleCnt="4"/>
      <dgm:spPr/>
    </dgm:pt>
    <dgm:pt modelId="{1BB0EE93-FC26-4F26-9B0F-6FB7DE126C87}" type="pres">
      <dgm:prSet presAssocID="{2A35C6A9-4C74-4FB3-BD66-3DD87C81FB0C}" presName="sibTrans" presStyleCnt="0"/>
      <dgm:spPr/>
    </dgm:pt>
    <dgm:pt modelId="{C14BACB9-94BD-414C-B482-536FD5971633}" type="pres">
      <dgm:prSet presAssocID="{B397B88F-186C-49F5-8D79-12EA706C14B8}" presName="composite" presStyleCnt="0"/>
      <dgm:spPr/>
    </dgm:pt>
    <dgm:pt modelId="{EC1B2C27-9A65-48BA-9308-19FB000BFF57}" type="pres">
      <dgm:prSet presAssocID="{B397B88F-186C-49F5-8D79-12EA706C14B8}" presName="FirstChild" presStyleLbl="revTx" presStyleIdx="1" presStyleCnt="4">
        <dgm:presLayoutVars>
          <dgm:chMax val="0"/>
          <dgm:chPref val="0"/>
          <dgm:bulletEnabled val="1"/>
        </dgm:presLayoutVars>
      </dgm:prSet>
      <dgm:spPr/>
      <dgm:t>
        <a:bodyPr/>
        <a:lstStyle/>
        <a:p>
          <a:endParaRPr lang="en-US"/>
        </a:p>
      </dgm:t>
    </dgm:pt>
    <dgm:pt modelId="{5CAF0CE8-051B-4DDE-BBB8-41D9EB3AD949}" type="pres">
      <dgm:prSet presAssocID="{B397B88F-186C-49F5-8D79-12EA706C14B8}" presName="Parent" presStyleLbl="alignNode1" presStyleIdx="1" presStyleCnt="4">
        <dgm:presLayoutVars>
          <dgm:chMax val="3"/>
          <dgm:chPref val="3"/>
          <dgm:bulletEnabled val="1"/>
        </dgm:presLayoutVars>
      </dgm:prSet>
      <dgm:spPr/>
      <dgm:t>
        <a:bodyPr/>
        <a:lstStyle/>
        <a:p>
          <a:endParaRPr lang="en-US"/>
        </a:p>
      </dgm:t>
    </dgm:pt>
    <dgm:pt modelId="{771A2FC4-5AA4-4467-8E0E-2BF7EFF578E0}" type="pres">
      <dgm:prSet presAssocID="{B397B88F-186C-49F5-8D79-12EA706C14B8}" presName="Accent" presStyleLbl="parChTrans1D1" presStyleIdx="1" presStyleCnt="4"/>
      <dgm:spPr/>
    </dgm:pt>
    <dgm:pt modelId="{1B94CA2E-209F-43D5-9372-C7FAE651E0A8}" type="pres">
      <dgm:prSet presAssocID="{3E737132-DE81-49C5-B6DE-329B8378D602}" presName="sibTrans" presStyleCnt="0"/>
      <dgm:spPr/>
    </dgm:pt>
    <dgm:pt modelId="{88CA68CD-5E94-4E44-B429-E7E86385AAA2}" type="pres">
      <dgm:prSet presAssocID="{196B9DCC-0C40-47CF-8E5D-07ABF42F3EC0}" presName="composite" presStyleCnt="0"/>
      <dgm:spPr/>
    </dgm:pt>
    <dgm:pt modelId="{235F4028-05E8-432E-BA69-B5B429D06EF8}" type="pres">
      <dgm:prSet presAssocID="{196B9DCC-0C40-47CF-8E5D-07ABF42F3EC0}" presName="FirstChild" presStyleLbl="revTx" presStyleIdx="2" presStyleCnt="4">
        <dgm:presLayoutVars>
          <dgm:chMax val="0"/>
          <dgm:chPref val="0"/>
          <dgm:bulletEnabled val="1"/>
        </dgm:presLayoutVars>
      </dgm:prSet>
      <dgm:spPr/>
      <dgm:t>
        <a:bodyPr/>
        <a:lstStyle/>
        <a:p>
          <a:endParaRPr lang="en-US"/>
        </a:p>
      </dgm:t>
    </dgm:pt>
    <dgm:pt modelId="{ACA90746-B35A-4D55-AC23-F323B20CB9BF}" type="pres">
      <dgm:prSet presAssocID="{196B9DCC-0C40-47CF-8E5D-07ABF42F3EC0}" presName="Parent" presStyleLbl="alignNode1" presStyleIdx="2" presStyleCnt="4">
        <dgm:presLayoutVars>
          <dgm:chMax val="3"/>
          <dgm:chPref val="3"/>
          <dgm:bulletEnabled val="1"/>
        </dgm:presLayoutVars>
      </dgm:prSet>
      <dgm:spPr/>
      <dgm:t>
        <a:bodyPr/>
        <a:lstStyle/>
        <a:p>
          <a:endParaRPr lang="en-US"/>
        </a:p>
      </dgm:t>
    </dgm:pt>
    <dgm:pt modelId="{CCDF21BF-C236-489B-A933-DCB043DAD3F0}" type="pres">
      <dgm:prSet presAssocID="{196B9DCC-0C40-47CF-8E5D-07ABF42F3EC0}" presName="Accent" presStyleLbl="parChTrans1D1" presStyleIdx="2" presStyleCnt="4"/>
      <dgm:spPr/>
    </dgm:pt>
    <dgm:pt modelId="{85B3529F-21D5-40E0-950F-C723DAAA355D}" type="pres">
      <dgm:prSet presAssocID="{63BF3999-7438-4E74-9867-AF1ADA2F601B}" presName="sibTrans" presStyleCnt="0"/>
      <dgm:spPr/>
    </dgm:pt>
    <dgm:pt modelId="{E929B343-4F28-4E83-BFD8-A9FC4E02F357}" type="pres">
      <dgm:prSet presAssocID="{CD056DEF-C803-43C4-ABD5-6B7C1649EC24}" presName="composite" presStyleCnt="0"/>
      <dgm:spPr/>
    </dgm:pt>
    <dgm:pt modelId="{F2EA3526-F163-4491-AF62-20057482B768}" type="pres">
      <dgm:prSet presAssocID="{CD056DEF-C803-43C4-ABD5-6B7C1649EC24}" presName="FirstChild" presStyleLbl="revTx" presStyleIdx="3" presStyleCnt="4">
        <dgm:presLayoutVars>
          <dgm:chMax val="0"/>
          <dgm:chPref val="0"/>
          <dgm:bulletEnabled val="1"/>
        </dgm:presLayoutVars>
      </dgm:prSet>
      <dgm:spPr/>
      <dgm:t>
        <a:bodyPr/>
        <a:lstStyle/>
        <a:p>
          <a:endParaRPr lang="en-US"/>
        </a:p>
      </dgm:t>
    </dgm:pt>
    <dgm:pt modelId="{A026E8BA-132E-4BCA-8A6F-1A5A71EA491F}" type="pres">
      <dgm:prSet presAssocID="{CD056DEF-C803-43C4-ABD5-6B7C1649EC24}" presName="Parent" presStyleLbl="alignNode1" presStyleIdx="3" presStyleCnt="4">
        <dgm:presLayoutVars>
          <dgm:chMax val="3"/>
          <dgm:chPref val="3"/>
          <dgm:bulletEnabled val="1"/>
        </dgm:presLayoutVars>
      </dgm:prSet>
      <dgm:spPr/>
      <dgm:t>
        <a:bodyPr/>
        <a:lstStyle/>
        <a:p>
          <a:endParaRPr lang="en-US"/>
        </a:p>
      </dgm:t>
    </dgm:pt>
    <dgm:pt modelId="{33F7102E-BAE3-46A0-9701-22EDA4FA9C1D}" type="pres">
      <dgm:prSet presAssocID="{CD056DEF-C803-43C4-ABD5-6B7C1649EC24}" presName="Accent" presStyleLbl="parChTrans1D1" presStyleIdx="3" presStyleCnt="4"/>
      <dgm:spPr/>
    </dgm:pt>
  </dgm:ptLst>
  <dgm:cxnLst>
    <dgm:cxn modelId="{B26267A2-63D8-4924-9B12-C857A214C5FF}" srcId="{8DB7F6F3-765A-4617-8B98-939EE37747C6}" destId="{C1B22AA5-DE15-425F-A02A-09520A9EC207}" srcOrd="0" destOrd="0" parTransId="{8BC42F4C-29C7-4AC2-8A2B-7322DDE3A621}" sibTransId="{2A35C6A9-4C74-4FB3-BD66-3DD87C81FB0C}"/>
    <dgm:cxn modelId="{9378C6FB-2B2B-4DC0-8452-8F300CECBAB6}" type="presOf" srcId="{CD056DEF-C803-43C4-ABD5-6B7C1649EC24}" destId="{A026E8BA-132E-4BCA-8A6F-1A5A71EA491F}" srcOrd="0" destOrd="0" presId="urn:microsoft.com/office/officeart/2011/layout/TabList"/>
    <dgm:cxn modelId="{FCF14C63-4EC4-48B8-BA36-28B4AEB7F043}" type="presOf" srcId="{8DB7F6F3-765A-4617-8B98-939EE37747C6}" destId="{1CEB3C2E-89AE-4E91-826E-64A2BB614252}" srcOrd="0" destOrd="0" presId="urn:microsoft.com/office/officeart/2011/layout/TabList"/>
    <dgm:cxn modelId="{E8713605-DC52-4B73-8DAB-4CF2725A0266}" srcId="{8DB7F6F3-765A-4617-8B98-939EE37747C6}" destId="{B397B88F-186C-49F5-8D79-12EA706C14B8}" srcOrd="1" destOrd="0" parTransId="{288FF139-EA9F-425D-8003-FA9AE53B779B}" sibTransId="{3E737132-DE81-49C5-B6DE-329B8378D602}"/>
    <dgm:cxn modelId="{72C95491-0BBF-47FB-835D-522CD5EA8839}" srcId="{C1B22AA5-DE15-425F-A02A-09520A9EC207}" destId="{EC395DE4-3A93-4768-BBCC-33F3CFB1561D}" srcOrd="0" destOrd="0" parTransId="{890BAFB6-626D-4575-BF70-644029BE29CA}" sibTransId="{C74A7AB4-5EBB-4936-BA24-3C5657621030}"/>
    <dgm:cxn modelId="{E2DC88C4-D188-41FB-AAB7-F98D1DB84129}" type="presOf" srcId="{196B9DCC-0C40-47CF-8E5D-07ABF42F3EC0}" destId="{ACA90746-B35A-4D55-AC23-F323B20CB9BF}" srcOrd="0" destOrd="0" presId="urn:microsoft.com/office/officeart/2011/layout/TabList"/>
    <dgm:cxn modelId="{29A164EC-B5F5-4E03-964E-DC79139D9A27}" type="presOf" srcId="{C1B22AA5-DE15-425F-A02A-09520A9EC207}" destId="{3C247E5A-5C67-4C29-B37E-DC71913D56F6}" srcOrd="0" destOrd="0" presId="urn:microsoft.com/office/officeart/2011/layout/TabList"/>
    <dgm:cxn modelId="{88278347-2517-4509-B762-974790944119}" srcId="{CD056DEF-C803-43C4-ABD5-6B7C1649EC24}" destId="{2D03C7EB-316C-4495-A328-B709AD94EF8D}" srcOrd="0" destOrd="0" parTransId="{747CAA97-4BAC-4848-85BB-E8845C164477}" sibTransId="{04FA5A1B-9F7D-4D8B-9708-F2334E647D55}"/>
    <dgm:cxn modelId="{78AE1B5F-9999-42EF-8578-DDC2DA363C7F}" type="presOf" srcId="{F3A8CB1F-C16E-42CA-9B8F-C645A216EEAA}" destId="{EC1B2C27-9A65-48BA-9308-19FB000BFF57}" srcOrd="0" destOrd="0" presId="urn:microsoft.com/office/officeart/2011/layout/TabList"/>
    <dgm:cxn modelId="{96AAB8A3-D397-4075-AB6C-184D5AF3C4D2}" srcId="{B397B88F-186C-49F5-8D79-12EA706C14B8}" destId="{F3A8CB1F-C16E-42CA-9B8F-C645A216EEAA}" srcOrd="0" destOrd="0" parTransId="{E0BD1605-2BEA-4FCC-AC2D-09A00C7BD40F}" sibTransId="{5B3FDD85-05D7-40B6-A010-F9A0CBC7B7A8}"/>
    <dgm:cxn modelId="{047F6C4D-8274-4495-8987-842D676A9CA0}" type="presOf" srcId="{E3F070E2-49E9-45F7-AE23-1742BF79840F}" destId="{235F4028-05E8-432E-BA69-B5B429D06EF8}" srcOrd="0" destOrd="0" presId="urn:microsoft.com/office/officeart/2011/layout/TabList"/>
    <dgm:cxn modelId="{4E738724-54C8-4641-970E-683E8A51FE57}" type="presOf" srcId="{2D03C7EB-316C-4495-A328-B709AD94EF8D}" destId="{F2EA3526-F163-4491-AF62-20057482B768}" srcOrd="0" destOrd="0" presId="urn:microsoft.com/office/officeart/2011/layout/TabList"/>
    <dgm:cxn modelId="{3F016CBA-90EC-4566-AA99-AE292D39A6C9}" srcId="{8DB7F6F3-765A-4617-8B98-939EE37747C6}" destId="{196B9DCC-0C40-47CF-8E5D-07ABF42F3EC0}" srcOrd="2" destOrd="0" parTransId="{6DA84A88-7540-41ED-97BF-4C98B934E9FE}" sibTransId="{63BF3999-7438-4E74-9867-AF1ADA2F601B}"/>
    <dgm:cxn modelId="{2913150A-121D-462C-8F3E-BA83464CB0FA}" type="presOf" srcId="{EC395DE4-3A93-4768-BBCC-33F3CFB1561D}" destId="{0D0EB5ED-A510-40DA-9FEC-A77C62DFBEAD}" srcOrd="0" destOrd="0" presId="urn:microsoft.com/office/officeart/2011/layout/TabList"/>
    <dgm:cxn modelId="{7008E6DE-C911-460F-BD63-745938A76DFA}" srcId="{196B9DCC-0C40-47CF-8E5D-07ABF42F3EC0}" destId="{E3F070E2-49E9-45F7-AE23-1742BF79840F}" srcOrd="0" destOrd="0" parTransId="{136A8B3F-42C3-4D0E-B592-1FB5076CD0AC}" sibTransId="{7BBFB7CD-E897-4D44-BA2D-29B36E4509B3}"/>
    <dgm:cxn modelId="{A9A9E088-34CC-4E9B-A719-17B53CD81197}" type="presOf" srcId="{B397B88F-186C-49F5-8D79-12EA706C14B8}" destId="{5CAF0CE8-051B-4DDE-BBB8-41D9EB3AD949}" srcOrd="0" destOrd="0" presId="urn:microsoft.com/office/officeart/2011/layout/TabList"/>
    <dgm:cxn modelId="{DCEF9598-A179-461B-927C-852360F04037}" srcId="{8DB7F6F3-765A-4617-8B98-939EE37747C6}" destId="{CD056DEF-C803-43C4-ABD5-6B7C1649EC24}" srcOrd="3" destOrd="0" parTransId="{5F7BCCAE-966E-4362-9459-C682F6AEA014}" sibTransId="{4A17BD13-77B1-4E1E-8C59-8796F1465F07}"/>
    <dgm:cxn modelId="{2F328D46-F764-4AB4-9127-9DA02AAA5C19}" type="presParOf" srcId="{1CEB3C2E-89AE-4E91-826E-64A2BB614252}" destId="{C28267E0-82B8-444B-B58C-28B5C957FFB8}" srcOrd="0" destOrd="0" presId="urn:microsoft.com/office/officeart/2011/layout/TabList"/>
    <dgm:cxn modelId="{56235C65-96A1-4268-8ECD-639F7090BE48}" type="presParOf" srcId="{C28267E0-82B8-444B-B58C-28B5C957FFB8}" destId="{0D0EB5ED-A510-40DA-9FEC-A77C62DFBEAD}" srcOrd="0" destOrd="0" presId="urn:microsoft.com/office/officeart/2011/layout/TabList"/>
    <dgm:cxn modelId="{F7624173-A109-4741-8E48-99787972631D}" type="presParOf" srcId="{C28267E0-82B8-444B-B58C-28B5C957FFB8}" destId="{3C247E5A-5C67-4C29-B37E-DC71913D56F6}" srcOrd="1" destOrd="0" presId="urn:microsoft.com/office/officeart/2011/layout/TabList"/>
    <dgm:cxn modelId="{C1C63CD2-8777-4F1F-99A3-B4986CCADF46}" type="presParOf" srcId="{C28267E0-82B8-444B-B58C-28B5C957FFB8}" destId="{2606DC5D-91F9-4729-B1BF-0D4302FDBBB2}" srcOrd="2" destOrd="0" presId="urn:microsoft.com/office/officeart/2011/layout/TabList"/>
    <dgm:cxn modelId="{D482DCD6-EDBF-4506-897B-5382FC5ABE48}" type="presParOf" srcId="{1CEB3C2E-89AE-4E91-826E-64A2BB614252}" destId="{1BB0EE93-FC26-4F26-9B0F-6FB7DE126C87}" srcOrd="1" destOrd="0" presId="urn:microsoft.com/office/officeart/2011/layout/TabList"/>
    <dgm:cxn modelId="{157D919B-88D1-4932-A65F-E348E6538E4E}" type="presParOf" srcId="{1CEB3C2E-89AE-4E91-826E-64A2BB614252}" destId="{C14BACB9-94BD-414C-B482-536FD5971633}" srcOrd="2" destOrd="0" presId="urn:microsoft.com/office/officeart/2011/layout/TabList"/>
    <dgm:cxn modelId="{B021CFD8-1D24-4C8D-863F-4FBFC15C0C54}" type="presParOf" srcId="{C14BACB9-94BD-414C-B482-536FD5971633}" destId="{EC1B2C27-9A65-48BA-9308-19FB000BFF57}" srcOrd="0" destOrd="0" presId="urn:microsoft.com/office/officeart/2011/layout/TabList"/>
    <dgm:cxn modelId="{7491AE2E-0B3B-4027-93B8-D246BBEF8D19}" type="presParOf" srcId="{C14BACB9-94BD-414C-B482-536FD5971633}" destId="{5CAF0CE8-051B-4DDE-BBB8-41D9EB3AD949}" srcOrd="1" destOrd="0" presId="urn:microsoft.com/office/officeart/2011/layout/TabList"/>
    <dgm:cxn modelId="{286FFEE1-FEA9-4FDD-A150-7A57335AF40A}" type="presParOf" srcId="{C14BACB9-94BD-414C-B482-536FD5971633}" destId="{771A2FC4-5AA4-4467-8E0E-2BF7EFF578E0}" srcOrd="2" destOrd="0" presId="urn:microsoft.com/office/officeart/2011/layout/TabList"/>
    <dgm:cxn modelId="{66C6B591-C1D7-4D5F-B9B3-2D800463EEE9}" type="presParOf" srcId="{1CEB3C2E-89AE-4E91-826E-64A2BB614252}" destId="{1B94CA2E-209F-43D5-9372-C7FAE651E0A8}" srcOrd="3" destOrd="0" presId="urn:microsoft.com/office/officeart/2011/layout/TabList"/>
    <dgm:cxn modelId="{2B2AD590-876A-48AC-9739-4891E6702C60}" type="presParOf" srcId="{1CEB3C2E-89AE-4E91-826E-64A2BB614252}" destId="{88CA68CD-5E94-4E44-B429-E7E86385AAA2}" srcOrd="4" destOrd="0" presId="urn:microsoft.com/office/officeart/2011/layout/TabList"/>
    <dgm:cxn modelId="{1A4B4406-8ECC-4FED-AA23-1C4EC395C697}" type="presParOf" srcId="{88CA68CD-5E94-4E44-B429-E7E86385AAA2}" destId="{235F4028-05E8-432E-BA69-B5B429D06EF8}" srcOrd="0" destOrd="0" presId="urn:microsoft.com/office/officeart/2011/layout/TabList"/>
    <dgm:cxn modelId="{95778086-5025-4FAE-8E96-83CF172AD7EC}" type="presParOf" srcId="{88CA68CD-5E94-4E44-B429-E7E86385AAA2}" destId="{ACA90746-B35A-4D55-AC23-F323B20CB9BF}" srcOrd="1" destOrd="0" presId="urn:microsoft.com/office/officeart/2011/layout/TabList"/>
    <dgm:cxn modelId="{5217A0AF-84D8-41B5-954C-D24B69094A77}" type="presParOf" srcId="{88CA68CD-5E94-4E44-B429-E7E86385AAA2}" destId="{CCDF21BF-C236-489B-A933-DCB043DAD3F0}" srcOrd="2" destOrd="0" presId="urn:microsoft.com/office/officeart/2011/layout/TabList"/>
    <dgm:cxn modelId="{520A56DA-4247-4CD7-AA62-0176FC4B1F23}" type="presParOf" srcId="{1CEB3C2E-89AE-4E91-826E-64A2BB614252}" destId="{85B3529F-21D5-40E0-950F-C723DAAA355D}" srcOrd="5" destOrd="0" presId="urn:microsoft.com/office/officeart/2011/layout/TabList"/>
    <dgm:cxn modelId="{43AE30D1-2EED-4E94-A6FD-4597CBDE8B87}" type="presParOf" srcId="{1CEB3C2E-89AE-4E91-826E-64A2BB614252}" destId="{E929B343-4F28-4E83-BFD8-A9FC4E02F357}" srcOrd="6" destOrd="0" presId="urn:microsoft.com/office/officeart/2011/layout/TabList"/>
    <dgm:cxn modelId="{29F26B23-F467-4823-926B-61F017F9DBE1}" type="presParOf" srcId="{E929B343-4F28-4E83-BFD8-A9FC4E02F357}" destId="{F2EA3526-F163-4491-AF62-20057482B768}" srcOrd="0" destOrd="0" presId="urn:microsoft.com/office/officeart/2011/layout/TabList"/>
    <dgm:cxn modelId="{D459E6CD-5A98-4CEC-83F5-A94DC91FA7AE}" type="presParOf" srcId="{E929B343-4F28-4E83-BFD8-A9FC4E02F357}" destId="{A026E8BA-132E-4BCA-8A6F-1A5A71EA491F}" srcOrd="1" destOrd="0" presId="urn:microsoft.com/office/officeart/2011/layout/TabList"/>
    <dgm:cxn modelId="{2CEDB57B-25E3-4719-B76E-55AF654DAAD0}" type="presParOf" srcId="{E929B343-4F28-4E83-BFD8-A9FC4E02F357}" destId="{33F7102E-BAE3-46A0-9701-22EDA4FA9C1D}"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52FBA3-2938-4443-9FEE-6F56AB7B9F0F}"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821F6566-4DCC-45DE-B877-C17D3877B472}">
      <dgm:prSet phldrT="[Text]" custT="1"/>
      <dgm:spPr/>
      <dgm:t>
        <a:bodyPr/>
        <a:lstStyle/>
        <a:p>
          <a:r>
            <a:rPr lang="en-US" sz="3200" b="1" dirty="0">
              <a:solidFill>
                <a:schemeClr val="tx1"/>
              </a:solidFill>
            </a:rPr>
            <a:t>High Potency</a:t>
          </a:r>
        </a:p>
      </dgm:t>
    </dgm:pt>
    <dgm:pt modelId="{6F633B50-A457-4ABF-84CC-7A04273CACAA}" type="parTrans" cxnId="{A3B82B9F-D7A7-4E20-B1A1-5FD5881060C8}">
      <dgm:prSet/>
      <dgm:spPr/>
      <dgm:t>
        <a:bodyPr/>
        <a:lstStyle/>
        <a:p>
          <a:endParaRPr lang="en-US"/>
        </a:p>
      </dgm:t>
    </dgm:pt>
    <dgm:pt modelId="{EE035273-2FD1-48DD-A440-B9E06B2D6656}" type="sibTrans" cxnId="{A3B82B9F-D7A7-4E20-B1A1-5FD5881060C8}">
      <dgm:prSet/>
      <dgm:spPr/>
      <dgm:t>
        <a:bodyPr/>
        <a:lstStyle/>
        <a:p>
          <a:endParaRPr lang="en-US"/>
        </a:p>
      </dgm:t>
    </dgm:pt>
    <dgm:pt modelId="{EB0FF23D-2B29-4D6F-9A8E-635F0976EC87}">
      <dgm:prSet phldrT="[Text]" custT="1"/>
      <dgm:spPr/>
      <dgm:t>
        <a:bodyPr/>
        <a:lstStyle/>
        <a:p>
          <a:r>
            <a:rPr lang="en-US" sz="2400" dirty="0"/>
            <a:t>Haloperidol (Haldol</a:t>
          </a:r>
          <a:r>
            <a:rPr lang="en-US" sz="2400" baseline="30000" dirty="0"/>
            <a:t>®</a:t>
          </a:r>
          <a:r>
            <a:rPr lang="en-US" sz="2400" dirty="0"/>
            <a:t>)</a:t>
          </a:r>
        </a:p>
      </dgm:t>
    </dgm:pt>
    <dgm:pt modelId="{EBF24225-2D7D-4B21-BB0D-2F5DDB2DA8D5}" type="parTrans" cxnId="{A0FA5C0F-E08C-40F3-9D9A-D99E14C46223}">
      <dgm:prSet/>
      <dgm:spPr/>
      <dgm:t>
        <a:bodyPr/>
        <a:lstStyle/>
        <a:p>
          <a:endParaRPr lang="en-US"/>
        </a:p>
      </dgm:t>
    </dgm:pt>
    <dgm:pt modelId="{A3A1F069-B593-4987-9393-197C54A87264}" type="sibTrans" cxnId="{A0FA5C0F-E08C-40F3-9D9A-D99E14C46223}">
      <dgm:prSet/>
      <dgm:spPr/>
      <dgm:t>
        <a:bodyPr/>
        <a:lstStyle/>
        <a:p>
          <a:endParaRPr lang="en-US"/>
        </a:p>
      </dgm:t>
    </dgm:pt>
    <dgm:pt modelId="{59897199-5BED-403A-83C6-2636D0F8B5C2}">
      <dgm:prSet phldrT="[Text]" custT="1"/>
      <dgm:spPr/>
      <dgm:t>
        <a:bodyPr/>
        <a:lstStyle/>
        <a:p>
          <a:r>
            <a:rPr lang="en-US" sz="2400" dirty="0" err="1"/>
            <a:t>Thioridazine</a:t>
          </a:r>
          <a:r>
            <a:rPr lang="en-US" sz="2400" dirty="0"/>
            <a:t> (</a:t>
          </a:r>
          <a:r>
            <a:rPr lang="en-US" sz="2400" dirty="0" err="1"/>
            <a:t>Mellaril</a:t>
          </a:r>
          <a:r>
            <a:rPr lang="en-US" sz="2400" baseline="30000" dirty="0"/>
            <a:t>®</a:t>
          </a:r>
          <a:r>
            <a:rPr lang="en-US" sz="2400" dirty="0"/>
            <a:t>)</a:t>
          </a:r>
          <a:endParaRPr lang="en-US" sz="2400" strike="noStrike" dirty="0"/>
        </a:p>
      </dgm:t>
    </dgm:pt>
    <dgm:pt modelId="{AC3CA39C-E35E-42F7-AAEC-D61E51C648F7}" type="parTrans" cxnId="{F247A6C8-A98D-4A35-8BCE-1B31F1ABE526}">
      <dgm:prSet/>
      <dgm:spPr/>
      <dgm:t>
        <a:bodyPr/>
        <a:lstStyle/>
        <a:p>
          <a:endParaRPr lang="en-US"/>
        </a:p>
      </dgm:t>
    </dgm:pt>
    <dgm:pt modelId="{2628DE77-936C-4F39-B890-DC8247C9F4C4}" type="sibTrans" cxnId="{F247A6C8-A98D-4A35-8BCE-1B31F1ABE526}">
      <dgm:prSet/>
      <dgm:spPr/>
      <dgm:t>
        <a:bodyPr/>
        <a:lstStyle/>
        <a:p>
          <a:endParaRPr lang="en-US"/>
        </a:p>
      </dgm:t>
    </dgm:pt>
    <dgm:pt modelId="{E707884D-4CE3-4D7F-B199-F472AC5A671C}">
      <dgm:prSet phldrT="[Text]" custT="1"/>
      <dgm:spPr/>
      <dgm:t>
        <a:bodyPr/>
        <a:lstStyle/>
        <a:p>
          <a:r>
            <a:rPr lang="en-US" sz="2400" dirty="0"/>
            <a:t>Chlorpromazine (</a:t>
          </a:r>
          <a:r>
            <a:rPr lang="en-US" sz="2400" dirty="0" err="1"/>
            <a:t>Thorazine</a:t>
          </a:r>
          <a:r>
            <a:rPr lang="en-US" sz="2400" baseline="30000" dirty="0"/>
            <a:t>®</a:t>
          </a:r>
          <a:r>
            <a:rPr lang="en-US" sz="2400" dirty="0"/>
            <a:t>)</a:t>
          </a:r>
        </a:p>
      </dgm:t>
    </dgm:pt>
    <dgm:pt modelId="{DE861CB0-6E7A-4CBD-B4FA-46BD4CE17D30}" type="parTrans" cxnId="{DC1ED910-6F0B-4F97-A3A7-8A29DE8C1267}">
      <dgm:prSet/>
      <dgm:spPr/>
      <dgm:t>
        <a:bodyPr/>
        <a:lstStyle/>
        <a:p>
          <a:endParaRPr lang="en-US"/>
        </a:p>
      </dgm:t>
    </dgm:pt>
    <dgm:pt modelId="{E1594E40-E211-4618-A93A-1B31C708779E}" type="sibTrans" cxnId="{DC1ED910-6F0B-4F97-A3A7-8A29DE8C1267}">
      <dgm:prSet/>
      <dgm:spPr/>
      <dgm:t>
        <a:bodyPr/>
        <a:lstStyle/>
        <a:p>
          <a:endParaRPr lang="en-US"/>
        </a:p>
      </dgm:t>
    </dgm:pt>
    <dgm:pt modelId="{54EB5361-B886-47BD-B651-3CD5BA2D4444}">
      <dgm:prSet phldrT="[Text]" custT="1"/>
      <dgm:spPr/>
      <dgm:t>
        <a:bodyPr/>
        <a:lstStyle/>
        <a:p>
          <a:r>
            <a:rPr lang="en-US" sz="2400" dirty="0" err="1"/>
            <a:t>Trifluoperazine</a:t>
          </a:r>
          <a:r>
            <a:rPr lang="en-US" sz="2400" dirty="0"/>
            <a:t> (</a:t>
          </a:r>
          <a:r>
            <a:rPr lang="en-US" sz="2400" dirty="0" err="1"/>
            <a:t>Stelazine</a:t>
          </a:r>
          <a:r>
            <a:rPr lang="en-US" sz="2400" baseline="30000" dirty="0"/>
            <a:t>®</a:t>
          </a:r>
          <a:r>
            <a:rPr lang="en-US" sz="2400" dirty="0"/>
            <a:t>)</a:t>
          </a:r>
        </a:p>
      </dgm:t>
    </dgm:pt>
    <dgm:pt modelId="{A98CB24E-A0AF-4170-A18A-78030BE3760D}" type="parTrans" cxnId="{B2669A7E-5C1B-41D2-9DD8-1DBCF02B9F82}">
      <dgm:prSet/>
      <dgm:spPr/>
      <dgm:t>
        <a:bodyPr/>
        <a:lstStyle/>
        <a:p>
          <a:endParaRPr lang="en-US"/>
        </a:p>
      </dgm:t>
    </dgm:pt>
    <dgm:pt modelId="{E3376824-7092-467A-86C2-B3554F268CA6}" type="sibTrans" cxnId="{B2669A7E-5C1B-41D2-9DD8-1DBCF02B9F82}">
      <dgm:prSet/>
      <dgm:spPr/>
      <dgm:t>
        <a:bodyPr/>
        <a:lstStyle/>
        <a:p>
          <a:endParaRPr lang="en-US"/>
        </a:p>
      </dgm:t>
    </dgm:pt>
    <dgm:pt modelId="{7AB2E8D3-9A9A-46EB-B3B9-DB922D8C1A42}">
      <dgm:prSet phldrT="[Text]" custT="1"/>
      <dgm:spPr/>
      <dgm:t>
        <a:bodyPr/>
        <a:lstStyle/>
        <a:p>
          <a:r>
            <a:rPr lang="en-US" sz="2400" dirty="0"/>
            <a:t>Thiothixene (</a:t>
          </a:r>
          <a:r>
            <a:rPr lang="en-US" sz="2400" dirty="0" err="1"/>
            <a:t>Navane</a:t>
          </a:r>
          <a:r>
            <a:rPr lang="en-US" sz="2400" baseline="30000" dirty="0"/>
            <a:t>®</a:t>
          </a:r>
          <a:r>
            <a:rPr lang="en-US" sz="2400" dirty="0"/>
            <a:t>)</a:t>
          </a:r>
          <a:endParaRPr lang="en-US" sz="2400" dirty="0">
            <a:solidFill>
              <a:schemeClr val="tx1"/>
            </a:solidFill>
          </a:endParaRPr>
        </a:p>
      </dgm:t>
    </dgm:pt>
    <dgm:pt modelId="{AA7587B0-D4F8-4C2D-A983-B06B9502BC77}" type="parTrans" cxnId="{AE1A454D-00E0-47CB-AAC9-E70C326851AC}">
      <dgm:prSet/>
      <dgm:spPr/>
      <dgm:t>
        <a:bodyPr/>
        <a:lstStyle/>
        <a:p>
          <a:endParaRPr lang="en-US"/>
        </a:p>
      </dgm:t>
    </dgm:pt>
    <dgm:pt modelId="{37EF57AE-8CF7-4124-B60A-CE15D6B7D525}" type="sibTrans" cxnId="{AE1A454D-00E0-47CB-AAC9-E70C326851AC}">
      <dgm:prSet/>
      <dgm:spPr/>
      <dgm:t>
        <a:bodyPr/>
        <a:lstStyle/>
        <a:p>
          <a:endParaRPr lang="en-US"/>
        </a:p>
      </dgm:t>
    </dgm:pt>
    <dgm:pt modelId="{3743329A-AE05-44DB-ACEA-B95D201933C4}">
      <dgm:prSet phldrT="[Text]" custT="1"/>
      <dgm:spPr/>
      <dgm:t>
        <a:bodyPr/>
        <a:lstStyle/>
        <a:p>
          <a:r>
            <a:rPr lang="en-US" sz="3200" b="1" dirty="0">
              <a:solidFill>
                <a:schemeClr val="tx1"/>
              </a:solidFill>
            </a:rPr>
            <a:t>Low Potency</a:t>
          </a:r>
        </a:p>
      </dgm:t>
    </dgm:pt>
    <dgm:pt modelId="{CE920352-6EEA-406A-8383-49AE6A23AD1B}" type="sibTrans" cxnId="{704BF2F4-66FE-45BD-A0A9-F12BC812A233}">
      <dgm:prSet/>
      <dgm:spPr/>
      <dgm:t>
        <a:bodyPr/>
        <a:lstStyle/>
        <a:p>
          <a:endParaRPr lang="en-US"/>
        </a:p>
      </dgm:t>
    </dgm:pt>
    <dgm:pt modelId="{7C637F60-CC69-4F73-B869-4F94A19D3DD0}" type="parTrans" cxnId="{704BF2F4-66FE-45BD-A0A9-F12BC812A233}">
      <dgm:prSet/>
      <dgm:spPr/>
      <dgm:t>
        <a:bodyPr/>
        <a:lstStyle/>
        <a:p>
          <a:endParaRPr lang="en-US"/>
        </a:p>
      </dgm:t>
    </dgm:pt>
    <dgm:pt modelId="{14FAC1D0-ADA8-4F2C-8315-F6A2BC758A60}">
      <dgm:prSet phldrT="[Text]" custT="1"/>
      <dgm:spPr/>
      <dgm:t>
        <a:bodyPr/>
        <a:lstStyle/>
        <a:p>
          <a:r>
            <a:rPr lang="en-US" sz="2400" dirty="0" err="1"/>
            <a:t>Loxapine</a:t>
          </a:r>
          <a:r>
            <a:rPr lang="en-US" sz="2400" dirty="0"/>
            <a:t> (</a:t>
          </a:r>
          <a:r>
            <a:rPr lang="en-US" sz="2400" dirty="0" err="1"/>
            <a:t>Loxitane</a:t>
          </a:r>
          <a:r>
            <a:rPr lang="en-US" sz="2400" baseline="30000" dirty="0"/>
            <a:t>®</a:t>
          </a:r>
          <a:r>
            <a:rPr lang="en-US" sz="2400" dirty="0"/>
            <a:t>)</a:t>
          </a:r>
          <a:r>
            <a:rPr lang="en-US" sz="2400" dirty="0">
              <a:solidFill>
                <a:schemeClr val="tx1"/>
              </a:solidFill>
            </a:rPr>
            <a:t>**</a:t>
          </a:r>
        </a:p>
      </dgm:t>
    </dgm:pt>
    <dgm:pt modelId="{131BD4BC-9E89-4E6D-A188-4A873A9FDEAE}" type="parTrans" cxnId="{45D162F4-548F-490E-BB59-306C2E4C280E}">
      <dgm:prSet/>
      <dgm:spPr/>
      <dgm:t>
        <a:bodyPr/>
        <a:lstStyle/>
        <a:p>
          <a:endParaRPr lang="en-US"/>
        </a:p>
      </dgm:t>
    </dgm:pt>
    <dgm:pt modelId="{56176483-B6D0-4CC6-8C6F-B79B1B692C21}" type="sibTrans" cxnId="{45D162F4-548F-490E-BB59-306C2E4C280E}">
      <dgm:prSet/>
      <dgm:spPr/>
      <dgm:t>
        <a:bodyPr/>
        <a:lstStyle/>
        <a:p>
          <a:endParaRPr lang="en-US"/>
        </a:p>
      </dgm:t>
    </dgm:pt>
    <dgm:pt modelId="{56C26028-C64D-4FB7-A0A3-D10FCE495B65}">
      <dgm:prSet phldrT="[Text]" custT="1"/>
      <dgm:spPr/>
      <dgm:t>
        <a:bodyPr/>
        <a:lstStyle/>
        <a:p>
          <a:r>
            <a:rPr lang="en-US" sz="2400" dirty="0"/>
            <a:t>Perphenazine (</a:t>
          </a:r>
          <a:r>
            <a:rPr lang="en-US" sz="2400" dirty="0" err="1"/>
            <a:t>Trilafon</a:t>
          </a:r>
          <a:r>
            <a:rPr lang="en-US" sz="2400" baseline="30000" dirty="0"/>
            <a:t>®</a:t>
          </a:r>
          <a:r>
            <a:rPr lang="en-US" sz="2400" dirty="0"/>
            <a:t>)</a:t>
          </a:r>
          <a:r>
            <a:rPr lang="en-US" sz="2400" dirty="0">
              <a:solidFill>
                <a:schemeClr val="tx1"/>
              </a:solidFill>
            </a:rPr>
            <a:t>**</a:t>
          </a:r>
        </a:p>
      </dgm:t>
    </dgm:pt>
    <dgm:pt modelId="{70788429-5766-4ABB-815D-DC9B3B6EFA96}" type="parTrans" cxnId="{1A4E050F-CD57-4751-81B6-F09FB27EBDD6}">
      <dgm:prSet/>
      <dgm:spPr/>
      <dgm:t>
        <a:bodyPr/>
        <a:lstStyle/>
        <a:p>
          <a:endParaRPr lang="en-US"/>
        </a:p>
      </dgm:t>
    </dgm:pt>
    <dgm:pt modelId="{7549B89A-55E1-4232-B940-4B1A5BE45EC0}" type="sibTrans" cxnId="{1A4E050F-CD57-4751-81B6-F09FB27EBDD6}">
      <dgm:prSet/>
      <dgm:spPr/>
      <dgm:t>
        <a:bodyPr/>
        <a:lstStyle/>
        <a:p>
          <a:endParaRPr lang="en-US"/>
        </a:p>
      </dgm:t>
    </dgm:pt>
    <dgm:pt modelId="{3CBDAFF7-74E4-4191-AC32-3FE9C7B97D5F}">
      <dgm:prSet phldrT="[Text]" custT="1"/>
      <dgm:spPr/>
      <dgm:t>
        <a:bodyPr/>
        <a:lstStyle/>
        <a:p>
          <a:r>
            <a:rPr lang="en-US" sz="2400" dirty="0" err="1"/>
            <a:t>Fluphenazine</a:t>
          </a:r>
          <a:r>
            <a:rPr lang="en-US" sz="2400" dirty="0"/>
            <a:t> (</a:t>
          </a:r>
          <a:r>
            <a:rPr lang="en-US" sz="2400" dirty="0" err="1"/>
            <a:t>Prolixin</a:t>
          </a:r>
          <a:r>
            <a:rPr lang="en-US" sz="2400" baseline="30000" dirty="0"/>
            <a:t>®</a:t>
          </a:r>
          <a:r>
            <a:rPr lang="en-US" sz="2400" dirty="0"/>
            <a:t>)</a:t>
          </a:r>
        </a:p>
      </dgm:t>
    </dgm:pt>
    <dgm:pt modelId="{132882F7-48AA-403F-925E-3CE09C1EC057}" type="sibTrans" cxnId="{415BF5E2-3F85-4E9D-82B3-1D00ECA91B2B}">
      <dgm:prSet/>
      <dgm:spPr/>
      <dgm:t>
        <a:bodyPr/>
        <a:lstStyle/>
        <a:p>
          <a:endParaRPr lang="en-US"/>
        </a:p>
      </dgm:t>
    </dgm:pt>
    <dgm:pt modelId="{6CA6AB01-10C7-4BC4-912C-C09F0141028E}" type="parTrans" cxnId="{415BF5E2-3F85-4E9D-82B3-1D00ECA91B2B}">
      <dgm:prSet/>
      <dgm:spPr/>
      <dgm:t>
        <a:bodyPr/>
        <a:lstStyle/>
        <a:p>
          <a:endParaRPr lang="en-US"/>
        </a:p>
      </dgm:t>
    </dgm:pt>
    <dgm:pt modelId="{AC317986-BE3C-4442-8D22-1C9EA910F3D2}" type="pres">
      <dgm:prSet presAssocID="{2452FBA3-2938-4443-9FEE-6F56AB7B9F0F}" presName="Name0" presStyleCnt="0">
        <dgm:presLayoutVars>
          <dgm:dir/>
          <dgm:animLvl val="lvl"/>
          <dgm:resizeHandles val="exact"/>
        </dgm:presLayoutVars>
      </dgm:prSet>
      <dgm:spPr/>
      <dgm:t>
        <a:bodyPr/>
        <a:lstStyle/>
        <a:p>
          <a:endParaRPr lang="en-US"/>
        </a:p>
      </dgm:t>
    </dgm:pt>
    <dgm:pt modelId="{06C23EE8-A1A5-430F-BCCC-DE571545C665}" type="pres">
      <dgm:prSet presAssocID="{821F6566-4DCC-45DE-B877-C17D3877B472}" presName="composite" presStyleCnt="0"/>
      <dgm:spPr/>
    </dgm:pt>
    <dgm:pt modelId="{D6AA7488-97EB-4005-A143-18171B5ADB63}" type="pres">
      <dgm:prSet presAssocID="{821F6566-4DCC-45DE-B877-C17D3877B472}" presName="parTx" presStyleLbl="alignNode1" presStyleIdx="0" presStyleCnt="2" custScaleX="121525">
        <dgm:presLayoutVars>
          <dgm:chMax val="0"/>
          <dgm:chPref val="0"/>
          <dgm:bulletEnabled val="1"/>
        </dgm:presLayoutVars>
      </dgm:prSet>
      <dgm:spPr/>
      <dgm:t>
        <a:bodyPr/>
        <a:lstStyle/>
        <a:p>
          <a:endParaRPr lang="en-US"/>
        </a:p>
      </dgm:t>
    </dgm:pt>
    <dgm:pt modelId="{31DBE16D-88FB-4A0C-A331-5A3AEDA1C0C2}" type="pres">
      <dgm:prSet presAssocID="{821F6566-4DCC-45DE-B877-C17D3877B472}" presName="desTx" presStyleLbl="alignAccFollowNode1" presStyleIdx="0" presStyleCnt="2" custScaleX="122209" custLinFactNeighborX="-107" custLinFactNeighborY="598">
        <dgm:presLayoutVars>
          <dgm:bulletEnabled val="1"/>
        </dgm:presLayoutVars>
      </dgm:prSet>
      <dgm:spPr/>
      <dgm:t>
        <a:bodyPr/>
        <a:lstStyle/>
        <a:p>
          <a:endParaRPr lang="en-US"/>
        </a:p>
      </dgm:t>
    </dgm:pt>
    <dgm:pt modelId="{10439D2B-999F-4EF2-8104-D22F3CF3C9D3}" type="pres">
      <dgm:prSet presAssocID="{EE035273-2FD1-48DD-A440-B9E06B2D6656}" presName="space" presStyleCnt="0"/>
      <dgm:spPr/>
    </dgm:pt>
    <dgm:pt modelId="{62429177-A60F-46DC-93CB-AEE4B716DD06}" type="pres">
      <dgm:prSet presAssocID="{3743329A-AE05-44DB-ACEA-B95D201933C4}" presName="composite" presStyleCnt="0"/>
      <dgm:spPr/>
    </dgm:pt>
    <dgm:pt modelId="{10658675-0F8A-4DBF-8FB7-556A86BA1218}" type="pres">
      <dgm:prSet presAssocID="{3743329A-AE05-44DB-ACEA-B95D201933C4}" presName="parTx" presStyleLbl="alignNode1" presStyleIdx="1" presStyleCnt="2" custScaleX="104681" custScaleY="100000" custLinFactNeighborX="2533">
        <dgm:presLayoutVars>
          <dgm:chMax val="0"/>
          <dgm:chPref val="0"/>
          <dgm:bulletEnabled val="1"/>
        </dgm:presLayoutVars>
      </dgm:prSet>
      <dgm:spPr/>
      <dgm:t>
        <a:bodyPr/>
        <a:lstStyle/>
        <a:p>
          <a:endParaRPr lang="en-US"/>
        </a:p>
      </dgm:t>
    </dgm:pt>
    <dgm:pt modelId="{15674E6C-E48A-41EC-8BAD-150E2821539E}" type="pres">
      <dgm:prSet presAssocID="{3743329A-AE05-44DB-ACEA-B95D201933C4}" presName="desTx" presStyleLbl="alignAccFollowNode1" presStyleIdx="1" presStyleCnt="2" custScaleX="104991" custLinFactNeighborX="2378">
        <dgm:presLayoutVars>
          <dgm:bulletEnabled val="1"/>
        </dgm:presLayoutVars>
      </dgm:prSet>
      <dgm:spPr/>
      <dgm:t>
        <a:bodyPr/>
        <a:lstStyle/>
        <a:p>
          <a:endParaRPr lang="en-US"/>
        </a:p>
      </dgm:t>
    </dgm:pt>
  </dgm:ptLst>
  <dgm:cxnLst>
    <dgm:cxn modelId="{B2669A7E-5C1B-41D2-9DD8-1DBCF02B9F82}" srcId="{821F6566-4DCC-45DE-B877-C17D3877B472}" destId="{54EB5361-B886-47BD-B651-3CD5BA2D4444}" srcOrd="2" destOrd="0" parTransId="{A98CB24E-A0AF-4170-A18A-78030BE3760D}" sibTransId="{E3376824-7092-467A-86C2-B3554F268CA6}"/>
    <dgm:cxn modelId="{DC1ED910-6F0B-4F97-A3A7-8A29DE8C1267}" srcId="{3743329A-AE05-44DB-ACEA-B95D201933C4}" destId="{E707884D-4CE3-4D7F-B199-F472AC5A671C}" srcOrd="1" destOrd="0" parTransId="{DE861CB0-6E7A-4CBD-B4FA-46BD4CE17D30}" sibTransId="{E1594E40-E211-4618-A93A-1B31C708779E}"/>
    <dgm:cxn modelId="{415BF5E2-3F85-4E9D-82B3-1D00ECA91B2B}" srcId="{821F6566-4DCC-45DE-B877-C17D3877B472}" destId="{3CBDAFF7-74E4-4191-AC32-3FE9C7B97D5F}" srcOrd="1" destOrd="0" parTransId="{6CA6AB01-10C7-4BC4-912C-C09F0141028E}" sibTransId="{132882F7-48AA-403F-925E-3CE09C1EC057}"/>
    <dgm:cxn modelId="{C14954E5-B7DB-4451-9321-09B114BBF2CA}" type="presOf" srcId="{3743329A-AE05-44DB-ACEA-B95D201933C4}" destId="{10658675-0F8A-4DBF-8FB7-556A86BA1218}" srcOrd="0" destOrd="0" presId="urn:microsoft.com/office/officeart/2005/8/layout/hList1"/>
    <dgm:cxn modelId="{2DB7CC8B-7F17-47A2-B370-95CD9430F12D}" type="presOf" srcId="{2452FBA3-2938-4443-9FEE-6F56AB7B9F0F}" destId="{AC317986-BE3C-4442-8D22-1C9EA910F3D2}" srcOrd="0" destOrd="0" presId="urn:microsoft.com/office/officeart/2005/8/layout/hList1"/>
    <dgm:cxn modelId="{A3B82B9F-D7A7-4E20-B1A1-5FD5881060C8}" srcId="{2452FBA3-2938-4443-9FEE-6F56AB7B9F0F}" destId="{821F6566-4DCC-45DE-B877-C17D3877B472}" srcOrd="0" destOrd="0" parTransId="{6F633B50-A457-4ABF-84CC-7A04273CACAA}" sibTransId="{EE035273-2FD1-48DD-A440-B9E06B2D6656}"/>
    <dgm:cxn modelId="{F247A6C8-A98D-4A35-8BCE-1B31F1ABE526}" srcId="{3743329A-AE05-44DB-ACEA-B95D201933C4}" destId="{59897199-5BED-403A-83C6-2636D0F8B5C2}" srcOrd="0" destOrd="0" parTransId="{AC3CA39C-E35E-42F7-AAEC-D61E51C648F7}" sibTransId="{2628DE77-936C-4F39-B890-DC8247C9F4C4}"/>
    <dgm:cxn modelId="{4EDE75FA-1A0E-4B10-963C-940B6BC48A64}" type="presOf" srcId="{14FAC1D0-ADA8-4F2C-8315-F6A2BC758A60}" destId="{31DBE16D-88FB-4A0C-A331-5A3AEDA1C0C2}" srcOrd="0" destOrd="4" presId="urn:microsoft.com/office/officeart/2005/8/layout/hList1"/>
    <dgm:cxn modelId="{369B4AC5-C9C7-452B-A2F2-60654BDD22AA}" type="presOf" srcId="{54EB5361-B886-47BD-B651-3CD5BA2D4444}" destId="{31DBE16D-88FB-4A0C-A331-5A3AEDA1C0C2}" srcOrd="0" destOrd="2" presId="urn:microsoft.com/office/officeart/2005/8/layout/hList1"/>
    <dgm:cxn modelId="{5DF8E695-0F39-41B4-80C9-127671C62911}" type="presOf" srcId="{E707884D-4CE3-4D7F-B199-F472AC5A671C}" destId="{15674E6C-E48A-41EC-8BAD-150E2821539E}" srcOrd="0" destOrd="1" presId="urn:microsoft.com/office/officeart/2005/8/layout/hList1"/>
    <dgm:cxn modelId="{1A4E050F-CD57-4751-81B6-F09FB27EBDD6}" srcId="{821F6566-4DCC-45DE-B877-C17D3877B472}" destId="{56C26028-C64D-4FB7-A0A3-D10FCE495B65}" srcOrd="5" destOrd="0" parTransId="{70788429-5766-4ABB-815D-DC9B3B6EFA96}" sibTransId="{7549B89A-55E1-4232-B940-4B1A5BE45EC0}"/>
    <dgm:cxn modelId="{A0FA5C0F-E08C-40F3-9D9A-D99E14C46223}" srcId="{821F6566-4DCC-45DE-B877-C17D3877B472}" destId="{EB0FF23D-2B29-4D6F-9A8E-635F0976EC87}" srcOrd="0" destOrd="0" parTransId="{EBF24225-2D7D-4B21-BB0D-2F5DDB2DA8D5}" sibTransId="{A3A1F069-B593-4987-9393-197C54A87264}"/>
    <dgm:cxn modelId="{704BF2F4-66FE-45BD-A0A9-F12BC812A233}" srcId="{2452FBA3-2938-4443-9FEE-6F56AB7B9F0F}" destId="{3743329A-AE05-44DB-ACEA-B95D201933C4}" srcOrd="1" destOrd="0" parTransId="{7C637F60-CC69-4F73-B869-4F94A19D3DD0}" sibTransId="{CE920352-6EEA-406A-8383-49AE6A23AD1B}"/>
    <dgm:cxn modelId="{706A5F2A-ADD8-43DA-B875-6852BD9033C8}" type="presOf" srcId="{3CBDAFF7-74E4-4191-AC32-3FE9C7B97D5F}" destId="{31DBE16D-88FB-4A0C-A331-5A3AEDA1C0C2}" srcOrd="0" destOrd="1" presId="urn:microsoft.com/office/officeart/2005/8/layout/hList1"/>
    <dgm:cxn modelId="{AE1A454D-00E0-47CB-AAC9-E70C326851AC}" srcId="{821F6566-4DCC-45DE-B877-C17D3877B472}" destId="{7AB2E8D3-9A9A-46EB-B3B9-DB922D8C1A42}" srcOrd="3" destOrd="0" parTransId="{AA7587B0-D4F8-4C2D-A983-B06B9502BC77}" sibTransId="{37EF57AE-8CF7-4124-B60A-CE15D6B7D525}"/>
    <dgm:cxn modelId="{85E476F4-01D7-4860-AF85-509506AFF837}" type="presOf" srcId="{59897199-5BED-403A-83C6-2636D0F8B5C2}" destId="{15674E6C-E48A-41EC-8BAD-150E2821539E}" srcOrd="0" destOrd="0" presId="urn:microsoft.com/office/officeart/2005/8/layout/hList1"/>
    <dgm:cxn modelId="{45D162F4-548F-490E-BB59-306C2E4C280E}" srcId="{821F6566-4DCC-45DE-B877-C17D3877B472}" destId="{14FAC1D0-ADA8-4F2C-8315-F6A2BC758A60}" srcOrd="4" destOrd="0" parTransId="{131BD4BC-9E89-4E6D-A188-4A873A9FDEAE}" sibTransId="{56176483-B6D0-4CC6-8C6F-B79B1B692C21}"/>
    <dgm:cxn modelId="{2793EA8A-E7AC-4176-9281-692E231B2D05}" type="presOf" srcId="{56C26028-C64D-4FB7-A0A3-D10FCE495B65}" destId="{31DBE16D-88FB-4A0C-A331-5A3AEDA1C0C2}" srcOrd="0" destOrd="5" presId="urn:microsoft.com/office/officeart/2005/8/layout/hList1"/>
    <dgm:cxn modelId="{2BECB967-71A2-4C59-A99C-ACAB33903D6F}" type="presOf" srcId="{821F6566-4DCC-45DE-B877-C17D3877B472}" destId="{D6AA7488-97EB-4005-A143-18171B5ADB63}" srcOrd="0" destOrd="0" presId="urn:microsoft.com/office/officeart/2005/8/layout/hList1"/>
    <dgm:cxn modelId="{8B4F2FC6-0CD3-4444-BAAD-6C08F9461D38}" type="presOf" srcId="{EB0FF23D-2B29-4D6F-9A8E-635F0976EC87}" destId="{31DBE16D-88FB-4A0C-A331-5A3AEDA1C0C2}" srcOrd="0" destOrd="0" presId="urn:microsoft.com/office/officeart/2005/8/layout/hList1"/>
    <dgm:cxn modelId="{4759305A-4749-4F40-B039-1DFA0A14EE08}" type="presOf" srcId="{7AB2E8D3-9A9A-46EB-B3B9-DB922D8C1A42}" destId="{31DBE16D-88FB-4A0C-A331-5A3AEDA1C0C2}" srcOrd="0" destOrd="3" presId="urn:microsoft.com/office/officeart/2005/8/layout/hList1"/>
    <dgm:cxn modelId="{1DDADFE3-1D5F-4ACE-8224-7F652E583397}" type="presParOf" srcId="{AC317986-BE3C-4442-8D22-1C9EA910F3D2}" destId="{06C23EE8-A1A5-430F-BCCC-DE571545C665}" srcOrd="0" destOrd="0" presId="urn:microsoft.com/office/officeart/2005/8/layout/hList1"/>
    <dgm:cxn modelId="{C32C412B-850D-42AA-8896-2AE95AB090F5}" type="presParOf" srcId="{06C23EE8-A1A5-430F-BCCC-DE571545C665}" destId="{D6AA7488-97EB-4005-A143-18171B5ADB63}" srcOrd="0" destOrd="0" presId="urn:microsoft.com/office/officeart/2005/8/layout/hList1"/>
    <dgm:cxn modelId="{3DD9CFC3-0005-470A-8217-EB4295792939}" type="presParOf" srcId="{06C23EE8-A1A5-430F-BCCC-DE571545C665}" destId="{31DBE16D-88FB-4A0C-A331-5A3AEDA1C0C2}" srcOrd="1" destOrd="0" presId="urn:microsoft.com/office/officeart/2005/8/layout/hList1"/>
    <dgm:cxn modelId="{CA2C23D2-2583-4EB3-A53A-2676AAF321D3}" type="presParOf" srcId="{AC317986-BE3C-4442-8D22-1C9EA910F3D2}" destId="{10439D2B-999F-4EF2-8104-D22F3CF3C9D3}" srcOrd="1" destOrd="0" presId="urn:microsoft.com/office/officeart/2005/8/layout/hList1"/>
    <dgm:cxn modelId="{F484F130-75D0-4784-BF33-0764C3CADC4C}" type="presParOf" srcId="{AC317986-BE3C-4442-8D22-1C9EA910F3D2}" destId="{62429177-A60F-46DC-93CB-AEE4B716DD06}" srcOrd="2" destOrd="0" presId="urn:microsoft.com/office/officeart/2005/8/layout/hList1"/>
    <dgm:cxn modelId="{32D96B29-9ABE-41C6-BF22-14D7ED198CDB}" type="presParOf" srcId="{62429177-A60F-46DC-93CB-AEE4B716DD06}" destId="{10658675-0F8A-4DBF-8FB7-556A86BA1218}" srcOrd="0" destOrd="0" presId="urn:microsoft.com/office/officeart/2005/8/layout/hList1"/>
    <dgm:cxn modelId="{E5E4996D-78D2-4A2B-B483-D8E6B1326723}" type="presParOf" srcId="{62429177-A60F-46DC-93CB-AEE4B716DD06}" destId="{15674E6C-E48A-41EC-8BAD-150E2821539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F5E4508-8B0D-4310-A6F8-26877FFADB9D}" type="doc">
      <dgm:prSet loTypeId="urn:microsoft.com/office/officeart/2005/8/layout/vProcess5" loCatId="process" qsTypeId="urn:microsoft.com/office/officeart/2005/8/quickstyle/simple1" qsCatId="simple" csTypeId="urn:microsoft.com/office/officeart/2005/8/colors/colorful1#2" csCatId="colorful" phldr="1"/>
      <dgm:spPr/>
      <dgm:t>
        <a:bodyPr/>
        <a:lstStyle/>
        <a:p>
          <a:endParaRPr lang="en-US"/>
        </a:p>
      </dgm:t>
    </dgm:pt>
    <dgm:pt modelId="{3D637CB6-DC7D-4F04-8B20-BDBC68E67F9D}">
      <dgm:prSet phldrT="[Text]"/>
      <dgm:spPr/>
      <dgm:t>
        <a:bodyPr/>
        <a:lstStyle/>
        <a:p>
          <a:r>
            <a:rPr lang="en-US" dirty="0">
              <a:solidFill>
                <a:schemeClr val="tx1"/>
              </a:solidFill>
              <a:latin typeface="Franklin Gothic Medium" panose="020B0603020102020204" pitchFamily="34" charset="0"/>
            </a:rPr>
            <a:t>Similar to 1</a:t>
          </a:r>
          <a:r>
            <a:rPr lang="en-US" baseline="30000" dirty="0">
              <a:solidFill>
                <a:schemeClr val="tx1"/>
              </a:solidFill>
              <a:latin typeface="Franklin Gothic Medium" panose="020B0603020102020204" pitchFamily="34" charset="0"/>
            </a:rPr>
            <a:t>st</a:t>
          </a:r>
          <a:r>
            <a:rPr lang="en-US" dirty="0">
              <a:solidFill>
                <a:schemeClr val="tx1"/>
              </a:solidFill>
              <a:latin typeface="Franklin Gothic Medium" panose="020B0603020102020204" pitchFamily="34" charset="0"/>
            </a:rPr>
            <a:t> generation antipsychotics, with key differences that may define “atypical”</a:t>
          </a:r>
        </a:p>
      </dgm:t>
    </dgm:pt>
    <dgm:pt modelId="{2A3072B1-1F91-4727-914D-0AC5B59F9E83}" type="parTrans" cxnId="{9E1E7DBA-2B28-491C-9C59-52715F280072}">
      <dgm:prSet/>
      <dgm:spPr/>
      <dgm:t>
        <a:bodyPr/>
        <a:lstStyle/>
        <a:p>
          <a:endParaRPr lang="en-US"/>
        </a:p>
      </dgm:t>
    </dgm:pt>
    <dgm:pt modelId="{B530C9F3-CFDF-4529-AF81-0C5DEDB94CD4}" type="sibTrans" cxnId="{9E1E7DBA-2B28-491C-9C59-52715F280072}">
      <dgm:prSet/>
      <dgm:spPr>
        <a:solidFill>
          <a:schemeClr val="bg1">
            <a:lumMod val="50000"/>
          </a:schemeClr>
        </a:solidFill>
        <a:ln>
          <a:solidFill>
            <a:schemeClr val="tx1">
              <a:alpha val="90000"/>
            </a:schemeClr>
          </a:solidFill>
        </a:ln>
      </dgm:spPr>
      <dgm:t>
        <a:bodyPr/>
        <a:lstStyle/>
        <a:p>
          <a:endParaRPr lang="en-US" dirty="0"/>
        </a:p>
      </dgm:t>
    </dgm:pt>
    <dgm:pt modelId="{8303E088-069C-472F-8855-76198901C41F}">
      <dgm:prSet phldrT="[Text]"/>
      <dgm:spPr/>
      <dgm:t>
        <a:bodyPr/>
        <a:lstStyle/>
        <a:p>
          <a:r>
            <a:rPr lang="en-US" dirty="0">
              <a:solidFill>
                <a:schemeClr val="tx1"/>
              </a:solidFill>
              <a:latin typeface="Franklin Gothic Medium" panose="020B0603020102020204" pitchFamily="34" charset="0"/>
            </a:rPr>
            <a:t>↑ D</a:t>
          </a:r>
          <a:r>
            <a:rPr lang="en-US" baseline="-25000" dirty="0">
              <a:solidFill>
                <a:schemeClr val="tx1"/>
              </a:solidFill>
              <a:latin typeface="Franklin Gothic Medium" panose="020B0603020102020204" pitchFamily="34" charset="0"/>
            </a:rPr>
            <a:t>2</a:t>
          </a:r>
          <a:r>
            <a:rPr lang="en-US" dirty="0">
              <a:solidFill>
                <a:schemeClr val="tx1"/>
              </a:solidFill>
              <a:latin typeface="Franklin Gothic Medium" panose="020B0603020102020204" pitchFamily="34" charset="0"/>
            </a:rPr>
            <a:t> antagonist receptor dissociation or </a:t>
          </a:r>
        </a:p>
        <a:p>
          <a:r>
            <a:rPr lang="en-US" baseline="0" dirty="0">
              <a:solidFill>
                <a:schemeClr val="tx1"/>
              </a:solidFill>
              <a:latin typeface="Franklin Gothic Medium" panose="020B0603020102020204" pitchFamily="34" charset="0"/>
            </a:rPr>
            <a:t>D</a:t>
          </a:r>
          <a:r>
            <a:rPr lang="en-US" baseline="-25000" dirty="0">
              <a:solidFill>
                <a:schemeClr val="tx1"/>
              </a:solidFill>
              <a:latin typeface="Franklin Gothic Medium" panose="020B0603020102020204" pitchFamily="34" charset="0"/>
            </a:rPr>
            <a:t>2</a:t>
          </a:r>
          <a:r>
            <a:rPr lang="en-US" baseline="0" dirty="0">
              <a:solidFill>
                <a:schemeClr val="tx1"/>
              </a:solidFill>
              <a:latin typeface="Franklin Gothic Medium" panose="020B0603020102020204" pitchFamily="34" charset="0"/>
            </a:rPr>
            <a:t> partial agonist  mechanism </a:t>
          </a:r>
        </a:p>
      </dgm:t>
    </dgm:pt>
    <dgm:pt modelId="{589827F4-038E-439C-BCC8-92D705BEABEA}" type="parTrans" cxnId="{EB2DAEA4-16B0-42B3-B069-CC2DB9982161}">
      <dgm:prSet/>
      <dgm:spPr/>
      <dgm:t>
        <a:bodyPr/>
        <a:lstStyle/>
        <a:p>
          <a:endParaRPr lang="en-US"/>
        </a:p>
      </dgm:t>
    </dgm:pt>
    <dgm:pt modelId="{08FBBECF-DB9D-4AD9-94D5-BEC24947AC89}" type="sibTrans" cxnId="{EB2DAEA4-16B0-42B3-B069-CC2DB9982161}">
      <dgm:prSet/>
      <dgm:spPr>
        <a:solidFill>
          <a:schemeClr val="bg1">
            <a:lumMod val="50000"/>
          </a:schemeClr>
        </a:solidFill>
        <a:ln>
          <a:solidFill>
            <a:schemeClr val="tx1">
              <a:alpha val="90000"/>
            </a:schemeClr>
          </a:solidFill>
        </a:ln>
      </dgm:spPr>
      <dgm:t>
        <a:bodyPr/>
        <a:lstStyle/>
        <a:p>
          <a:endParaRPr lang="en-US"/>
        </a:p>
      </dgm:t>
    </dgm:pt>
    <dgm:pt modelId="{C1E1B68B-5BB5-4378-9936-AE455AA5F20F}">
      <dgm:prSet phldrT="[Text]"/>
      <dgm:spPr/>
      <dgm:t>
        <a:bodyPr/>
        <a:lstStyle/>
        <a:p>
          <a:r>
            <a:rPr lang="en-US" dirty="0">
              <a:solidFill>
                <a:schemeClr val="tx1"/>
              </a:solidFill>
              <a:latin typeface="Franklin Gothic Medium" panose="020B0603020102020204" pitchFamily="34" charset="0"/>
            </a:rPr>
            <a:t>5HT</a:t>
          </a:r>
          <a:r>
            <a:rPr lang="en-US" baseline="-25000" dirty="0">
              <a:solidFill>
                <a:schemeClr val="tx1"/>
              </a:solidFill>
              <a:latin typeface="Franklin Gothic Medium" panose="020B0603020102020204" pitchFamily="34" charset="0"/>
            </a:rPr>
            <a:t>2a </a:t>
          </a:r>
          <a:r>
            <a:rPr lang="en-US" dirty="0">
              <a:solidFill>
                <a:schemeClr val="tx1"/>
              </a:solidFill>
              <a:latin typeface="Franklin Gothic Medium" panose="020B0603020102020204" pitchFamily="34" charset="0"/>
            </a:rPr>
            <a:t>antagonism= ↓ movement disorders</a:t>
          </a:r>
        </a:p>
        <a:p>
          <a:r>
            <a:rPr lang="en-US" dirty="0">
              <a:solidFill>
                <a:schemeClr val="tx1"/>
              </a:solidFill>
              <a:latin typeface="Franklin Gothic Medium" panose="020B0603020102020204" pitchFamily="34" charset="0"/>
            </a:rPr>
            <a:t>+/- 5HT</a:t>
          </a:r>
          <a:r>
            <a:rPr lang="en-US" baseline="-25000" dirty="0">
              <a:solidFill>
                <a:schemeClr val="tx1"/>
              </a:solidFill>
              <a:latin typeface="Franklin Gothic Medium" panose="020B0603020102020204" pitchFamily="34" charset="0"/>
            </a:rPr>
            <a:t>1a </a:t>
          </a:r>
          <a:r>
            <a:rPr lang="en-US" baseline="0" dirty="0">
              <a:solidFill>
                <a:schemeClr val="tx1"/>
              </a:solidFill>
              <a:latin typeface="Franklin Gothic Medium" panose="020B0603020102020204" pitchFamily="34" charset="0"/>
            </a:rPr>
            <a:t> partial </a:t>
          </a:r>
          <a:r>
            <a:rPr lang="en-US" baseline="0" dirty="0" err="1">
              <a:solidFill>
                <a:schemeClr val="tx1"/>
              </a:solidFill>
              <a:latin typeface="Franklin Gothic Medium" panose="020B0603020102020204" pitchFamily="34" charset="0"/>
            </a:rPr>
            <a:t>agonism</a:t>
          </a:r>
          <a:endParaRPr lang="en-US" dirty="0">
            <a:solidFill>
              <a:schemeClr val="tx1"/>
            </a:solidFill>
            <a:latin typeface="Franklin Gothic Medium" panose="020B0603020102020204" pitchFamily="34" charset="0"/>
          </a:endParaRPr>
        </a:p>
      </dgm:t>
    </dgm:pt>
    <dgm:pt modelId="{046AEBAD-6408-472E-A5D3-7542B98859FB}" type="parTrans" cxnId="{CE9BC5B5-1AE0-4FB5-8FF3-AD79834719AE}">
      <dgm:prSet/>
      <dgm:spPr/>
      <dgm:t>
        <a:bodyPr/>
        <a:lstStyle/>
        <a:p>
          <a:endParaRPr lang="en-US"/>
        </a:p>
      </dgm:t>
    </dgm:pt>
    <dgm:pt modelId="{1A1B9841-3F29-4210-9DC9-EA89E84E4293}" type="sibTrans" cxnId="{CE9BC5B5-1AE0-4FB5-8FF3-AD79834719AE}">
      <dgm:prSet/>
      <dgm:spPr>
        <a:solidFill>
          <a:schemeClr val="bg1">
            <a:lumMod val="50000"/>
          </a:schemeClr>
        </a:solidFill>
        <a:ln>
          <a:solidFill>
            <a:schemeClr val="bg1">
              <a:lumMod val="50000"/>
              <a:alpha val="90000"/>
            </a:schemeClr>
          </a:solidFill>
        </a:ln>
      </dgm:spPr>
      <dgm:t>
        <a:bodyPr/>
        <a:lstStyle/>
        <a:p>
          <a:endParaRPr lang="en-US"/>
        </a:p>
      </dgm:t>
    </dgm:pt>
    <dgm:pt modelId="{9404DA19-5463-4802-9157-F05D8A2E2630}" type="pres">
      <dgm:prSet presAssocID="{DF5E4508-8B0D-4310-A6F8-26877FFADB9D}" presName="outerComposite" presStyleCnt="0">
        <dgm:presLayoutVars>
          <dgm:chMax val="5"/>
          <dgm:dir/>
          <dgm:resizeHandles val="exact"/>
        </dgm:presLayoutVars>
      </dgm:prSet>
      <dgm:spPr/>
      <dgm:t>
        <a:bodyPr/>
        <a:lstStyle/>
        <a:p>
          <a:endParaRPr lang="en-US"/>
        </a:p>
      </dgm:t>
    </dgm:pt>
    <dgm:pt modelId="{D67E4317-9312-41CD-BEDA-6B3CE8C3CCBD}" type="pres">
      <dgm:prSet presAssocID="{DF5E4508-8B0D-4310-A6F8-26877FFADB9D}" presName="dummyMaxCanvas" presStyleCnt="0">
        <dgm:presLayoutVars/>
      </dgm:prSet>
      <dgm:spPr/>
    </dgm:pt>
    <dgm:pt modelId="{A934716A-190B-4898-A4BF-1ED2816080E1}" type="pres">
      <dgm:prSet presAssocID="{DF5E4508-8B0D-4310-A6F8-26877FFADB9D}" presName="ThreeNodes_1" presStyleLbl="node1" presStyleIdx="0" presStyleCnt="3" custScaleY="66101" custLinFactNeighborX="-691" custLinFactNeighborY="-21471">
        <dgm:presLayoutVars>
          <dgm:bulletEnabled val="1"/>
        </dgm:presLayoutVars>
      </dgm:prSet>
      <dgm:spPr/>
      <dgm:t>
        <a:bodyPr/>
        <a:lstStyle/>
        <a:p>
          <a:endParaRPr lang="en-US"/>
        </a:p>
      </dgm:t>
    </dgm:pt>
    <dgm:pt modelId="{1A742BA4-BB68-4252-8624-99FD74611313}" type="pres">
      <dgm:prSet presAssocID="{DF5E4508-8B0D-4310-A6F8-26877FFADB9D}" presName="ThreeNodes_2" presStyleLbl="node1" presStyleIdx="1" presStyleCnt="3" custScaleY="105265" custLinFactNeighborX="-2791" custLinFactNeighborY="-13961">
        <dgm:presLayoutVars>
          <dgm:bulletEnabled val="1"/>
        </dgm:presLayoutVars>
      </dgm:prSet>
      <dgm:spPr/>
      <dgm:t>
        <a:bodyPr/>
        <a:lstStyle/>
        <a:p>
          <a:endParaRPr lang="en-US"/>
        </a:p>
      </dgm:t>
    </dgm:pt>
    <dgm:pt modelId="{3EEE2799-9FFE-4627-9241-4DBDE4AA6479}" type="pres">
      <dgm:prSet presAssocID="{DF5E4508-8B0D-4310-A6F8-26877FFADB9D}" presName="ThreeNodes_3" presStyleLbl="node1" presStyleIdx="2" presStyleCnt="3" custScaleY="95334">
        <dgm:presLayoutVars>
          <dgm:bulletEnabled val="1"/>
        </dgm:presLayoutVars>
      </dgm:prSet>
      <dgm:spPr/>
      <dgm:t>
        <a:bodyPr/>
        <a:lstStyle/>
        <a:p>
          <a:endParaRPr lang="en-US"/>
        </a:p>
      </dgm:t>
    </dgm:pt>
    <dgm:pt modelId="{F47A2F90-8D24-412E-9B3D-64AAC71FCC6B}" type="pres">
      <dgm:prSet presAssocID="{DF5E4508-8B0D-4310-A6F8-26877FFADB9D}" presName="ThreeConn_1-2" presStyleLbl="fgAccFollowNode1" presStyleIdx="0" presStyleCnt="2" custFlipVert="0" custScaleX="5215" custScaleY="13081" custLinFactX="100000" custLinFactNeighborX="179758" custLinFactNeighborY="-54225">
        <dgm:presLayoutVars>
          <dgm:bulletEnabled val="1"/>
        </dgm:presLayoutVars>
      </dgm:prSet>
      <dgm:spPr>
        <a:prstGeom prst="mathMinus">
          <a:avLst/>
        </a:prstGeom>
      </dgm:spPr>
      <dgm:t>
        <a:bodyPr/>
        <a:lstStyle/>
        <a:p>
          <a:endParaRPr lang="en-US"/>
        </a:p>
      </dgm:t>
    </dgm:pt>
    <dgm:pt modelId="{D9A85AC9-DC12-451D-B856-113F088B10A9}" type="pres">
      <dgm:prSet presAssocID="{DF5E4508-8B0D-4310-A6F8-26877FFADB9D}" presName="ThreeConn_2-3" presStyleLbl="fgAccFollowNode1" presStyleIdx="1" presStyleCnt="2" custFlipVert="1" custFlipHor="0" custScaleX="5215" custScaleY="5215" custLinFactX="15699" custLinFactY="-100000" custLinFactNeighborX="100000" custLinFactNeighborY="-136619">
        <dgm:presLayoutVars>
          <dgm:bulletEnabled val="1"/>
        </dgm:presLayoutVars>
      </dgm:prSet>
      <dgm:spPr/>
      <dgm:t>
        <a:bodyPr/>
        <a:lstStyle/>
        <a:p>
          <a:endParaRPr lang="en-US"/>
        </a:p>
      </dgm:t>
    </dgm:pt>
    <dgm:pt modelId="{934F059E-1A42-4EBD-907C-2910C2C873DB}" type="pres">
      <dgm:prSet presAssocID="{DF5E4508-8B0D-4310-A6F8-26877FFADB9D}" presName="ThreeNodes_1_text" presStyleLbl="node1" presStyleIdx="2" presStyleCnt="3">
        <dgm:presLayoutVars>
          <dgm:bulletEnabled val="1"/>
        </dgm:presLayoutVars>
      </dgm:prSet>
      <dgm:spPr/>
      <dgm:t>
        <a:bodyPr/>
        <a:lstStyle/>
        <a:p>
          <a:endParaRPr lang="en-US"/>
        </a:p>
      </dgm:t>
    </dgm:pt>
    <dgm:pt modelId="{BC8DE5CD-6226-4017-BC99-A3AB64A18818}" type="pres">
      <dgm:prSet presAssocID="{DF5E4508-8B0D-4310-A6F8-26877FFADB9D}" presName="ThreeNodes_2_text" presStyleLbl="node1" presStyleIdx="2" presStyleCnt="3">
        <dgm:presLayoutVars>
          <dgm:bulletEnabled val="1"/>
        </dgm:presLayoutVars>
      </dgm:prSet>
      <dgm:spPr/>
      <dgm:t>
        <a:bodyPr/>
        <a:lstStyle/>
        <a:p>
          <a:endParaRPr lang="en-US"/>
        </a:p>
      </dgm:t>
    </dgm:pt>
    <dgm:pt modelId="{D30F68F2-A66F-46EF-A1E1-1215FA6DCAA9}" type="pres">
      <dgm:prSet presAssocID="{DF5E4508-8B0D-4310-A6F8-26877FFADB9D}" presName="ThreeNodes_3_text" presStyleLbl="node1" presStyleIdx="2" presStyleCnt="3">
        <dgm:presLayoutVars>
          <dgm:bulletEnabled val="1"/>
        </dgm:presLayoutVars>
      </dgm:prSet>
      <dgm:spPr/>
      <dgm:t>
        <a:bodyPr/>
        <a:lstStyle/>
        <a:p>
          <a:endParaRPr lang="en-US"/>
        </a:p>
      </dgm:t>
    </dgm:pt>
  </dgm:ptLst>
  <dgm:cxnLst>
    <dgm:cxn modelId="{6F28DAB2-3423-4BC6-938A-FB349294E9B4}" type="presOf" srcId="{3D637CB6-DC7D-4F04-8B20-BDBC68E67F9D}" destId="{A934716A-190B-4898-A4BF-1ED2816080E1}" srcOrd="0" destOrd="0" presId="urn:microsoft.com/office/officeart/2005/8/layout/vProcess5"/>
    <dgm:cxn modelId="{CE9BC5B5-1AE0-4FB5-8FF3-AD79834719AE}" srcId="{DF5E4508-8B0D-4310-A6F8-26877FFADB9D}" destId="{C1E1B68B-5BB5-4378-9936-AE455AA5F20F}" srcOrd="2" destOrd="0" parTransId="{046AEBAD-6408-472E-A5D3-7542B98859FB}" sibTransId="{1A1B9841-3F29-4210-9DC9-EA89E84E4293}"/>
    <dgm:cxn modelId="{EB2DAEA4-16B0-42B3-B069-CC2DB9982161}" srcId="{DF5E4508-8B0D-4310-A6F8-26877FFADB9D}" destId="{8303E088-069C-472F-8855-76198901C41F}" srcOrd="1" destOrd="0" parTransId="{589827F4-038E-439C-BCC8-92D705BEABEA}" sibTransId="{08FBBECF-DB9D-4AD9-94D5-BEC24947AC89}"/>
    <dgm:cxn modelId="{20BBE846-8150-431B-B8C7-0CFF3D99741E}" type="presOf" srcId="{C1E1B68B-5BB5-4378-9936-AE455AA5F20F}" destId="{3EEE2799-9FFE-4627-9241-4DBDE4AA6479}" srcOrd="0" destOrd="0" presId="urn:microsoft.com/office/officeart/2005/8/layout/vProcess5"/>
    <dgm:cxn modelId="{2267ECB0-565A-4185-817D-4C877923CC5A}" type="presOf" srcId="{DF5E4508-8B0D-4310-A6F8-26877FFADB9D}" destId="{9404DA19-5463-4802-9157-F05D8A2E2630}" srcOrd="0" destOrd="0" presId="urn:microsoft.com/office/officeart/2005/8/layout/vProcess5"/>
    <dgm:cxn modelId="{EE38503A-3E02-4448-A478-746FB5097FFC}" type="presOf" srcId="{8303E088-069C-472F-8855-76198901C41F}" destId="{BC8DE5CD-6226-4017-BC99-A3AB64A18818}" srcOrd="1" destOrd="0" presId="urn:microsoft.com/office/officeart/2005/8/layout/vProcess5"/>
    <dgm:cxn modelId="{B8CAE9FD-056C-4726-B4C8-D6124D114DD7}" type="presOf" srcId="{3D637CB6-DC7D-4F04-8B20-BDBC68E67F9D}" destId="{934F059E-1A42-4EBD-907C-2910C2C873DB}" srcOrd="1" destOrd="0" presId="urn:microsoft.com/office/officeart/2005/8/layout/vProcess5"/>
    <dgm:cxn modelId="{991566D3-BD5C-4C1F-BA0A-90C5A44696E2}" type="presOf" srcId="{B530C9F3-CFDF-4529-AF81-0C5DEDB94CD4}" destId="{F47A2F90-8D24-412E-9B3D-64AAC71FCC6B}" srcOrd="0" destOrd="0" presId="urn:microsoft.com/office/officeart/2005/8/layout/vProcess5"/>
    <dgm:cxn modelId="{2CF1E0D1-A564-463C-B08F-C5A8CF3E2D16}" type="presOf" srcId="{C1E1B68B-5BB5-4378-9936-AE455AA5F20F}" destId="{D30F68F2-A66F-46EF-A1E1-1215FA6DCAA9}" srcOrd="1" destOrd="0" presId="urn:microsoft.com/office/officeart/2005/8/layout/vProcess5"/>
    <dgm:cxn modelId="{F7230F05-E1D9-4CD9-A2FE-6F82E225C79C}" type="presOf" srcId="{08FBBECF-DB9D-4AD9-94D5-BEC24947AC89}" destId="{D9A85AC9-DC12-451D-B856-113F088B10A9}" srcOrd="0" destOrd="0" presId="urn:microsoft.com/office/officeart/2005/8/layout/vProcess5"/>
    <dgm:cxn modelId="{B040C21E-515E-419D-9FFF-D711B88D8725}" type="presOf" srcId="{8303E088-069C-472F-8855-76198901C41F}" destId="{1A742BA4-BB68-4252-8624-99FD74611313}" srcOrd="0" destOrd="0" presId="urn:microsoft.com/office/officeart/2005/8/layout/vProcess5"/>
    <dgm:cxn modelId="{9E1E7DBA-2B28-491C-9C59-52715F280072}" srcId="{DF5E4508-8B0D-4310-A6F8-26877FFADB9D}" destId="{3D637CB6-DC7D-4F04-8B20-BDBC68E67F9D}" srcOrd="0" destOrd="0" parTransId="{2A3072B1-1F91-4727-914D-0AC5B59F9E83}" sibTransId="{B530C9F3-CFDF-4529-AF81-0C5DEDB94CD4}"/>
    <dgm:cxn modelId="{9A4B8116-0D90-47FD-B0CD-DF4985F49755}" type="presParOf" srcId="{9404DA19-5463-4802-9157-F05D8A2E2630}" destId="{D67E4317-9312-41CD-BEDA-6B3CE8C3CCBD}" srcOrd="0" destOrd="0" presId="urn:microsoft.com/office/officeart/2005/8/layout/vProcess5"/>
    <dgm:cxn modelId="{FF5DBDED-93DE-40D7-9CB0-C77418669851}" type="presParOf" srcId="{9404DA19-5463-4802-9157-F05D8A2E2630}" destId="{A934716A-190B-4898-A4BF-1ED2816080E1}" srcOrd="1" destOrd="0" presId="urn:microsoft.com/office/officeart/2005/8/layout/vProcess5"/>
    <dgm:cxn modelId="{FB0BC259-0638-4A04-B755-E790005FEB3E}" type="presParOf" srcId="{9404DA19-5463-4802-9157-F05D8A2E2630}" destId="{1A742BA4-BB68-4252-8624-99FD74611313}" srcOrd="2" destOrd="0" presId="urn:microsoft.com/office/officeart/2005/8/layout/vProcess5"/>
    <dgm:cxn modelId="{0E300E6C-2320-42EA-820D-C4B9DD309972}" type="presParOf" srcId="{9404DA19-5463-4802-9157-F05D8A2E2630}" destId="{3EEE2799-9FFE-4627-9241-4DBDE4AA6479}" srcOrd="3" destOrd="0" presId="urn:microsoft.com/office/officeart/2005/8/layout/vProcess5"/>
    <dgm:cxn modelId="{B417DDB7-BB07-4FEF-BB90-C5481947854A}" type="presParOf" srcId="{9404DA19-5463-4802-9157-F05D8A2E2630}" destId="{F47A2F90-8D24-412E-9B3D-64AAC71FCC6B}" srcOrd="4" destOrd="0" presId="urn:microsoft.com/office/officeart/2005/8/layout/vProcess5"/>
    <dgm:cxn modelId="{4EA0C15F-F13D-4C2F-8D9C-4CDA289C4CAB}" type="presParOf" srcId="{9404DA19-5463-4802-9157-F05D8A2E2630}" destId="{D9A85AC9-DC12-451D-B856-113F088B10A9}" srcOrd="5" destOrd="0" presId="urn:microsoft.com/office/officeart/2005/8/layout/vProcess5"/>
    <dgm:cxn modelId="{0B8A3280-0B80-487C-9BD0-BF151E1807D9}" type="presParOf" srcId="{9404DA19-5463-4802-9157-F05D8A2E2630}" destId="{934F059E-1A42-4EBD-907C-2910C2C873DB}" srcOrd="6" destOrd="0" presId="urn:microsoft.com/office/officeart/2005/8/layout/vProcess5"/>
    <dgm:cxn modelId="{9874A04B-F108-45D0-B6E4-52437F229602}" type="presParOf" srcId="{9404DA19-5463-4802-9157-F05D8A2E2630}" destId="{BC8DE5CD-6226-4017-BC99-A3AB64A18818}" srcOrd="7" destOrd="0" presId="urn:microsoft.com/office/officeart/2005/8/layout/vProcess5"/>
    <dgm:cxn modelId="{46646404-DE55-470B-9E54-5476F02222A8}" type="presParOf" srcId="{9404DA19-5463-4802-9157-F05D8A2E2630}" destId="{D30F68F2-A66F-46EF-A1E1-1215FA6DCAA9}"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8D962D6-B26C-4FEF-BC53-2FBCB8BF1311}" type="doc">
      <dgm:prSet loTypeId="urn:microsoft.com/office/officeart/2005/8/layout/pyramid2" loCatId="list" qsTypeId="urn:microsoft.com/office/officeart/2005/8/quickstyle/simple1" qsCatId="simple" csTypeId="urn:microsoft.com/office/officeart/2005/8/colors/accent1_2" csCatId="accent1" phldr="1"/>
      <dgm:spPr/>
    </dgm:pt>
    <dgm:pt modelId="{D0A93C56-2168-438D-852D-7DD0A2D6BA1D}">
      <dgm:prSet phldrT="[Text]"/>
      <dgm:spPr/>
      <dgm:t>
        <a:bodyPr/>
        <a:lstStyle/>
        <a:p>
          <a:r>
            <a:rPr lang="en-US" dirty="0"/>
            <a:t>Acute Dystonia</a:t>
          </a:r>
        </a:p>
      </dgm:t>
    </dgm:pt>
    <dgm:pt modelId="{7095E4CC-353B-4A55-AA27-20619B4E172F}" type="parTrans" cxnId="{EA9FC4D6-56BF-4009-9725-E847B0FFE07B}">
      <dgm:prSet/>
      <dgm:spPr/>
      <dgm:t>
        <a:bodyPr/>
        <a:lstStyle/>
        <a:p>
          <a:endParaRPr lang="en-US"/>
        </a:p>
      </dgm:t>
    </dgm:pt>
    <dgm:pt modelId="{19D05BD9-A59E-4AE3-ACCC-8519B24BFD5F}" type="sibTrans" cxnId="{EA9FC4D6-56BF-4009-9725-E847B0FFE07B}">
      <dgm:prSet/>
      <dgm:spPr/>
      <dgm:t>
        <a:bodyPr/>
        <a:lstStyle/>
        <a:p>
          <a:endParaRPr lang="en-US"/>
        </a:p>
      </dgm:t>
    </dgm:pt>
    <dgm:pt modelId="{D13E9979-E153-49CF-913C-F8DFFDD2855C}">
      <dgm:prSet phldrT="[Text]"/>
      <dgm:spPr/>
      <dgm:t>
        <a:bodyPr/>
        <a:lstStyle/>
        <a:p>
          <a:r>
            <a:rPr lang="en-US" dirty="0" err="1"/>
            <a:t>Pseudoparkinsonism</a:t>
          </a:r>
          <a:endParaRPr lang="en-US" dirty="0"/>
        </a:p>
      </dgm:t>
    </dgm:pt>
    <dgm:pt modelId="{04253F99-AC89-48FE-B273-BBF993D4B09A}" type="parTrans" cxnId="{3F557EB1-69A0-4D46-9B21-425141C89D2B}">
      <dgm:prSet/>
      <dgm:spPr/>
      <dgm:t>
        <a:bodyPr/>
        <a:lstStyle/>
        <a:p>
          <a:endParaRPr lang="en-US"/>
        </a:p>
      </dgm:t>
    </dgm:pt>
    <dgm:pt modelId="{A4E2BD57-2254-41C3-81B3-07CA00B3C70E}" type="sibTrans" cxnId="{3F557EB1-69A0-4D46-9B21-425141C89D2B}">
      <dgm:prSet/>
      <dgm:spPr/>
      <dgm:t>
        <a:bodyPr/>
        <a:lstStyle/>
        <a:p>
          <a:endParaRPr lang="en-US"/>
        </a:p>
      </dgm:t>
    </dgm:pt>
    <dgm:pt modelId="{87BAC489-C5EB-473F-B94D-1C0A2D501B8A}">
      <dgm:prSet phldrT="[Text]"/>
      <dgm:spPr/>
      <dgm:t>
        <a:bodyPr/>
        <a:lstStyle/>
        <a:p>
          <a:r>
            <a:rPr lang="en-US" dirty="0" err="1"/>
            <a:t>Akathisia</a:t>
          </a:r>
          <a:endParaRPr lang="en-US" dirty="0"/>
        </a:p>
      </dgm:t>
    </dgm:pt>
    <dgm:pt modelId="{D4328B8B-1021-4117-82C3-5889BD57F9DA}" type="parTrans" cxnId="{0838FAAF-621A-4E82-93AD-6E808B0DE849}">
      <dgm:prSet/>
      <dgm:spPr/>
      <dgm:t>
        <a:bodyPr/>
        <a:lstStyle/>
        <a:p>
          <a:endParaRPr lang="en-US"/>
        </a:p>
      </dgm:t>
    </dgm:pt>
    <dgm:pt modelId="{898C4F5C-5305-4D98-B24E-CE20A019265E}" type="sibTrans" cxnId="{0838FAAF-621A-4E82-93AD-6E808B0DE849}">
      <dgm:prSet/>
      <dgm:spPr/>
      <dgm:t>
        <a:bodyPr/>
        <a:lstStyle/>
        <a:p>
          <a:endParaRPr lang="en-US"/>
        </a:p>
      </dgm:t>
    </dgm:pt>
    <dgm:pt modelId="{71358773-D061-4FDE-9F41-6580B8A73759}">
      <dgm:prSet phldrT="[Text]"/>
      <dgm:spPr/>
      <dgm:t>
        <a:bodyPr/>
        <a:lstStyle/>
        <a:p>
          <a:r>
            <a:rPr lang="en-US" dirty="0" err="1"/>
            <a:t>Tardive</a:t>
          </a:r>
          <a:r>
            <a:rPr lang="en-US" dirty="0"/>
            <a:t> </a:t>
          </a:r>
          <a:r>
            <a:rPr lang="en-US" dirty="0" err="1"/>
            <a:t>Dyskinesia</a:t>
          </a:r>
          <a:endParaRPr lang="en-US" dirty="0"/>
        </a:p>
      </dgm:t>
    </dgm:pt>
    <dgm:pt modelId="{C393B614-EF77-436B-A213-99D5211735E9}" type="parTrans" cxnId="{1A6A20A3-613A-42FD-96F2-9D757B3053DE}">
      <dgm:prSet/>
      <dgm:spPr/>
      <dgm:t>
        <a:bodyPr/>
        <a:lstStyle/>
        <a:p>
          <a:endParaRPr lang="en-US"/>
        </a:p>
      </dgm:t>
    </dgm:pt>
    <dgm:pt modelId="{D89ACD66-D6E2-4656-A02A-C98698AF7A3A}" type="sibTrans" cxnId="{1A6A20A3-613A-42FD-96F2-9D757B3053DE}">
      <dgm:prSet/>
      <dgm:spPr/>
      <dgm:t>
        <a:bodyPr/>
        <a:lstStyle/>
        <a:p>
          <a:endParaRPr lang="en-US"/>
        </a:p>
      </dgm:t>
    </dgm:pt>
    <dgm:pt modelId="{B664D542-BD79-4428-A0ED-96440EEF5A2D}" type="pres">
      <dgm:prSet presAssocID="{B8D962D6-B26C-4FEF-BC53-2FBCB8BF1311}" presName="compositeShape" presStyleCnt="0">
        <dgm:presLayoutVars>
          <dgm:dir/>
          <dgm:resizeHandles/>
        </dgm:presLayoutVars>
      </dgm:prSet>
      <dgm:spPr/>
    </dgm:pt>
    <dgm:pt modelId="{FB025303-16C2-4158-BDA8-B5FFFF1072F2}" type="pres">
      <dgm:prSet presAssocID="{B8D962D6-B26C-4FEF-BC53-2FBCB8BF1311}" presName="pyramid" presStyleLbl="node1" presStyleIdx="0" presStyleCnt="1" custScaleY="93651"/>
      <dgm:spPr/>
    </dgm:pt>
    <dgm:pt modelId="{E757C26D-6738-4D2C-B722-1DF957AD0347}" type="pres">
      <dgm:prSet presAssocID="{B8D962D6-B26C-4FEF-BC53-2FBCB8BF1311}" presName="theList" presStyleCnt="0"/>
      <dgm:spPr/>
    </dgm:pt>
    <dgm:pt modelId="{0060197A-1785-47F1-8369-B9103B899F76}" type="pres">
      <dgm:prSet presAssocID="{D0A93C56-2168-438D-852D-7DD0A2D6BA1D}" presName="aNode" presStyleLbl="fgAcc1" presStyleIdx="0" presStyleCnt="4" custScaleX="120879" custLinFactNeighborX="6735" custLinFactNeighborY="-21873">
        <dgm:presLayoutVars>
          <dgm:bulletEnabled val="1"/>
        </dgm:presLayoutVars>
      </dgm:prSet>
      <dgm:spPr/>
      <dgm:t>
        <a:bodyPr/>
        <a:lstStyle/>
        <a:p>
          <a:endParaRPr lang="en-US"/>
        </a:p>
      </dgm:t>
    </dgm:pt>
    <dgm:pt modelId="{8628CD37-4998-4F0B-951C-08333FD236C3}" type="pres">
      <dgm:prSet presAssocID="{D0A93C56-2168-438D-852D-7DD0A2D6BA1D}" presName="aSpace" presStyleCnt="0"/>
      <dgm:spPr/>
    </dgm:pt>
    <dgm:pt modelId="{AB3555A9-C1BF-4612-9620-E2B2D55D04F1}" type="pres">
      <dgm:prSet presAssocID="{D13E9979-E153-49CF-913C-F8DFFDD2855C}" presName="aNode" presStyleLbl="fgAcc1" presStyleIdx="1" presStyleCnt="4" custScaleX="121551" custLinFactNeighborX="7071" custLinFactNeighborY="6925">
        <dgm:presLayoutVars>
          <dgm:bulletEnabled val="1"/>
        </dgm:presLayoutVars>
      </dgm:prSet>
      <dgm:spPr/>
      <dgm:t>
        <a:bodyPr/>
        <a:lstStyle/>
        <a:p>
          <a:endParaRPr lang="en-US"/>
        </a:p>
      </dgm:t>
    </dgm:pt>
    <dgm:pt modelId="{45EDFEDF-AE60-4E43-8250-0C7F22883430}" type="pres">
      <dgm:prSet presAssocID="{D13E9979-E153-49CF-913C-F8DFFDD2855C}" presName="aSpace" presStyleCnt="0"/>
      <dgm:spPr/>
    </dgm:pt>
    <dgm:pt modelId="{5F059913-9542-4BFE-81AD-F2BD738D819E}" type="pres">
      <dgm:prSet presAssocID="{87BAC489-C5EB-473F-B94D-1C0A2D501B8A}" presName="aNode" presStyleLbl="fgAcc1" presStyleIdx="2" presStyleCnt="4" custScaleX="121887" custLinFactNeighborX="7239" custLinFactNeighborY="35723">
        <dgm:presLayoutVars>
          <dgm:bulletEnabled val="1"/>
        </dgm:presLayoutVars>
      </dgm:prSet>
      <dgm:spPr/>
      <dgm:t>
        <a:bodyPr/>
        <a:lstStyle/>
        <a:p>
          <a:endParaRPr lang="en-US"/>
        </a:p>
      </dgm:t>
    </dgm:pt>
    <dgm:pt modelId="{7AE7F58D-14F0-453D-929C-7C217A3868DB}" type="pres">
      <dgm:prSet presAssocID="{87BAC489-C5EB-473F-B94D-1C0A2D501B8A}" presName="aSpace" presStyleCnt="0"/>
      <dgm:spPr/>
    </dgm:pt>
    <dgm:pt modelId="{8E994457-7273-436A-B627-7F3FCDC36A45}" type="pres">
      <dgm:prSet presAssocID="{71358773-D061-4FDE-9F41-6580B8A73759}" presName="aNode" presStyleLbl="fgAcc1" presStyleIdx="3" presStyleCnt="4" custScaleX="122055" custLinFactNeighborX="7323" custLinFactNeighborY="-6924">
        <dgm:presLayoutVars>
          <dgm:bulletEnabled val="1"/>
        </dgm:presLayoutVars>
      </dgm:prSet>
      <dgm:spPr/>
      <dgm:t>
        <a:bodyPr/>
        <a:lstStyle/>
        <a:p>
          <a:endParaRPr lang="en-US"/>
        </a:p>
      </dgm:t>
    </dgm:pt>
    <dgm:pt modelId="{A787DB24-7FAE-45E5-B13A-508D637F8C54}" type="pres">
      <dgm:prSet presAssocID="{71358773-D061-4FDE-9F41-6580B8A73759}" presName="aSpace" presStyleCnt="0"/>
      <dgm:spPr/>
    </dgm:pt>
  </dgm:ptLst>
  <dgm:cxnLst>
    <dgm:cxn modelId="{EA9FC4D6-56BF-4009-9725-E847B0FFE07B}" srcId="{B8D962D6-B26C-4FEF-BC53-2FBCB8BF1311}" destId="{D0A93C56-2168-438D-852D-7DD0A2D6BA1D}" srcOrd="0" destOrd="0" parTransId="{7095E4CC-353B-4A55-AA27-20619B4E172F}" sibTransId="{19D05BD9-A59E-4AE3-ACCC-8519B24BFD5F}"/>
    <dgm:cxn modelId="{0838FAAF-621A-4E82-93AD-6E808B0DE849}" srcId="{B8D962D6-B26C-4FEF-BC53-2FBCB8BF1311}" destId="{87BAC489-C5EB-473F-B94D-1C0A2D501B8A}" srcOrd="2" destOrd="0" parTransId="{D4328B8B-1021-4117-82C3-5889BD57F9DA}" sibTransId="{898C4F5C-5305-4D98-B24E-CE20A019265E}"/>
    <dgm:cxn modelId="{ED8E3DAE-B1C6-401B-80B1-C3119AB1434C}" type="presOf" srcId="{71358773-D061-4FDE-9F41-6580B8A73759}" destId="{8E994457-7273-436A-B627-7F3FCDC36A45}" srcOrd="0" destOrd="0" presId="urn:microsoft.com/office/officeart/2005/8/layout/pyramid2"/>
    <dgm:cxn modelId="{946F9D7A-3F40-4BC2-975C-E9BD8C943D88}" type="presOf" srcId="{D13E9979-E153-49CF-913C-F8DFFDD2855C}" destId="{AB3555A9-C1BF-4612-9620-E2B2D55D04F1}" srcOrd="0" destOrd="0" presId="urn:microsoft.com/office/officeart/2005/8/layout/pyramid2"/>
    <dgm:cxn modelId="{63C93974-AD52-4D64-A632-2B3083F66CA4}" type="presOf" srcId="{87BAC489-C5EB-473F-B94D-1C0A2D501B8A}" destId="{5F059913-9542-4BFE-81AD-F2BD738D819E}" srcOrd="0" destOrd="0" presId="urn:microsoft.com/office/officeart/2005/8/layout/pyramid2"/>
    <dgm:cxn modelId="{1A6A20A3-613A-42FD-96F2-9D757B3053DE}" srcId="{B8D962D6-B26C-4FEF-BC53-2FBCB8BF1311}" destId="{71358773-D061-4FDE-9F41-6580B8A73759}" srcOrd="3" destOrd="0" parTransId="{C393B614-EF77-436B-A213-99D5211735E9}" sibTransId="{D89ACD66-D6E2-4656-A02A-C98698AF7A3A}"/>
    <dgm:cxn modelId="{3F557EB1-69A0-4D46-9B21-425141C89D2B}" srcId="{B8D962D6-B26C-4FEF-BC53-2FBCB8BF1311}" destId="{D13E9979-E153-49CF-913C-F8DFFDD2855C}" srcOrd="1" destOrd="0" parTransId="{04253F99-AC89-48FE-B273-BBF993D4B09A}" sibTransId="{A4E2BD57-2254-41C3-81B3-07CA00B3C70E}"/>
    <dgm:cxn modelId="{277382DD-4B99-4416-A33F-AFC53195E52B}" type="presOf" srcId="{D0A93C56-2168-438D-852D-7DD0A2D6BA1D}" destId="{0060197A-1785-47F1-8369-B9103B899F76}" srcOrd="0" destOrd="0" presId="urn:microsoft.com/office/officeart/2005/8/layout/pyramid2"/>
    <dgm:cxn modelId="{F27C1A36-5DB6-42E7-AD34-D7C4564FACF7}" type="presOf" srcId="{B8D962D6-B26C-4FEF-BC53-2FBCB8BF1311}" destId="{B664D542-BD79-4428-A0ED-96440EEF5A2D}" srcOrd="0" destOrd="0" presId="urn:microsoft.com/office/officeart/2005/8/layout/pyramid2"/>
    <dgm:cxn modelId="{FA3190D4-A671-4B59-9D02-DD9AE14984CC}" type="presParOf" srcId="{B664D542-BD79-4428-A0ED-96440EEF5A2D}" destId="{FB025303-16C2-4158-BDA8-B5FFFF1072F2}" srcOrd="0" destOrd="0" presId="urn:microsoft.com/office/officeart/2005/8/layout/pyramid2"/>
    <dgm:cxn modelId="{3D77471B-A322-488F-B6A9-CE5702E4852E}" type="presParOf" srcId="{B664D542-BD79-4428-A0ED-96440EEF5A2D}" destId="{E757C26D-6738-4D2C-B722-1DF957AD0347}" srcOrd="1" destOrd="0" presId="urn:microsoft.com/office/officeart/2005/8/layout/pyramid2"/>
    <dgm:cxn modelId="{94302CD9-C6B0-4AC0-B91E-5FA181841322}" type="presParOf" srcId="{E757C26D-6738-4D2C-B722-1DF957AD0347}" destId="{0060197A-1785-47F1-8369-B9103B899F76}" srcOrd="0" destOrd="0" presId="urn:microsoft.com/office/officeart/2005/8/layout/pyramid2"/>
    <dgm:cxn modelId="{28D2D1E1-F7E5-45C9-BF38-9EE08DB4B2A5}" type="presParOf" srcId="{E757C26D-6738-4D2C-B722-1DF957AD0347}" destId="{8628CD37-4998-4F0B-951C-08333FD236C3}" srcOrd="1" destOrd="0" presId="urn:microsoft.com/office/officeart/2005/8/layout/pyramid2"/>
    <dgm:cxn modelId="{733F05F7-FD3A-40BD-8757-C2CD6893AACA}" type="presParOf" srcId="{E757C26D-6738-4D2C-B722-1DF957AD0347}" destId="{AB3555A9-C1BF-4612-9620-E2B2D55D04F1}" srcOrd="2" destOrd="0" presId="urn:microsoft.com/office/officeart/2005/8/layout/pyramid2"/>
    <dgm:cxn modelId="{C9A3CDE3-3696-49CE-B79C-7116E11EB878}" type="presParOf" srcId="{E757C26D-6738-4D2C-B722-1DF957AD0347}" destId="{45EDFEDF-AE60-4E43-8250-0C7F22883430}" srcOrd="3" destOrd="0" presId="urn:microsoft.com/office/officeart/2005/8/layout/pyramid2"/>
    <dgm:cxn modelId="{466AD235-2630-457D-AC61-1250412A8417}" type="presParOf" srcId="{E757C26D-6738-4D2C-B722-1DF957AD0347}" destId="{5F059913-9542-4BFE-81AD-F2BD738D819E}" srcOrd="4" destOrd="0" presId="urn:microsoft.com/office/officeart/2005/8/layout/pyramid2"/>
    <dgm:cxn modelId="{3D1AD625-4BF2-4D48-9E4E-94A305C8932F}" type="presParOf" srcId="{E757C26D-6738-4D2C-B722-1DF957AD0347}" destId="{7AE7F58D-14F0-453D-929C-7C217A3868DB}" srcOrd="5" destOrd="0" presId="urn:microsoft.com/office/officeart/2005/8/layout/pyramid2"/>
    <dgm:cxn modelId="{8A0AE128-21BE-4972-AD51-F952DBC9C3F8}" type="presParOf" srcId="{E757C26D-6738-4D2C-B722-1DF957AD0347}" destId="{8E994457-7273-436A-B627-7F3FCDC36A45}" srcOrd="6" destOrd="0" presId="urn:microsoft.com/office/officeart/2005/8/layout/pyramid2"/>
    <dgm:cxn modelId="{5139B2E9-BCBC-40DD-9225-4C29BE69D156}" type="presParOf" srcId="{E757C26D-6738-4D2C-B722-1DF957AD0347}" destId="{A787DB24-7FAE-45E5-B13A-508D637F8C54}"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F7102E-BAE3-46A0-9701-22EDA4FA9C1D}">
      <dsp:nvSpPr>
        <dsp:cNvPr id="0" name=""/>
        <dsp:cNvSpPr/>
      </dsp:nvSpPr>
      <dsp:spPr>
        <a:xfrm>
          <a:off x="0" y="4707599"/>
          <a:ext cx="7924801" cy="0"/>
        </a:xfrm>
        <a:prstGeom prst="line">
          <a:avLst/>
        </a:prstGeom>
        <a:noFill/>
        <a:ln w="34925" cap="flat" cmpd="sng" algn="in">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DF21BF-C236-489B-A933-DCB043DAD3F0}">
      <dsp:nvSpPr>
        <dsp:cNvPr id="0" name=""/>
        <dsp:cNvSpPr/>
      </dsp:nvSpPr>
      <dsp:spPr>
        <a:xfrm>
          <a:off x="0" y="3516773"/>
          <a:ext cx="7924801" cy="0"/>
        </a:xfrm>
        <a:prstGeom prst="line">
          <a:avLst/>
        </a:prstGeom>
        <a:noFill/>
        <a:ln w="34925" cap="flat" cmpd="sng" algn="in">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1A2FC4-5AA4-4467-8E0E-2BF7EFF578E0}">
      <dsp:nvSpPr>
        <dsp:cNvPr id="0" name=""/>
        <dsp:cNvSpPr/>
      </dsp:nvSpPr>
      <dsp:spPr>
        <a:xfrm>
          <a:off x="0" y="2325947"/>
          <a:ext cx="7924801" cy="0"/>
        </a:xfrm>
        <a:prstGeom prst="line">
          <a:avLst/>
        </a:prstGeom>
        <a:noFill/>
        <a:ln w="34925" cap="flat" cmpd="sng" algn="in">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06DC5D-91F9-4729-B1BF-0D4302FDBBB2}">
      <dsp:nvSpPr>
        <dsp:cNvPr id="0" name=""/>
        <dsp:cNvSpPr/>
      </dsp:nvSpPr>
      <dsp:spPr>
        <a:xfrm>
          <a:off x="0" y="1135121"/>
          <a:ext cx="7924801" cy="0"/>
        </a:xfrm>
        <a:prstGeom prst="line">
          <a:avLst/>
        </a:prstGeom>
        <a:noFill/>
        <a:ln w="34925" cap="flat" cmpd="sng" algn="in">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0EB5ED-A510-40DA-9FEC-A77C62DFBEAD}">
      <dsp:nvSpPr>
        <dsp:cNvPr id="0" name=""/>
        <dsp:cNvSpPr/>
      </dsp:nvSpPr>
      <dsp:spPr>
        <a:xfrm>
          <a:off x="2060448" y="1001"/>
          <a:ext cx="5864352" cy="1134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lvl="0" algn="l" defTabSz="1066800">
            <a:lnSpc>
              <a:spcPct val="90000"/>
            </a:lnSpc>
            <a:spcBef>
              <a:spcPct val="0"/>
            </a:spcBef>
            <a:spcAft>
              <a:spcPct val="35000"/>
            </a:spcAft>
          </a:pPr>
          <a:r>
            <a:rPr lang="en-US" sz="2400" kern="1200" dirty="0"/>
            <a:t>Therapeutic effect, EPS, hyperprolactinemia, worsening of negative symptoms </a:t>
          </a:r>
        </a:p>
      </dsp:txBody>
      <dsp:txXfrm>
        <a:off x="2060448" y="1001"/>
        <a:ext cx="5864352" cy="1134119"/>
      </dsp:txXfrm>
    </dsp:sp>
    <dsp:sp modelId="{3C247E5A-5C67-4C29-B37E-DC71913D56F6}">
      <dsp:nvSpPr>
        <dsp:cNvPr id="0" name=""/>
        <dsp:cNvSpPr/>
      </dsp:nvSpPr>
      <dsp:spPr>
        <a:xfrm>
          <a:off x="0" y="1001"/>
          <a:ext cx="2060448" cy="1134119"/>
        </a:xfrm>
        <a:prstGeom prst="round2SameRect">
          <a:avLst>
            <a:gd name="adj1" fmla="val 16670"/>
            <a:gd name="adj2" fmla="val 0"/>
          </a:avLst>
        </a:prstGeom>
        <a:solidFill>
          <a:schemeClr val="accent2">
            <a:hueOff val="0"/>
            <a:satOff val="0"/>
            <a:lumOff val="0"/>
            <a:alphaOff val="0"/>
          </a:schemeClr>
        </a:solidFill>
        <a:ln w="34925"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en-US" sz="2300" b="1" kern="1200" dirty="0">
              <a:solidFill>
                <a:schemeClr val="tx1"/>
              </a:solidFill>
            </a:rPr>
            <a:t>Dopamine - D</a:t>
          </a:r>
          <a:r>
            <a:rPr lang="en-US" sz="2300" b="1" kern="1200" baseline="-25000" dirty="0">
              <a:solidFill>
                <a:schemeClr val="tx1"/>
              </a:solidFill>
            </a:rPr>
            <a:t>2</a:t>
          </a:r>
          <a:r>
            <a:rPr lang="en-US" sz="2300" b="1" kern="1200" dirty="0">
              <a:solidFill>
                <a:schemeClr val="tx1"/>
              </a:solidFill>
            </a:rPr>
            <a:t> receptor antagonism</a:t>
          </a:r>
          <a:endParaRPr lang="en-US" sz="2300" kern="1200" dirty="0">
            <a:solidFill>
              <a:schemeClr val="tx1"/>
            </a:solidFill>
          </a:endParaRPr>
        </a:p>
      </dsp:txBody>
      <dsp:txXfrm>
        <a:off x="55373" y="56374"/>
        <a:ext cx="1949702" cy="1078746"/>
      </dsp:txXfrm>
    </dsp:sp>
    <dsp:sp modelId="{EC1B2C27-9A65-48BA-9308-19FB000BFF57}">
      <dsp:nvSpPr>
        <dsp:cNvPr id="0" name=""/>
        <dsp:cNvSpPr/>
      </dsp:nvSpPr>
      <dsp:spPr>
        <a:xfrm>
          <a:off x="2060448" y="1191827"/>
          <a:ext cx="5864352" cy="1134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lvl="0" algn="l" defTabSz="1066800">
            <a:lnSpc>
              <a:spcPct val="90000"/>
            </a:lnSpc>
            <a:spcBef>
              <a:spcPct val="0"/>
            </a:spcBef>
            <a:spcAft>
              <a:spcPct val="35000"/>
            </a:spcAft>
          </a:pPr>
          <a:r>
            <a:rPr lang="en-US" sz="2400" kern="1200" dirty="0"/>
            <a:t>Anti-cholinergic effects: dry mouth, constipation, urinary retention, blurry vision </a:t>
          </a:r>
        </a:p>
      </dsp:txBody>
      <dsp:txXfrm>
        <a:off x="2060448" y="1191827"/>
        <a:ext cx="5864352" cy="1134119"/>
      </dsp:txXfrm>
    </dsp:sp>
    <dsp:sp modelId="{5CAF0CE8-051B-4DDE-BBB8-41D9EB3AD949}">
      <dsp:nvSpPr>
        <dsp:cNvPr id="0" name=""/>
        <dsp:cNvSpPr/>
      </dsp:nvSpPr>
      <dsp:spPr>
        <a:xfrm>
          <a:off x="0" y="1191827"/>
          <a:ext cx="2060448" cy="1134119"/>
        </a:xfrm>
        <a:prstGeom prst="round2SameRect">
          <a:avLst>
            <a:gd name="adj1" fmla="val 16670"/>
            <a:gd name="adj2" fmla="val 0"/>
          </a:avLst>
        </a:prstGeom>
        <a:solidFill>
          <a:schemeClr val="accent2">
            <a:hueOff val="-55218"/>
            <a:satOff val="-18112"/>
            <a:lumOff val="-6601"/>
            <a:alphaOff val="0"/>
          </a:schemeClr>
        </a:solidFill>
        <a:ln w="34925" cap="flat" cmpd="sng" algn="in">
          <a:solidFill>
            <a:schemeClr val="accent2">
              <a:hueOff val="-55218"/>
              <a:satOff val="-18112"/>
              <a:lumOff val="-660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en-US" sz="2300" b="1" kern="1200" dirty="0">
              <a:solidFill>
                <a:schemeClr val="tx1"/>
              </a:solidFill>
            </a:rPr>
            <a:t>Muscarinic - M</a:t>
          </a:r>
          <a:r>
            <a:rPr lang="en-US" sz="2300" b="1" kern="1200" baseline="-25000" dirty="0">
              <a:solidFill>
                <a:schemeClr val="tx1"/>
              </a:solidFill>
            </a:rPr>
            <a:t>1</a:t>
          </a:r>
          <a:r>
            <a:rPr lang="en-US" sz="2300" b="1" kern="1200" dirty="0">
              <a:solidFill>
                <a:schemeClr val="tx1"/>
              </a:solidFill>
            </a:rPr>
            <a:t> receptor antagonism</a:t>
          </a:r>
          <a:endParaRPr lang="en-US" sz="2300" kern="1200" dirty="0">
            <a:solidFill>
              <a:schemeClr val="tx1"/>
            </a:solidFill>
          </a:endParaRPr>
        </a:p>
      </dsp:txBody>
      <dsp:txXfrm>
        <a:off x="55373" y="1247200"/>
        <a:ext cx="1949702" cy="1078746"/>
      </dsp:txXfrm>
    </dsp:sp>
    <dsp:sp modelId="{235F4028-05E8-432E-BA69-B5B429D06EF8}">
      <dsp:nvSpPr>
        <dsp:cNvPr id="0" name=""/>
        <dsp:cNvSpPr/>
      </dsp:nvSpPr>
      <dsp:spPr>
        <a:xfrm>
          <a:off x="2060448" y="2382653"/>
          <a:ext cx="5864352" cy="1134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lvl="0" algn="l" defTabSz="1066800">
            <a:lnSpc>
              <a:spcPct val="90000"/>
            </a:lnSpc>
            <a:spcBef>
              <a:spcPct val="0"/>
            </a:spcBef>
            <a:spcAft>
              <a:spcPct val="35000"/>
            </a:spcAft>
          </a:pPr>
          <a:r>
            <a:rPr lang="en-US" sz="2400" kern="1200" dirty="0"/>
            <a:t>Sedation, weight gain</a:t>
          </a:r>
        </a:p>
      </dsp:txBody>
      <dsp:txXfrm>
        <a:off x="2060448" y="2382653"/>
        <a:ext cx="5864352" cy="1134119"/>
      </dsp:txXfrm>
    </dsp:sp>
    <dsp:sp modelId="{ACA90746-B35A-4D55-AC23-F323B20CB9BF}">
      <dsp:nvSpPr>
        <dsp:cNvPr id="0" name=""/>
        <dsp:cNvSpPr/>
      </dsp:nvSpPr>
      <dsp:spPr>
        <a:xfrm>
          <a:off x="0" y="2382653"/>
          <a:ext cx="2060448" cy="1134119"/>
        </a:xfrm>
        <a:prstGeom prst="round2SameRect">
          <a:avLst>
            <a:gd name="adj1" fmla="val 16670"/>
            <a:gd name="adj2" fmla="val 0"/>
          </a:avLst>
        </a:prstGeom>
        <a:solidFill>
          <a:schemeClr val="accent2">
            <a:hueOff val="-110436"/>
            <a:satOff val="-36223"/>
            <a:lumOff val="-13202"/>
            <a:alphaOff val="0"/>
          </a:schemeClr>
        </a:solidFill>
        <a:ln w="34925" cap="flat" cmpd="sng" algn="in">
          <a:solidFill>
            <a:schemeClr val="accent2">
              <a:hueOff val="-110436"/>
              <a:satOff val="-36223"/>
              <a:lumOff val="-1320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en-US" sz="2300" b="1" kern="1200" dirty="0">
              <a:solidFill>
                <a:schemeClr val="tx1"/>
              </a:solidFill>
            </a:rPr>
            <a:t>Histaminic - H</a:t>
          </a:r>
          <a:r>
            <a:rPr lang="en-US" sz="2300" b="1" kern="1200" baseline="-25000" dirty="0">
              <a:solidFill>
                <a:schemeClr val="tx1"/>
              </a:solidFill>
            </a:rPr>
            <a:t>1</a:t>
          </a:r>
          <a:r>
            <a:rPr lang="en-US" sz="2300" b="1" kern="1200" dirty="0">
              <a:solidFill>
                <a:schemeClr val="tx1"/>
              </a:solidFill>
            </a:rPr>
            <a:t> receptor antagonism</a:t>
          </a:r>
          <a:endParaRPr lang="en-US" sz="2300" kern="1200" dirty="0">
            <a:solidFill>
              <a:schemeClr val="tx1"/>
            </a:solidFill>
          </a:endParaRPr>
        </a:p>
      </dsp:txBody>
      <dsp:txXfrm>
        <a:off x="55373" y="2438026"/>
        <a:ext cx="1949702" cy="1078746"/>
      </dsp:txXfrm>
    </dsp:sp>
    <dsp:sp modelId="{F2EA3526-F163-4491-AF62-20057482B768}">
      <dsp:nvSpPr>
        <dsp:cNvPr id="0" name=""/>
        <dsp:cNvSpPr/>
      </dsp:nvSpPr>
      <dsp:spPr>
        <a:xfrm>
          <a:off x="2060448" y="3573479"/>
          <a:ext cx="5864352" cy="1134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lvl="0" algn="l" defTabSz="1066800">
            <a:lnSpc>
              <a:spcPct val="90000"/>
            </a:lnSpc>
            <a:spcBef>
              <a:spcPct val="0"/>
            </a:spcBef>
            <a:spcAft>
              <a:spcPct val="35000"/>
            </a:spcAft>
          </a:pPr>
          <a:r>
            <a:rPr lang="en-US" sz="2400" kern="1200" dirty="0"/>
            <a:t>Syncope, reflex tachycardia </a:t>
          </a:r>
          <a:endParaRPr lang="en-US" sz="2400" b="1" kern="1200" dirty="0"/>
        </a:p>
      </dsp:txBody>
      <dsp:txXfrm>
        <a:off x="2060448" y="3573479"/>
        <a:ext cx="5864352" cy="1134119"/>
      </dsp:txXfrm>
    </dsp:sp>
    <dsp:sp modelId="{A026E8BA-132E-4BCA-8A6F-1A5A71EA491F}">
      <dsp:nvSpPr>
        <dsp:cNvPr id="0" name=""/>
        <dsp:cNvSpPr/>
      </dsp:nvSpPr>
      <dsp:spPr>
        <a:xfrm>
          <a:off x="0" y="3573479"/>
          <a:ext cx="2060448" cy="1134119"/>
        </a:xfrm>
        <a:prstGeom prst="round2SameRect">
          <a:avLst>
            <a:gd name="adj1" fmla="val 16670"/>
            <a:gd name="adj2" fmla="val 0"/>
          </a:avLst>
        </a:prstGeom>
        <a:solidFill>
          <a:schemeClr val="accent2">
            <a:hueOff val="-165654"/>
            <a:satOff val="-54335"/>
            <a:lumOff val="-19803"/>
            <a:alphaOff val="0"/>
          </a:schemeClr>
        </a:solidFill>
        <a:ln w="34925" cap="flat" cmpd="sng" algn="in">
          <a:solidFill>
            <a:schemeClr val="accent2">
              <a:hueOff val="-165654"/>
              <a:satOff val="-54335"/>
              <a:lumOff val="-1980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en-US" sz="2300" b="1" kern="1200" dirty="0">
              <a:solidFill>
                <a:schemeClr val="tx1"/>
              </a:solidFill>
            </a:rPr>
            <a:t>Alpha</a:t>
          </a:r>
          <a:r>
            <a:rPr lang="en-US" sz="2300" b="1" kern="1200" baseline="-25000" dirty="0">
              <a:solidFill>
                <a:schemeClr val="tx1"/>
              </a:solidFill>
            </a:rPr>
            <a:t>1</a:t>
          </a:r>
          <a:r>
            <a:rPr lang="en-US" sz="2300" b="1" kern="1200" dirty="0">
              <a:solidFill>
                <a:schemeClr val="tx1"/>
              </a:solidFill>
            </a:rPr>
            <a:t> receptor antagonism</a:t>
          </a:r>
        </a:p>
      </dsp:txBody>
      <dsp:txXfrm>
        <a:off x="55373" y="3628852"/>
        <a:ext cx="1949702" cy="10787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AA7488-97EB-4005-A143-18171B5ADB63}">
      <dsp:nvSpPr>
        <dsp:cNvPr id="0" name=""/>
        <dsp:cNvSpPr/>
      </dsp:nvSpPr>
      <dsp:spPr>
        <a:xfrm>
          <a:off x="12411" y="378407"/>
          <a:ext cx="4254793" cy="1400466"/>
        </a:xfrm>
        <a:prstGeom prst="rect">
          <a:avLst/>
        </a:prstGeom>
        <a:solidFill>
          <a:schemeClr val="accent2">
            <a:hueOff val="0"/>
            <a:satOff val="0"/>
            <a:lumOff val="0"/>
            <a:alphaOff val="0"/>
          </a:schemeClr>
        </a:solidFill>
        <a:ln w="34925"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en-US" sz="3200" b="1" kern="1200" dirty="0">
              <a:solidFill>
                <a:schemeClr val="tx1"/>
              </a:solidFill>
            </a:rPr>
            <a:t>High Potency</a:t>
          </a:r>
        </a:p>
      </dsp:txBody>
      <dsp:txXfrm>
        <a:off x="12411" y="378407"/>
        <a:ext cx="4254793" cy="1400466"/>
      </dsp:txXfrm>
    </dsp:sp>
    <dsp:sp modelId="{31DBE16D-88FB-4A0C-A331-5A3AEDA1C0C2}">
      <dsp:nvSpPr>
        <dsp:cNvPr id="0" name=""/>
        <dsp:cNvSpPr/>
      </dsp:nvSpPr>
      <dsp:spPr>
        <a:xfrm>
          <a:off x="0" y="1796479"/>
          <a:ext cx="4278741" cy="2944012"/>
        </a:xfrm>
        <a:prstGeom prst="rect">
          <a:avLst/>
        </a:prstGeom>
        <a:solidFill>
          <a:schemeClr val="accent2">
            <a:tint val="40000"/>
            <a:alpha val="90000"/>
            <a:hueOff val="0"/>
            <a:satOff val="0"/>
            <a:lumOff val="0"/>
            <a:alphaOff val="0"/>
          </a:schemeClr>
        </a:solidFill>
        <a:ln w="34925" cap="flat" cmpd="sng" algn="in">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Haloperidol (Haldol</a:t>
          </a:r>
          <a:r>
            <a:rPr lang="en-US" sz="2400" kern="1200" baseline="30000" dirty="0"/>
            <a:t>®</a:t>
          </a:r>
          <a:r>
            <a:rPr lang="en-US" sz="2400" kern="1200" dirty="0"/>
            <a:t>)</a:t>
          </a:r>
        </a:p>
        <a:p>
          <a:pPr marL="228600" lvl="1" indent="-228600" algn="l" defTabSz="1066800">
            <a:lnSpc>
              <a:spcPct val="90000"/>
            </a:lnSpc>
            <a:spcBef>
              <a:spcPct val="0"/>
            </a:spcBef>
            <a:spcAft>
              <a:spcPct val="15000"/>
            </a:spcAft>
            <a:buChar char="••"/>
          </a:pPr>
          <a:r>
            <a:rPr lang="en-US" sz="2400" kern="1200" dirty="0" err="1"/>
            <a:t>Fluphenazine</a:t>
          </a:r>
          <a:r>
            <a:rPr lang="en-US" sz="2400" kern="1200" dirty="0"/>
            <a:t> (</a:t>
          </a:r>
          <a:r>
            <a:rPr lang="en-US" sz="2400" kern="1200" dirty="0" err="1"/>
            <a:t>Prolixin</a:t>
          </a:r>
          <a:r>
            <a:rPr lang="en-US" sz="2400" kern="1200" baseline="30000" dirty="0"/>
            <a:t>®</a:t>
          </a:r>
          <a:r>
            <a:rPr lang="en-US" sz="2400" kern="1200" dirty="0"/>
            <a:t>)</a:t>
          </a:r>
        </a:p>
        <a:p>
          <a:pPr marL="228600" lvl="1" indent="-228600" algn="l" defTabSz="1066800">
            <a:lnSpc>
              <a:spcPct val="90000"/>
            </a:lnSpc>
            <a:spcBef>
              <a:spcPct val="0"/>
            </a:spcBef>
            <a:spcAft>
              <a:spcPct val="15000"/>
            </a:spcAft>
            <a:buChar char="••"/>
          </a:pPr>
          <a:r>
            <a:rPr lang="en-US" sz="2400" kern="1200" dirty="0" err="1"/>
            <a:t>Trifluoperazine</a:t>
          </a:r>
          <a:r>
            <a:rPr lang="en-US" sz="2400" kern="1200" dirty="0"/>
            <a:t> (</a:t>
          </a:r>
          <a:r>
            <a:rPr lang="en-US" sz="2400" kern="1200" dirty="0" err="1"/>
            <a:t>Stelazine</a:t>
          </a:r>
          <a:r>
            <a:rPr lang="en-US" sz="2400" kern="1200" baseline="30000" dirty="0"/>
            <a:t>®</a:t>
          </a:r>
          <a:r>
            <a:rPr lang="en-US" sz="2400" kern="1200" dirty="0"/>
            <a:t>)</a:t>
          </a:r>
        </a:p>
        <a:p>
          <a:pPr marL="228600" lvl="1" indent="-228600" algn="l" defTabSz="1066800">
            <a:lnSpc>
              <a:spcPct val="90000"/>
            </a:lnSpc>
            <a:spcBef>
              <a:spcPct val="0"/>
            </a:spcBef>
            <a:spcAft>
              <a:spcPct val="15000"/>
            </a:spcAft>
            <a:buChar char="••"/>
          </a:pPr>
          <a:r>
            <a:rPr lang="en-US" sz="2400" kern="1200" dirty="0"/>
            <a:t>Thiothixene (</a:t>
          </a:r>
          <a:r>
            <a:rPr lang="en-US" sz="2400" kern="1200" dirty="0" err="1"/>
            <a:t>Navane</a:t>
          </a:r>
          <a:r>
            <a:rPr lang="en-US" sz="2400" kern="1200" baseline="30000" dirty="0"/>
            <a:t>®</a:t>
          </a:r>
          <a:r>
            <a:rPr lang="en-US" sz="2400" kern="1200" dirty="0"/>
            <a:t>)</a:t>
          </a:r>
          <a:endParaRPr lang="en-US" sz="2400" kern="1200" dirty="0">
            <a:solidFill>
              <a:schemeClr val="tx1"/>
            </a:solidFill>
          </a:endParaRPr>
        </a:p>
        <a:p>
          <a:pPr marL="228600" lvl="1" indent="-228600" algn="l" defTabSz="1066800">
            <a:lnSpc>
              <a:spcPct val="90000"/>
            </a:lnSpc>
            <a:spcBef>
              <a:spcPct val="0"/>
            </a:spcBef>
            <a:spcAft>
              <a:spcPct val="15000"/>
            </a:spcAft>
            <a:buChar char="••"/>
          </a:pPr>
          <a:r>
            <a:rPr lang="en-US" sz="2400" kern="1200" dirty="0" err="1"/>
            <a:t>Loxapine</a:t>
          </a:r>
          <a:r>
            <a:rPr lang="en-US" sz="2400" kern="1200" dirty="0"/>
            <a:t> (</a:t>
          </a:r>
          <a:r>
            <a:rPr lang="en-US" sz="2400" kern="1200" dirty="0" err="1"/>
            <a:t>Loxitane</a:t>
          </a:r>
          <a:r>
            <a:rPr lang="en-US" sz="2400" kern="1200" baseline="30000" dirty="0"/>
            <a:t>®</a:t>
          </a:r>
          <a:r>
            <a:rPr lang="en-US" sz="2400" kern="1200" dirty="0"/>
            <a:t>)</a:t>
          </a:r>
          <a:r>
            <a:rPr lang="en-US" sz="2400" kern="1200" dirty="0">
              <a:solidFill>
                <a:schemeClr val="tx1"/>
              </a:solidFill>
            </a:rPr>
            <a:t>**</a:t>
          </a:r>
        </a:p>
        <a:p>
          <a:pPr marL="228600" lvl="1" indent="-228600" algn="l" defTabSz="1066800">
            <a:lnSpc>
              <a:spcPct val="90000"/>
            </a:lnSpc>
            <a:spcBef>
              <a:spcPct val="0"/>
            </a:spcBef>
            <a:spcAft>
              <a:spcPct val="15000"/>
            </a:spcAft>
            <a:buChar char="••"/>
          </a:pPr>
          <a:r>
            <a:rPr lang="en-US" sz="2400" kern="1200" dirty="0"/>
            <a:t>Perphenazine (</a:t>
          </a:r>
          <a:r>
            <a:rPr lang="en-US" sz="2400" kern="1200" dirty="0" err="1"/>
            <a:t>Trilafon</a:t>
          </a:r>
          <a:r>
            <a:rPr lang="en-US" sz="2400" kern="1200" baseline="30000" dirty="0"/>
            <a:t>®</a:t>
          </a:r>
          <a:r>
            <a:rPr lang="en-US" sz="2400" kern="1200" dirty="0"/>
            <a:t>)</a:t>
          </a:r>
          <a:r>
            <a:rPr lang="en-US" sz="2400" kern="1200" dirty="0">
              <a:solidFill>
                <a:schemeClr val="tx1"/>
              </a:solidFill>
            </a:rPr>
            <a:t>**</a:t>
          </a:r>
        </a:p>
      </dsp:txBody>
      <dsp:txXfrm>
        <a:off x="0" y="1796479"/>
        <a:ext cx="4278741" cy="2944012"/>
      </dsp:txXfrm>
    </dsp:sp>
    <dsp:sp modelId="{10658675-0F8A-4DBF-8FB7-556A86BA1218}">
      <dsp:nvSpPr>
        <dsp:cNvPr id="0" name=""/>
        <dsp:cNvSpPr/>
      </dsp:nvSpPr>
      <dsp:spPr>
        <a:xfrm>
          <a:off x="4780632" y="378407"/>
          <a:ext cx="3665057" cy="1400466"/>
        </a:xfrm>
        <a:prstGeom prst="rect">
          <a:avLst/>
        </a:prstGeom>
        <a:solidFill>
          <a:schemeClr val="accent2">
            <a:hueOff val="-165654"/>
            <a:satOff val="-54335"/>
            <a:lumOff val="-19803"/>
            <a:alphaOff val="0"/>
          </a:schemeClr>
        </a:solidFill>
        <a:ln w="34925" cap="flat" cmpd="sng" algn="in">
          <a:solidFill>
            <a:schemeClr val="accent2">
              <a:hueOff val="-165654"/>
              <a:satOff val="-54335"/>
              <a:lumOff val="-1980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en-US" sz="3200" b="1" kern="1200" dirty="0">
              <a:solidFill>
                <a:schemeClr val="tx1"/>
              </a:solidFill>
            </a:rPr>
            <a:t>Low Potency</a:t>
          </a:r>
        </a:p>
      </dsp:txBody>
      <dsp:txXfrm>
        <a:off x="4780632" y="378407"/>
        <a:ext cx="3665057" cy="1400466"/>
      </dsp:txXfrm>
    </dsp:sp>
    <dsp:sp modelId="{15674E6C-E48A-41EC-8BAD-150E2821539E}">
      <dsp:nvSpPr>
        <dsp:cNvPr id="0" name=""/>
        <dsp:cNvSpPr/>
      </dsp:nvSpPr>
      <dsp:spPr>
        <a:xfrm>
          <a:off x="4769779" y="1778874"/>
          <a:ext cx="3675910" cy="2944012"/>
        </a:xfrm>
        <a:prstGeom prst="rect">
          <a:avLst/>
        </a:prstGeom>
        <a:solidFill>
          <a:schemeClr val="accent2">
            <a:tint val="40000"/>
            <a:alpha val="90000"/>
            <a:hueOff val="-35823"/>
            <a:satOff val="-54667"/>
            <a:lumOff val="-5646"/>
            <a:alphaOff val="0"/>
          </a:schemeClr>
        </a:solidFill>
        <a:ln w="34925" cap="flat" cmpd="sng" algn="in">
          <a:solidFill>
            <a:schemeClr val="accent2">
              <a:tint val="40000"/>
              <a:alpha val="90000"/>
              <a:hueOff val="-35823"/>
              <a:satOff val="-54667"/>
              <a:lumOff val="-564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err="1"/>
            <a:t>Thioridazine</a:t>
          </a:r>
          <a:r>
            <a:rPr lang="en-US" sz="2400" kern="1200" dirty="0"/>
            <a:t> (</a:t>
          </a:r>
          <a:r>
            <a:rPr lang="en-US" sz="2400" kern="1200" dirty="0" err="1"/>
            <a:t>Mellaril</a:t>
          </a:r>
          <a:r>
            <a:rPr lang="en-US" sz="2400" kern="1200" baseline="30000" dirty="0"/>
            <a:t>®</a:t>
          </a:r>
          <a:r>
            <a:rPr lang="en-US" sz="2400" kern="1200" dirty="0"/>
            <a:t>)</a:t>
          </a:r>
          <a:endParaRPr lang="en-US" sz="2400" strike="noStrike" kern="1200" dirty="0"/>
        </a:p>
        <a:p>
          <a:pPr marL="228600" lvl="1" indent="-228600" algn="l" defTabSz="1066800">
            <a:lnSpc>
              <a:spcPct val="90000"/>
            </a:lnSpc>
            <a:spcBef>
              <a:spcPct val="0"/>
            </a:spcBef>
            <a:spcAft>
              <a:spcPct val="15000"/>
            </a:spcAft>
            <a:buChar char="••"/>
          </a:pPr>
          <a:r>
            <a:rPr lang="en-US" sz="2400" kern="1200" dirty="0"/>
            <a:t>Chlorpromazine (</a:t>
          </a:r>
          <a:r>
            <a:rPr lang="en-US" sz="2400" kern="1200" dirty="0" err="1"/>
            <a:t>Thorazine</a:t>
          </a:r>
          <a:r>
            <a:rPr lang="en-US" sz="2400" kern="1200" baseline="30000" dirty="0"/>
            <a:t>®</a:t>
          </a:r>
          <a:r>
            <a:rPr lang="en-US" sz="2400" kern="1200" dirty="0"/>
            <a:t>)</a:t>
          </a:r>
        </a:p>
      </dsp:txBody>
      <dsp:txXfrm>
        <a:off x="4769779" y="1778874"/>
        <a:ext cx="3675910" cy="29440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34716A-190B-4898-A4BF-1ED2816080E1}">
      <dsp:nvSpPr>
        <dsp:cNvPr id="0" name=""/>
        <dsp:cNvSpPr/>
      </dsp:nvSpPr>
      <dsp:spPr>
        <a:xfrm>
          <a:off x="0" y="0"/>
          <a:ext cx="6760931" cy="891530"/>
        </a:xfrm>
        <a:prstGeom prst="roundRect">
          <a:avLst>
            <a:gd name="adj" fmla="val 10000"/>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solidFill>
                <a:schemeClr val="tx1"/>
              </a:solidFill>
              <a:latin typeface="Franklin Gothic Medium" panose="020B0603020102020204" pitchFamily="34" charset="0"/>
            </a:rPr>
            <a:t>Similar to 1</a:t>
          </a:r>
          <a:r>
            <a:rPr lang="en-US" sz="2100" kern="1200" baseline="30000" dirty="0">
              <a:solidFill>
                <a:schemeClr val="tx1"/>
              </a:solidFill>
              <a:latin typeface="Franklin Gothic Medium" panose="020B0603020102020204" pitchFamily="34" charset="0"/>
            </a:rPr>
            <a:t>st</a:t>
          </a:r>
          <a:r>
            <a:rPr lang="en-US" sz="2100" kern="1200" dirty="0">
              <a:solidFill>
                <a:schemeClr val="tx1"/>
              </a:solidFill>
              <a:latin typeface="Franklin Gothic Medium" panose="020B0603020102020204" pitchFamily="34" charset="0"/>
            </a:rPr>
            <a:t> generation antipsychotics, with key differences that may define “atypical”</a:t>
          </a:r>
        </a:p>
      </dsp:txBody>
      <dsp:txXfrm>
        <a:off x="26112" y="26112"/>
        <a:ext cx="5332318" cy="839306"/>
      </dsp:txXfrm>
    </dsp:sp>
    <dsp:sp modelId="{1A742BA4-BB68-4252-8624-99FD74611313}">
      <dsp:nvSpPr>
        <dsp:cNvPr id="0" name=""/>
        <dsp:cNvSpPr/>
      </dsp:nvSpPr>
      <dsp:spPr>
        <a:xfrm>
          <a:off x="407855" y="1349726"/>
          <a:ext cx="6760931" cy="1419751"/>
        </a:xfrm>
        <a:prstGeom prst="roundRect">
          <a:avLst>
            <a:gd name="adj" fmla="val 10000"/>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solidFill>
                <a:schemeClr val="tx1"/>
              </a:solidFill>
              <a:latin typeface="Franklin Gothic Medium" panose="020B0603020102020204" pitchFamily="34" charset="0"/>
            </a:rPr>
            <a:t>↑ D</a:t>
          </a:r>
          <a:r>
            <a:rPr lang="en-US" sz="2100" kern="1200" baseline="-25000" dirty="0">
              <a:solidFill>
                <a:schemeClr val="tx1"/>
              </a:solidFill>
              <a:latin typeface="Franklin Gothic Medium" panose="020B0603020102020204" pitchFamily="34" charset="0"/>
            </a:rPr>
            <a:t>2</a:t>
          </a:r>
          <a:r>
            <a:rPr lang="en-US" sz="2100" kern="1200" dirty="0">
              <a:solidFill>
                <a:schemeClr val="tx1"/>
              </a:solidFill>
              <a:latin typeface="Franklin Gothic Medium" panose="020B0603020102020204" pitchFamily="34" charset="0"/>
            </a:rPr>
            <a:t> antagonist receptor dissociation or </a:t>
          </a:r>
        </a:p>
        <a:p>
          <a:pPr lvl="0" algn="l" defTabSz="933450">
            <a:lnSpc>
              <a:spcPct val="90000"/>
            </a:lnSpc>
            <a:spcBef>
              <a:spcPct val="0"/>
            </a:spcBef>
            <a:spcAft>
              <a:spcPct val="35000"/>
            </a:spcAft>
          </a:pPr>
          <a:r>
            <a:rPr lang="en-US" sz="2100" kern="1200" baseline="0" dirty="0">
              <a:solidFill>
                <a:schemeClr val="tx1"/>
              </a:solidFill>
              <a:latin typeface="Franklin Gothic Medium" panose="020B0603020102020204" pitchFamily="34" charset="0"/>
            </a:rPr>
            <a:t>D</a:t>
          </a:r>
          <a:r>
            <a:rPr lang="en-US" sz="2100" kern="1200" baseline="-25000" dirty="0">
              <a:solidFill>
                <a:schemeClr val="tx1"/>
              </a:solidFill>
              <a:latin typeface="Franklin Gothic Medium" panose="020B0603020102020204" pitchFamily="34" charset="0"/>
            </a:rPr>
            <a:t>2</a:t>
          </a:r>
          <a:r>
            <a:rPr lang="en-US" sz="2100" kern="1200" baseline="0" dirty="0">
              <a:solidFill>
                <a:schemeClr val="tx1"/>
              </a:solidFill>
              <a:latin typeface="Franklin Gothic Medium" panose="020B0603020102020204" pitchFamily="34" charset="0"/>
            </a:rPr>
            <a:t> partial agonist  mechanism </a:t>
          </a:r>
        </a:p>
      </dsp:txBody>
      <dsp:txXfrm>
        <a:off x="449438" y="1391309"/>
        <a:ext cx="5204531" cy="1336585"/>
      </dsp:txXfrm>
    </dsp:sp>
    <dsp:sp modelId="{3EEE2799-9FFE-4627-9241-4DBDE4AA6479}">
      <dsp:nvSpPr>
        <dsp:cNvPr id="0" name=""/>
        <dsp:cNvSpPr/>
      </dsp:nvSpPr>
      <dsp:spPr>
        <a:xfrm>
          <a:off x="1193105" y="3178526"/>
          <a:ext cx="6760931" cy="1285807"/>
        </a:xfrm>
        <a:prstGeom prst="roundRect">
          <a:avLst>
            <a:gd name="adj" fmla="val 10000"/>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solidFill>
                <a:schemeClr val="tx1"/>
              </a:solidFill>
              <a:latin typeface="Franklin Gothic Medium" panose="020B0603020102020204" pitchFamily="34" charset="0"/>
            </a:rPr>
            <a:t>5HT</a:t>
          </a:r>
          <a:r>
            <a:rPr lang="en-US" sz="2100" kern="1200" baseline="-25000" dirty="0">
              <a:solidFill>
                <a:schemeClr val="tx1"/>
              </a:solidFill>
              <a:latin typeface="Franklin Gothic Medium" panose="020B0603020102020204" pitchFamily="34" charset="0"/>
            </a:rPr>
            <a:t>2a </a:t>
          </a:r>
          <a:r>
            <a:rPr lang="en-US" sz="2100" kern="1200" dirty="0">
              <a:solidFill>
                <a:schemeClr val="tx1"/>
              </a:solidFill>
              <a:latin typeface="Franklin Gothic Medium" panose="020B0603020102020204" pitchFamily="34" charset="0"/>
            </a:rPr>
            <a:t>antagonism= ↓ movement disorders</a:t>
          </a:r>
        </a:p>
        <a:p>
          <a:pPr lvl="0" algn="l" defTabSz="933450">
            <a:lnSpc>
              <a:spcPct val="90000"/>
            </a:lnSpc>
            <a:spcBef>
              <a:spcPct val="0"/>
            </a:spcBef>
            <a:spcAft>
              <a:spcPct val="35000"/>
            </a:spcAft>
          </a:pPr>
          <a:r>
            <a:rPr lang="en-US" sz="2100" kern="1200" dirty="0">
              <a:solidFill>
                <a:schemeClr val="tx1"/>
              </a:solidFill>
              <a:latin typeface="Franklin Gothic Medium" panose="020B0603020102020204" pitchFamily="34" charset="0"/>
            </a:rPr>
            <a:t>+/- 5HT</a:t>
          </a:r>
          <a:r>
            <a:rPr lang="en-US" sz="2100" kern="1200" baseline="-25000" dirty="0">
              <a:solidFill>
                <a:schemeClr val="tx1"/>
              </a:solidFill>
              <a:latin typeface="Franklin Gothic Medium" panose="020B0603020102020204" pitchFamily="34" charset="0"/>
            </a:rPr>
            <a:t>1a </a:t>
          </a:r>
          <a:r>
            <a:rPr lang="en-US" sz="2100" kern="1200" baseline="0" dirty="0">
              <a:solidFill>
                <a:schemeClr val="tx1"/>
              </a:solidFill>
              <a:latin typeface="Franklin Gothic Medium" panose="020B0603020102020204" pitchFamily="34" charset="0"/>
            </a:rPr>
            <a:t> partial </a:t>
          </a:r>
          <a:r>
            <a:rPr lang="en-US" sz="2100" kern="1200" baseline="0" dirty="0" err="1">
              <a:solidFill>
                <a:schemeClr val="tx1"/>
              </a:solidFill>
              <a:latin typeface="Franklin Gothic Medium" panose="020B0603020102020204" pitchFamily="34" charset="0"/>
            </a:rPr>
            <a:t>agonism</a:t>
          </a:r>
          <a:endParaRPr lang="en-US" sz="2100" kern="1200" dirty="0">
            <a:solidFill>
              <a:schemeClr val="tx1"/>
            </a:solidFill>
            <a:latin typeface="Franklin Gothic Medium" panose="020B0603020102020204" pitchFamily="34" charset="0"/>
          </a:endParaRPr>
        </a:p>
      </dsp:txBody>
      <dsp:txXfrm>
        <a:off x="1230765" y="3216186"/>
        <a:ext cx="5212377" cy="1210487"/>
      </dsp:txXfrm>
    </dsp:sp>
    <dsp:sp modelId="{F47A2F90-8D24-412E-9B3D-64AAC71FCC6B}">
      <dsp:nvSpPr>
        <dsp:cNvPr id="0" name=""/>
        <dsp:cNvSpPr/>
      </dsp:nvSpPr>
      <dsp:spPr>
        <a:xfrm>
          <a:off x="7908318" y="928415"/>
          <a:ext cx="45718" cy="114678"/>
        </a:xfrm>
        <a:prstGeom prst="mathMinus">
          <a:avLst/>
        </a:prstGeom>
        <a:solidFill>
          <a:schemeClr val="bg1">
            <a:lumMod val="50000"/>
          </a:schemeClr>
        </a:solidFill>
        <a:ln w="34925" cap="flat" cmpd="sng" algn="in">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n-US" sz="500" kern="1200" dirty="0"/>
        </a:p>
      </dsp:txBody>
      <dsp:txXfrm>
        <a:off x="7914378" y="972268"/>
        <a:ext cx="33598" cy="26972"/>
      </dsp:txXfrm>
    </dsp:sp>
    <dsp:sp modelId="{D9A85AC9-DC12-451D-B856-113F088B10A9}">
      <dsp:nvSpPr>
        <dsp:cNvPr id="0" name=""/>
        <dsp:cNvSpPr/>
      </dsp:nvSpPr>
      <dsp:spPr>
        <a:xfrm flipV="1">
          <a:off x="7908318" y="928420"/>
          <a:ext cx="45718" cy="45718"/>
        </a:xfrm>
        <a:prstGeom prst="downArrow">
          <a:avLst>
            <a:gd name="adj1" fmla="val 55000"/>
            <a:gd name="adj2" fmla="val 45000"/>
          </a:avLst>
        </a:prstGeom>
        <a:solidFill>
          <a:schemeClr val="bg1">
            <a:lumMod val="50000"/>
          </a:schemeClr>
        </a:solidFill>
        <a:ln w="34925" cap="flat" cmpd="sng" algn="in">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7918605" y="939735"/>
        <a:ext cx="25144" cy="344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4029282" cy="35076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265018" y="0"/>
            <a:ext cx="4029282" cy="350760"/>
          </a:xfrm>
          <a:prstGeom prst="rect">
            <a:avLst/>
          </a:prstGeom>
        </p:spPr>
        <p:txBody>
          <a:bodyPr vert="horz" lIns="91440" tIns="45720" rIns="91440" bIns="45720" rtlCol="0"/>
          <a:lstStyle>
            <a:lvl1pPr algn="r">
              <a:defRPr sz="1200"/>
            </a:lvl1pPr>
          </a:lstStyle>
          <a:p>
            <a:fld id="{4E3B5978-922C-44CF-9292-77142367DBDE}" type="datetimeFigureOut">
              <a:rPr lang="en-US" smtClean="0"/>
              <a:pPr/>
              <a:t>8/27/2020</a:t>
            </a:fld>
            <a:endParaRPr lang="en-US"/>
          </a:p>
        </p:txBody>
      </p:sp>
      <p:sp>
        <p:nvSpPr>
          <p:cNvPr id="4" name="Footer Placeholder 3"/>
          <p:cNvSpPr>
            <a:spLocks noGrp="1"/>
          </p:cNvSpPr>
          <p:nvPr>
            <p:ph type="ftr" sz="quarter" idx="2"/>
          </p:nvPr>
        </p:nvSpPr>
        <p:spPr>
          <a:xfrm>
            <a:off x="3" y="6658443"/>
            <a:ext cx="4029282" cy="35076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265018" y="6658443"/>
            <a:ext cx="4029282" cy="350760"/>
          </a:xfrm>
          <a:prstGeom prst="rect">
            <a:avLst/>
          </a:prstGeom>
        </p:spPr>
        <p:txBody>
          <a:bodyPr vert="horz" lIns="91440" tIns="45720" rIns="91440" bIns="45720" rtlCol="0" anchor="b"/>
          <a:lstStyle>
            <a:lvl1pPr algn="r">
              <a:defRPr sz="1200"/>
            </a:lvl1pPr>
          </a:lstStyle>
          <a:p>
            <a:fld id="{96B049AF-2962-4929-B5D4-59040E51E6A6}" type="slidenum">
              <a:rPr lang="en-US" smtClean="0"/>
              <a:pPr/>
              <a:t>‹#›</a:t>
            </a:fld>
            <a:endParaRPr lang="en-US"/>
          </a:p>
        </p:txBody>
      </p:sp>
    </p:spTree>
    <p:extLst>
      <p:ext uri="{BB962C8B-B14F-4D97-AF65-F5344CB8AC3E}">
        <p14:creationId xmlns:p14="http://schemas.microsoft.com/office/powerpoint/2010/main" val="34169144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5809" y="0"/>
            <a:ext cx="4028440" cy="350520"/>
          </a:xfrm>
          <a:prstGeom prst="rect">
            <a:avLst/>
          </a:prstGeom>
        </p:spPr>
        <p:txBody>
          <a:bodyPr vert="horz" lIns="93177" tIns="46589" rIns="93177" bIns="46589" rtlCol="0"/>
          <a:lstStyle>
            <a:lvl1pPr algn="r">
              <a:defRPr sz="1200"/>
            </a:lvl1pPr>
          </a:lstStyle>
          <a:p>
            <a:fld id="{D74C2ADE-BCC1-48F0-8DB9-366409C9BB9F}" type="datetimeFigureOut">
              <a:rPr lang="en-US" smtClean="0"/>
              <a:pPr/>
              <a:t>8/27/2020</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29940"/>
            <a:ext cx="7437120" cy="31546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658664"/>
            <a:ext cx="4028440" cy="350520"/>
          </a:xfrm>
          <a:prstGeom prst="rect">
            <a:avLst/>
          </a:prstGeom>
        </p:spPr>
        <p:txBody>
          <a:bodyPr vert="horz" lIns="93177" tIns="46589" rIns="93177" bIns="46589" rtlCol="0" anchor="b"/>
          <a:lstStyle>
            <a:lvl1pPr algn="r">
              <a:defRPr sz="1200"/>
            </a:lvl1pPr>
          </a:lstStyle>
          <a:p>
            <a:fld id="{748ABB82-441F-4DCE-AF4C-B0D62B3B59E5}" type="slidenum">
              <a:rPr lang="en-US" smtClean="0"/>
              <a:pPr/>
              <a:t>‹#›</a:t>
            </a:fld>
            <a:endParaRPr lang="en-US"/>
          </a:p>
        </p:txBody>
      </p:sp>
    </p:spTree>
    <p:extLst>
      <p:ext uri="{BB962C8B-B14F-4D97-AF65-F5344CB8AC3E}">
        <p14:creationId xmlns:p14="http://schemas.microsoft.com/office/powerpoint/2010/main" val="3417432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1</a:t>
            </a:fld>
            <a:endParaRPr lang="en-US"/>
          </a:p>
        </p:txBody>
      </p:sp>
    </p:spTree>
    <p:extLst>
      <p:ext uri="{BB962C8B-B14F-4D97-AF65-F5344CB8AC3E}">
        <p14:creationId xmlns:p14="http://schemas.microsoft.com/office/powerpoint/2010/main" val="2990207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Occurs more often in men than women, 1.4:1 ratio</a:t>
            </a:r>
          </a:p>
          <a:p>
            <a:r>
              <a:rPr lang="en-US" baseline="0" dirty="0"/>
              <a:t>Often occurs in early 20s—1</a:t>
            </a:r>
            <a:r>
              <a:rPr lang="en-US" baseline="30000" dirty="0"/>
              <a:t>st</a:t>
            </a:r>
            <a:r>
              <a:rPr lang="en-US" baseline="0" dirty="0"/>
              <a:t> break </a:t>
            </a:r>
          </a:p>
          <a:p>
            <a:r>
              <a:rPr lang="en-US" baseline="0" dirty="0" err="1"/>
              <a:t>Pple</a:t>
            </a:r>
            <a:r>
              <a:rPr lang="en-US" baseline="0" dirty="0"/>
              <a:t> with schizophrenia have ~25% reduction in life expectancy </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a:t>
            </a:fld>
            <a:endParaRPr lang="en-US"/>
          </a:p>
        </p:txBody>
      </p:sp>
    </p:spTree>
    <p:extLst>
      <p:ext uri="{BB962C8B-B14F-4D97-AF65-F5344CB8AC3E}">
        <p14:creationId xmlns:p14="http://schemas.microsoft.com/office/powerpoint/2010/main" val="3667912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b="1" baseline="0" dirty="0"/>
              <a:t>WHY DO WE CALL IT POSITIVE SYMPTOMS??—things that are present that should not be </a:t>
            </a:r>
          </a:p>
          <a:p>
            <a:endParaRPr lang="en-US" baseline="0" dirty="0"/>
          </a:p>
          <a:p>
            <a:r>
              <a:rPr lang="en-US" baseline="0" dirty="0"/>
              <a:t>Delusions: fixed false beliefs—misinterpretation of perceptions/experiences.  Keep in mind what are their cultural/religious beliefs—may not be that abnormal. Must be inappropriate for environment/beliefs </a:t>
            </a:r>
          </a:p>
          <a:p>
            <a:r>
              <a:rPr lang="en-US" baseline="0" dirty="0"/>
              <a:t>	--example: “god is speaking to me” may be a true belief in one’s religion </a:t>
            </a:r>
          </a:p>
          <a:p>
            <a:endParaRPr lang="en-US" baseline="0" dirty="0"/>
          </a:p>
          <a:p>
            <a:r>
              <a:rPr lang="en-US" baseline="0" dirty="0"/>
              <a:t>Hallucinations—can occur in any sensory modality but auditory are by far the most common</a:t>
            </a:r>
          </a:p>
          <a:p>
            <a:endParaRPr lang="en-US" baseline="0" dirty="0"/>
          </a:p>
          <a:p>
            <a:r>
              <a:rPr lang="en-US" baseline="0" dirty="0"/>
              <a:t>Can have disorganized speech—like word salad</a:t>
            </a:r>
            <a:endParaRPr lang="en-US" dirty="0"/>
          </a:p>
          <a:p>
            <a:endParaRPr lang="en-US" dirty="0"/>
          </a:p>
          <a:p>
            <a:endParaRPr lang="en-US" dirty="0"/>
          </a:p>
          <a:p>
            <a:r>
              <a:rPr lang="en-US" b="1" dirty="0"/>
              <a:t>WHY DO WE CALL</a:t>
            </a:r>
            <a:r>
              <a:rPr lang="en-US" b="1" baseline="0" dirty="0"/>
              <a:t> IT NEGATIVE SYMPTOMS?    Things that should be there but are not </a:t>
            </a:r>
          </a:p>
          <a:p>
            <a:endParaRPr lang="en-US" baseline="0" dirty="0"/>
          </a:p>
          <a:p>
            <a:r>
              <a:rPr lang="en-US" baseline="0" dirty="0"/>
              <a:t>These negative symptoms effect social and occupational functioning!! Really important. Pt can learn to live with auditory or visual hallucinations, however, this effects their daily life much more! And we do not have meds that adequately treat these symptoms </a:t>
            </a:r>
            <a:endParaRPr lang="en-US" dirty="0"/>
          </a:p>
          <a:p>
            <a:endParaRPr lang="en-US" dirty="0"/>
          </a:p>
          <a:p>
            <a:r>
              <a:rPr lang="en-US" dirty="0"/>
              <a:t>Can be overlooked</a:t>
            </a:r>
            <a:r>
              <a:rPr lang="en-US" baseline="0" dirty="0"/>
              <a:t> unless cognizant of these </a:t>
            </a:r>
          </a:p>
          <a:p>
            <a:r>
              <a:rPr lang="en-US" baseline="0" dirty="0"/>
              <a:t>Also can be present as “prodromal phase” years leading up to first psychotic break ---they can be socially withdrawn, lack spontaneity or drive to undertake or complete everyday tasks, have a blunted affect, unable to experience pleasure, poor rapport with others</a:t>
            </a:r>
          </a:p>
          <a:p>
            <a:endParaRPr lang="en-US" baseline="0" dirty="0"/>
          </a:p>
          <a:p>
            <a:r>
              <a:rPr lang="en-US" b="1" baseline="0" dirty="0" err="1"/>
              <a:t>Alogia</a:t>
            </a:r>
            <a:r>
              <a:rPr lang="en-US" b="1" baseline="0" dirty="0"/>
              <a:t>: </a:t>
            </a:r>
            <a:r>
              <a:rPr lang="en-US" baseline="0" dirty="0"/>
              <a:t>poverty of speech: talks little, uses few words</a:t>
            </a:r>
          </a:p>
          <a:p>
            <a:r>
              <a:rPr lang="en-US" b="1" baseline="0" dirty="0"/>
              <a:t>Blunted affect: </a:t>
            </a:r>
            <a:r>
              <a:rPr lang="en-US" baseline="0" dirty="0"/>
              <a:t>reduced range of emotions—feels “numb or empty inside”</a:t>
            </a:r>
          </a:p>
          <a:p>
            <a:r>
              <a:rPr lang="en-US" b="1" baseline="0" dirty="0" err="1"/>
              <a:t>Asociality</a:t>
            </a:r>
            <a:r>
              <a:rPr lang="en-US" b="1" baseline="0" dirty="0"/>
              <a:t>: </a:t>
            </a:r>
            <a:r>
              <a:rPr lang="en-US" baseline="0" dirty="0"/>
              <a:t>few friends, little sexual interest, little interest in spending time with others</a:t>
            </a:r>
          </a:p>
          <a:p>
            <a:r>
              <a:rPr lang="en-US" b="1" baseline="0" dirty="0" err="1"/>
              <a:t>Anhedoia</a:t>
            </a:r>
            <a:r>
              <a:rPr lang="en-US" b="1" baseline="0" dirty="0"/>
              <a:t>: </a:t>
            </a:r>
            <a:r>
              <a:rPr lang="en-US" baseline="0" dirty="0" err="1"/>
              <a:t>inabilty</a:t>
            </a:r>
            <a:r>
              <a:rPr lang="en-US" baseline="0" dirty="0"/>
              <a:t> to experience pleasure in old activities</a:t>
            </a:r>
          </a:p>
          <a:p>
            <a:r>
              <a:rPr lang="en-US" b="1" baseline="0" dirty="0" err="1"/>
              <a:t>Avolition</a:t>
            </a:r>
            <a:r>
              <a:rPr lang="en-US" b="1" baseline="0" dirty="0"/>
              <a:t>: </a:t>
            </a:r>
            <a:r>
              <a:rPr lang="en-US" baseline="0" dirty="0"/>
              <a:t>reduced desire/motivation to complete tasks---like poor personal hygiene </a:t>
            </a:r>
          </a:p>
          <a:p>
            <a:endParaRPr lang="en-US" dirty="0"/>
          </a:p>
          <a:p>
            <a:endParaRPr lang="en-US" dirty="0"/>
          </a:p>
          <a:p>
            <a:endParaRPr lang="en-US" dirty="0"/>
          </a:p>
          <a:p>
            <a:r>
              <a:rPr lang="en-US" dirty="0"/>
              <a:t>Why is mortality increased in schizophrenia</a:t>
            </a:r>
            <a:r>
              <a:rPr lang="en-US" baseline="0" dirty="0"/>
              <a:t>?? </a:t>
            </a:r>
          </a:p>
          <a:p>
            <a:r>
              <a:rPr lang="en-US" baseline="0" dirty="0">
                <a:sym typeface="Wingdings" panose="05000000000000000000" pitchFamily="2" charset="2"/>
              </a:rPr>
              <a:t>	 Delays in treatment </a:t>
            </a:r>
            <a:r>
              <a:rPr lang="en-US" baseline="0" dirty="0" err="1">
                <a:sym typeface="Wingdings" panose="05000000000000000000" pitchFamily="2" charset="2"/>
              </a:rPr>
              <a:t>initation</a:t>
            </a:r>
            <a:r>
              <a:rPr lang="en-US" baseline="0" dirty="0">
                <a:sym typeface="Wingdings" panose="05000000000000000000" pitchFamily="2" charset="2"/>
              </a:rPr>
              <a:t>: no AP = increased mortality vs. AP treatment</a:t>
            </a:r>
          </a:p>
          <a:p>
            <a:r>
              <a:rPr lang="en-US" baseline="0" dirty="0">
                <a:sym typeface="Wingdings" panose="05000000000000000000" pitchFamily="2" charset="2"/>
              </a:rPr>
              <a:t>	 Negative symptoms, leading to worsening of physical condition, comorbid conditions: </a:t>
            </a:r>
          </a:p>
          <a:p>
            <a:r>
              <a:rPr lang="en-US" baseline="0" dirty="0">
                <a:sym typeface="Wingdings" panose="05000000000000000000" pitchFamily="2" charset="2"/>
              </a:rPr>
              <a:t>		- Patients with schizophrenia die from the same diseases as people in the general population. The number of deaths caused by 		cardiovascular disease, as in the general population, is high and could be reduced by the modification of certain lifestyle factors, 		such as diet and exercise.</a:t>
            </a:r>
          </a:p>
          <a:p>
            <a:r>
              <a:rPr lang="en-US" baseline="0" dirty="0">
                <a:sym typeface="Wingdings" panose="05000000000000000000" pitchFamily="2" charset="2"/>
              </a:rPr>
              <a:t>	 AP-induced side effects? In combination with negative symptoms, possibly</a:t>
            </a:r>
          </a:p>
          <a:p>
            <a:r>
              <a:rPr lang="en-US" baseline="0" dirty="0">
                <a:sym typeface="Wingdings" panose="05000000000000000000" pitchFamily="2" charset="2"/>
              </a:rPr>
              <a:t>	 Suicidality? High risk population </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3</a:t>
            </a:fld>
            <a:endParaRPr lang="en-US"/>
          </a:p>
        </p:txBody>
      </p:sp>
    </p:spTree>
    <p:extLst>
      <p:ext uri="{BB962C8B-B14F-4D97-AF65-F5344CB8AC3E}">
        <p14:creationId xmlns:p14="http://schemas.microsoft.com/office/powerpoint/2010/main" val="935764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has</a:t>
            </a:r>
            <a:r>
              <a:rPr lang="en-US" baseline="0" dirty="0"/>
              <a:t> not changed much from DSM-IV criteria—but does specify that at least one </a:t>
            </a:r>
            <a:r>
              <a:rPr lang="en-US" baseline="0" dirty="0" err="1"/>
              <a:t>sx</a:t>
            </a:r>
            <a:r>
              <a:rPr lang="en-US" baseline="0" dirty="0"/>
              <a:t> has to be one of the first 3 listed </a:t>
            </a:r>
            <a:endParaRPr lang="en-US" dirty="0"/>
          </a:p>
          <a:p>
            <a:r>
              <a:rPr lang="en-US" dirty="0"/>
              <a:t>Disorganized</a:t>
            </a:r>
            <a:r>
              <a:rPr lang="en-US" baseline="0" dirty="0"/>
              <a:t> speech: frequent derailment or incoherence</a:t>
            </a:r>
          </a:p>
          <a:p>
            <a:r>
              <a:rPr lang="en-US" baseline="0" dirty="0"/>
              <a:t>Negative </a:t>
            </a:r>
            <a:r>
              <a:rPr lang="en-US" baseline="0" dirty="0" err="1"/>
              <a:t>sx</a:t>
            </a:r>
            <a:r>
              <a:rPr lang="en-US" baseline="0" dirty="0"/>
              <a:t>: diminished emotional expression or </a:t>
            </a:r>
            <a:r>
              <a:rPr lang="en-US" baseline="0" dirty="0" err="1"/>
              <a:t>avolition</a:t>
            </a:r>
            <a:r>
              <a:rPr lang="en-US" baseline="0" dirty="0"/>
              <a:t> </a:t>
            </a:r>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4</a:t>
            </a:fld>
            <a:endParaRPr lang="en-US"/>
          </a:p>
        </p:txBody>
      </p:sp>
    </p:spTree>
    <p:extLst>
      <p:ext uri="{BB962C8B-B14F-4D97-AF65-F5344CB8AC3E}">
        <p14:creationId xmlns:p14="http://schemas.microsoft.com/office/powerpoint/2010/main" val="784604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5</a:t>
            </a:fld>
            <a:endParaRPr lang="en-US"/>
          </a:p>
        </p:txBody>
      </p:sp>
    </p:spTree>
    <p:extLst>
      <p:ext uri="{BB962C8B-B14F-4D97-AF65-F5344CB8AC3E}">
        <p14:creationId xmlns:p14="http://schemas.microsoft.com/office/powerpoint/2010/main" val="2790105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lvl="1" indent="0" defTabSz="914400">
              <a:lnSpc>
                <a:spcPct val="110000"/>
              </a:lnSpc>
              <a:spcBef>
                <a:spcPts val="1200"/>
              </a:spcBef>
              <a:buFont typeface="Wingdings" panose="05000000000000000000" pitchFamily="2" charset="2"/>
              <a:buNone/>
            </a:pPr>
            <a:r>
              <a:rPr lang="en-US" sz="2600" kern="1200" dirty="0">
                <a:solidFill>
                  <a:schemeClr val="tx2">
                    <a:lumMod val="75000"/>
                    <a:lumOff val="25000"/>
                  </a:schemeClr>
                </a:solidFill>
                <a:latin typeface="+mn-lt"/>
                <a:ea typeface="+mn-ea"/>
                <a:cs typeface="+mn-cs"/>
              </a:rPr>
              <a:t>These are NOT schizophrenia </a:t>
            </a:r>
          </a:p>
          <a:p>
            <a:pPr marL="0" lvl="1" indent="0" defTabSz="914400">
              <a:lnSpc>
                <a:spcPct val="110000"/>
              </a:lnSpc>
              <a:spcBef>
                <a:spcPts val="1200"/>
              </a:spcBef>
              <a:buFont typeface="Wingdings" panose="05000000000000000000" pitchFamily="2" charset="2"/>
              <a:buNone/>
            </a:pPr>
            <a:endParaRPr lang="en-US" sz="2600" kern="1200" dirty="0">
              <a:solidFill>
                <a:schemeClr val="tx2">
                  <a:lumMod val="75000"/>
                  <a:lumOff val="25000"/>
                </a:schemeClr>
              </a:solidFill>
              <a:latin typeface="+mn-lt"/>
              <a:ea typeface="+mn-ea"/>
              <a:cs typeface="+mn-cs"/>
            </a:endParaRPr>
          </a:p>
          <a:p>
            <a:pPr marL="0" lvl="1" indent="0" defTabSz="914400">
              <a:lnSpc>
                <a:spcPct val="110000"/>
              </a:lnSpc>
              <a:spcBef>
                <a:spcPts val="1200"/>
              </a:spcBef>
              <a:buFont typeface="Wingdings" panose="05000000000000000000" pitchFamily="2" charset="2"/>
              <a:buNone/>
            </a:pPr>
            <a:r>
              <a:rPr lang="en-US" sz="2600" kern="1200" dirty="0">
                <a:solidFill>
                  <a:schemeClr val="tx2">
                    <a:lumMod val="75000"/>
                    <a:lumOff val="25000"/>
                  </a:schemeClr>
                </a:solidFill>
                <a:latin typeface="+mn-lt"/>
                <a:ea typeface="+mn-ea"/>
                <a:cs typeface="+mn-cs"/>
              </a:rPr>
              <a:t>Must occur separately from mood disorder, or the mood episodes must last for only a portion of the total duration</a:t>
            </a:r>
          </a:p>
          <a:p>
            <a:pPr marL="0" lvl="1" indent="0" defTabSz="914400">
              <a:lnSpc>
                <a:spcPct val="110000"/>
              </a:lnSpc>
              <a:spcBef>
                <a:spcPts val="1200"/>
              </a:spcBef>
              <a:buFont typeface="Wingdings" panose="05000000000000000000" pitchFamily="2" charset="2"/>
              <a:buNone/>
            </a:pPr>
            <a:endParaRPr lang="en-US" sz="2600" i="0" kern="1200" dirty="0">
              <a:solidFill>
                <a:schemeClr val="tx2">
                  <a:lumMod val="75000"/>
                  <a:lumOff val="25000"/>
                </a:schemeClr>
              </a:solidFill>
              <a:latin typeface="+mn-lt"/>
              <a:ea typeface="+mn-ea"/>
              <a:cs typeface="+mn-cs"/>
            </a:endParaRPr>
          </a:p>
          <a:p>
            <a:pPr marL="0" lvl="1" indent="0" defTabSz="914400">
              <a:lnSpc>
                <a:spcPct val="110000"/>
              </a:lnSpc>
              <a:spcBef>
                <a:spcPts val="1200"/>
              </a:spcBef>
              <a:buFont typeface="Wingdings" panose="05000000000000000000" pitchFamily="2" charset="2"/>
              <a:buNone/>
            </a:pPr>
            <a:r>
              <a:rPr lang="en-US" sz="2600" b="1" i="0" kern="1200" dirty="0">
                <a:solidFill>
                  <a:schemeClr val="tx2">
                    <a:lumMod val="75000"/>
                    <a:lumOff val="25000"/>
                  </a:schemeClr>
                </a:solidFill>
                <a:latin typeface="+mn-lt"/>
                <a:ea typeface="+mn-ea"/>
                <a:cs typeface="+mn-cs"/>
              </a:rPr>
              <a:t>THESE ARE THINGS THAT “I”</a:t>
            </a:r>
            <a:r>
              <a:rPr lang="en-US" sz="2600" b="1" i="0" kern="1200" baseline="0" dirty="0">
                <a:solidFill>
                  <a:schemeClr val="tx2">
                    <a:lumMod val="75000"/>
                    <a:lumOff val="25000"/>
                  </a:schemeClr>
                </a:solidFill>
                <a:latin typeface="+mn-lt"/>
                <a:ea typeface="+mn-ea"/>
                <a:cs typeface="+mn-cs"/>
              </a:rPr>
              <a:t> ASSESS WHEN SEEING A NEW CASE: </a:t>
            </a:r>
            <a:endParaRPr lang="en-US" sz="2600" b="1" i="0" kern="1200" dirty="0">
              <a:solidFill>
                <a:schemeClr val="tx2">
                  <a:lumMod val="75000"/>
                  <a:lumOff val="25000"/>
                </a:schemeClr>
              </a:solidFill>
              <a:latin typeface="+mn-lt"/>
              <a:ea typeface="+mn-ea"/>
              <a:cs typeface="+mn-cs"/>
            </a:endParaRPr>
          </a:p>
          <a:p>
            <a:pPr marL="0" lvl="1" indent="0" defTabSz="914400">
              <a:lnSpc>
                <a:spcPct val="110000"/>
              </a:lnSpc>
              <a:spcBef>
                <a:spcPts val="1200"/>
              </a:spcBef>
              <a:buFont typeface="Wingdings" panose="05000000000000000000" pitchFamily="2" charset="2"/>
              <a:buNone/>
            </a:pPr>
            <a:endParaRPr lang="en-US" sz="2600" i="0" kern="1200" dirty="0">
              <a:solidFill>
                <a:schemeClr val="tx2">
                  <a:lumMod val="75000"/>
                  <a:lumOff val="25000"/>
                </a:schemeClr>
              </a:solidFill>
              <a:latin typeface="+mn-lt"/>
              <a:ea typeface="+mn-ea"/>
              <a:cs typeface="+mn-cs"/>
            </a:endParaRPr>
          </a:p>
          <a:p>
            <a:pPr marL="0" lvl="1" indent="0" defTabSz="914400">
              <a:lnSpc>
                <a:spcPct val="110000"/>
              </a:lnSpc>
              <a:spcBef>
                <a:spcPts val="1200"/>
              </a:spcBef>
              <a:buFont typeface="Wingdings" panose="05000000000000000000" pitchFamily="2" charset="2"/>
              <a:buNone/>
            </a:pPr>
            <a:r>
              <a:rPr lang="en-US" sz="2800" i="0" dirty="0"/>
              <a:t>- Medications, such as corticosteroids or those with anticholinergic/</a:t>
            </a:r>
            <a:r>
              <a:rPr lang="en-US" sz="2800" i="0" dirty="0" err="1"/>
              <a:t>antimuscarinic</a:t>
            </a:r>
            <a:r>
              <a:rPr lang="en-US" sz="2800" i="0" dirty="0"/>
              <a:t> effects  </a:t>
            </a:r>
          </a:p>
          <a:p>
            <a:pPr marL="0" lvl="1" indent="0" defTabSz="914400">
              <a:lnSpc>
                <a:spcPct val="110000"/>
              </a:lnSpc>
              <a:spcBef>
                <a:spcPts val="1200"/>
              </a:spcBef>
              <a:buFont typeface="Wingdings" panose="05000000000000000000" pitchFamily="2" charset="2"/>
              <a:buNone/>
            </a:pPr>
            <a:r>
              <a:rPr lang="en-US" sz="2800" i="0" dirty="0"/>
              <a:t>- Illicit substances of abuse, such as cocaine, bath salts, hallucinogens, etc.</a:t>
            </a:r>
          </a:p>
          <a:p>
            <a:pPr marL="0" lvl="1" indent="0" defTabSz="914400">
              <a:lnSpc>
                <a:spcPct val="110000"/>
              </a:lnSpc>
              <a:spcBef>
                <a:spcPts val="1200"/>
              </a:spcBef>
              <a:buFont typeface="Wingdings" panose="05000000000000000000" pitchFamily="2" charset="2"/>
              <a:buNone/>
            </a:pPr>
            <a:r>
              <a:rPr lang="en-US" sz="2800" i="0" dirty="0"/>
              <a:t>- Medical conditions, such as an infection, anatomic lesion, or severe thyroid hormone abnormality</a:t>
            </a:r>
          </a:p>
          <a:p>
            <a:pPr marL="0" lvl="1" indent="0" defTabSz="914400">
              <a:lnSpc>
                <a:spcPct val="110000"/>
              </a:lnSpc>
              <a:spcBef>
                <a:spcPts val="1200"/>
              </a:spcBef>
              <a:buFont typeface="Wingdings" panose="05000000000000000000" pitchFamily="2" charset="2"/>
              <a:buNone/>
            </a:pPr>
            <a:endParaRPr lang="en-US" sz="2600" kern="1200" dirty="0">
              <a:solidFill>
                <a:schemeClr val="tx2">
                  <a:lumMod val="75000"/>
                  <a:lumOff val="25000"/>
                </a:schemeClr>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6</a:t>
            </a:fld>
            <a:endParaRPr lang="en-US"/>
          </a:p>
        </p:txBody>
      </p:sp>
    </p:spTree>
    <p:extLst>
      <p:ext uri="{BB962C8B-B14F-4D97-AF65-F5344CB8AC3E}">
        <p14:creationId xmlns:p14="http://schemas.microsoft.com/office/powerpoint/2010/main" val="45644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Jaskiw might cover this, only highlight Dopamine!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many hypotheses for schizophrenia, but the main one we want to focus on is dopamine! D</a:t>
            </a:r>
            <a:r>
              <a:rPr lang="en-US" baseline="0" dirty="0"/>
              <a:t>opamine hypothesis gives us a framework for the medications! </a:t>
            </a:r>
          </a:p>
          <a:p>
            <a:r>
              <a:rPr lang="en-US" dirty="0"/>
              <a:t> </a:t>
            </a:r>
          </a:p>
          <a:p>
            <a:endParaRPr lang="en-US" dirty="0"/>
          </a:p>
          <a:p>
            <a:r>
              <a:rPr lang="en-US" dirty="0"/>
              <a:t>FYI:</a:t>
            </a:r>
          </a:p>
          <a:p>
            <a:r>
              <a:rPr lang="en-US" dirty="0"/>
              <a:t>Glutamatergic deficiency produces symptoms similar to those of dopaminergic hyperactivity and possibly those seen in schizophrenia. </a:t>
            </a:r>
          </a:p>
          <a:p>
            <a:r>
              <a:rPr lang="en-US" dirty="0"/>
              <a:t>Clinical support for this comes from the fact that PCP</a:t>
            </a:r>
            <a:r>
              <a:rPr lang="en-US" baseline="0" dirty="0"/>
              <a:t> </a:t>
            </a:r>
            <a:r>
              <a:rPr lang="en-US" dirty="0"/>
              <a:t>is a noncompetitive antagonist at the NMDA receptor.</a:t>
            </a:r>
            <a:r>
              <a:rPr lang="en-US" baseline="0" dirty="0"/>
              <a:t> </a:t>
            </a:r>
            <a:r>
              <a:rPr lang="en-US" dirty="0"/>
              <a:t>Similarly, abuse of ketamine, a competitive antagonist at NMDA receptors,  can resemble schizophrenia. Ketamine, has been shown to lead to reduction in D</a:t>
            </a:r>
            <a:r>
              <a:rPr lang="en-US" baseline="-25000" dirty="0">
                <a:effectLst/>
              </a:rPr>
              <a:t>1</a:t>
            </a:r>
            <a:r>
              <a:rPr lang="en-US" dirty="0"/>
              <a:t> neurotransmission through glutamatergic inhibition of DA release. The discovery that hallucinogens such as LSD are serotonin</a:t>
            </a:r>
            <a:r>
              <a:rPr lang="en-US" baseline="0" dirty="0"/>
              <a:t> 5-HT agonists led to the hypothesis that serotonin can play a role in schizophrenia. </a:t>
            </a:r>
          </a:p>
          <a:p>
            <a:endParaRPr lang="en-US"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7</a:t>
            </a:fld>
            <a:endParaRPr lang="en-US"/>
          </a:p>
        </p:txBody>
      </p:sp>
    </p:spTree>
    <p:extLst>
      <p:ext uri="{BB962C8B-B14F-4D97-AF65-F5344CB8AC3E}">
        <p14:creationId xmlns:p14="http://schemas.microsoft.com/office/powerpoint/2010/main" val="1876764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What did Dr. Jaskiw tell you about the DA hypothesis?</a:t>
            </a:r>
            <a:endParaRPr lang="en-US" baseline="0" dirty="0"/>
          </a:p>
          <a:p>
            <a:endParaRPr lang="en-US" baseline="0" dirty="0"/>
          </a:p>
          <a:p>
            <a:r>
              <a:rPr lang="en-US" baseline="0" dirty="0" err="1"/>
              <a:t>Mesocortical</a:t>
            </a:r>
            <a:r>
              <a:rPr lang="en-US" baseline="0" dirty="0"/>
              <a:t> is the primary pathway involved. DA deficiency here produces a compensatory increase </a:t>
            </a:r>
            <a:r>
              <a:rPr lang="en-US" baseline="0" dirty="0" smtClean="0"/>
              <a:t>in, </a:t>
            </a:r>
            <a:r>
              <a:rPr lang="en-US" baseline="0" dirty="0"/>
              <a:t>producing positive symptoms (so #1 linked to #2). Often the negative symptoms are what is seen first by the </a:t>
            </a:r>
            <a:r>
              <a:rPr lang="en-US" baseline="0" dirty="0" err="1"/>
              <a:t>pt’s</a:t>
            </a:r>
            <a:r>
              <a:rPr lang="en-US" baseline="0" dirty="0"/>
              <a:t> family/friends (withdrawing, </a:t>
            </a:r>
            <a:r>
              <a:rPr lang="en-US" baseline="0" dirty="0" err="1"/>
              <a:t>etc</a:t>
            </a:r>
            <a:r>
              <a:rPr lang="en-US" baseline="0" dirty="0" smtClean="0"/>
              <a:t>). DA in the mesolimbic pathway </a:t>
            </a:r>
            <a:r>
              <a:rPr lang="en-US" baseline="0" dirty="0"/>
              <a:t>However, health care providers tend to see </a:t>
            </a:r>
            <a:r>
              <a:rPr lang="en-US" baseline="0" dirty="0" err="1"/>
              <a:t>pt</a:t>
            </a:r>
            <a:r>
              <a:rPr lang="en-US" baseline="0" dirty="0"/>
              <a:t> when positive symptoms present</a:t>
            </a:r>
          </a:p>
          <a:p>
            <a:endParaRPr lang="en-US" baseline="0" dirty="0"/>
          </a:p>
          <a:p>
            <a:r>
              <a:rPr lang="en-US" b="1" baseline="0" dirty="0" err="1">
                <a:sym typeface="Wingdings" pitchFamily="2" charset="2"/>
              </a:rPr>
              <a:t>Mesocortical</a:t>
            </a:r>
            <a:r>
              <a:rPr lang="en-US" b="1" baseline="0" dirty="0">
                <a:sym typeface="Wingdings" pitchFamily="2" charset="2"/>
              </a:rPr>
              <a:t>: </a:t>
            </a:r>
            <a:r>
              <a:rPr lang="en-US" baseline="0" dirty="0">
                <a:sym typeface="Wingdings" pitchFamily="2" charset="2"/>
              </a:rPr>
              <a:t>projects into areas of the prefrontal cortex; regulates cognition and executive functions; too little DA activity associated with negative symptoms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Mesolimbic: </a:t>
            </a:r>
            <a:r>
              <a:rPr lang="en-US" b="0" baseline="0" dirty="0"/>
              <a:t>role in emotional behaviors, pleasure, reward. DA hyperactivity leads to positive symptoms</a:t>
            </a:r>
            <a:endParaRPr lang="en-US" baseline="0" dirty="0">
              <a:sym typeface="Wingdings" pitchFamily="2" charset="2"/>
            </a:endParaRPr>
          </a:p>
          <a:p>
            <a:r>
              <a:rPr lang="en-US" b="1" baseline="0" dirty="0">
                <a:sym typeface="Wingdings" pitchFamily="2" charset="2"/>
              </a:rPr>
              <a:t>Nigrostriatal - </a:t>
            </a:r>
            <a:r>
              <a:rPr lang="en-US" baseline="0" dirty="0">
                <a:sym typeface="Wingdings" pitchFamily="2" charset="2"/>
              </a:rPr>
              <a:t>controls movements; deficiencies in dopamine in this pathway responsible for EPS</a:t>
            </a:r>
          </a:p>
          <a:p>
            <a:r>
              <a:rPr lang="en-US" b="1" baseline="0" dirty="0">
                <a:sym typeface="Wingdings" pitchFamily="2" charset="2"/>
              </a:rPr>
              <a:t>Tuberoinfundibular: </a:t>
            </a:r>
            <a:r>
              <a:rPr lang="en-US" baseline="0" dirty="0">
                <a:sym typeface="Wingdings" pitchFamily="2" charset="2"/>
              </a:rPr>
              <a:t>normally, DA blocks prolactin release. When treat w/ dopamine antagonist, get hyperprolactinemia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The dilemma we have with our pharmacologic therapy is how can we increase dopamine in the </a:t>
            </a:r>
            <a:r>
              <a:rPr lang="en-US" b="1" baseline="0" dirty="0" err="1"/>
              <a:t>mesocortical</a:t>
            </a:r>
            <a:r>
              <a:rPr lang="en-US" b="1" baseline="0" dirty="0"/>
              <a:t> pathway but at the same time decrease dopamine in the mesolimbic pathway?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dirty="0"/>
              <a:t>Sometimes, </a:t>
            </a:r>
            <a:r>
              <a:rPr lang="en-US" b="0" baseline="0" dirty="0" err="1"/>
              <a:t>tx</a:t>
            </a:r>
            <a:r>
              <a:rPr lang="en-US" b="0" baseline="0" dirty="0"/>
              <a:t> with APs can produce a worsening of negative symptoms (NIDS or neuroleptic induced deficit syndrome). Due to blocking DA in mesolimbic (some controlling positive symptoms), but also blocks DA in </a:t>
            </a:r>
            <a:r>
              <a:rPr lang="en-US" b="0" baseline="0" dirty="0" err="1"/>
              <a:t>mesocortical</a:t>
            </a:r>
            <a:r>
              <a:rPr lang="en-US" b="0" baseline="0" dirty="0"/>
              <a:t>, further decreasing amount of DA there </a:t>
            </a:r>
            <a:r>
              <a:rPr lang="en-US" b="0" baseline="0" dirty="0">
                <a:sym typeface="Wingdings" panose="05000000000000000000" pitchFamily="2" charset="2"/>
              </a:rPr>
              <a:t> worsening of negative symptoms</a:t>
            </a:r>
            <a:endParaRPr lang="en-US" b="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baseline="0" dirty="0"/>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8</a:t>
            </a:fld>
            <a:endParaRPr lang="en-US"/>
          </a:p>
        </p:txBody>
      </p:sp>
    </p:spTree>
    <p:extLst>
      <p:ext uri="{BB962C8B-B14F-4D97-AF65-F5344CB8AC3E}">
        <p14:creationId xmlns:p14="http://schemas.microsoft.com/office/powerpoint/2010/main" val="2072093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relatively high receptor</a:t>
            </a:r>
            <a:r>
              <a:rPr lang="en-US" baseline="0" dirty="0"/>
              <a:t> occupancy for therapeutic effects</a:t>
            </a:r>
          </a:p>
          <a:p>
            <a:r>
              <a:rPr lang="en-US" baseline="0" dirty="0"/>
              <a:t>Unfortunately as you can see higher receptor occupancy also causes adverse effects with our agents</a:t>
            </a:r>
          </a:p>
          <a:p>
            <a:endParaRPr lang="en-US" baseline="0" dirty="0"/>
          </a:p>
          <a:p>
            <a:r>
              <a:rPr lang="en-US" baseline="0" dirty="0"/>
              <a:t>FYI:</a:t>
            </a:r>
          </a:p>
          <a:p>
            <a:r>
              <a:rPr lang="en-US" baseline="0" dirty="0"/>
              <a:t>Bind “tightly” with long times on the receptor like 1</a:t>
            </a:r>
            <a:r>
              <a:rPr lang="en-US" baseline="30000" dirty="0"/>
              <a:t>st</a:t>
            </a:r>
            <a:r>
              <a:rPr lang="en-US" baseline="0" dirty="0"/>
              <a:t> gen or if they bind “</a:t>
            </a:r>
            <a:r>
              <a:rPr lang="en-US" baseline="0" dirty="0" err="1"/>
              <a:t>loosly</a:t>
            </a:r>
            <a:r>
              <a:rPr lang="en-US" baseline="0" dirty="0"/>
              <a:t>” and slip off the receptor more quickly such as seen in 2</a:t>
            </a:r>
            <a:r>
              <a:rPr lang="en-US" baseline="30000" dirty="0"/>
              <a:t>nd</a:t>
            </a:r>
            <a:r>
              <a:rPr lang="en-US" baseline="0" dirty="0"/>
              <a:t> gen </a:t>
            </a:r>
          </a:p>
          <a:p>
            <a:r>
              <a:rPr lang="en-US" baseline="0" dirty="0"/>
              <a:t>Theoretically this “hit and run” effect of 2</a:t>
            </a:r>
            <a:r>
              <a:rPr lang="en-US" baseline="30000" dirty="0"/>
              <a:t>nd</a:t>
            </a:r>
            <a:r>
              <a:rPr lang="en-US" baseline="0" dirty="0"/>
              <a:t> gen antipsychotics on the dopamine receptors results in less risk of EPS</a:t>
            </a:r>
          </a:p>
        </p:txBody>
      </p:sp>
      <p:sp>
        <p:nvSpPr>
          <p:cNvPr id="4" name="Slide Number Placeholder 3"/>
          <p:cNvSpPr>
            <a:spLocks noGrp="1"/>
          </p:cNvSpPr>
          <p:nvPr>
            <p:ph type="sldNum" sz="quarter" idx="10"/>
          </p:nvPr>
        </p:nvSpPr>
        <p:spPr/>
        <p:txBody>
          <a:bodyPr/>
          <a:lstStyle/>
          <a:p>
            <a:fld id="{748ABB82-441F-4DCE-AF4C-B0D62B3B59E5}" type="slidenum">
              <a:rPr lang="en-US" smtClean="0"/>
              <a:pPr/>
              <a:t>9</a:t>
            </a:fld>
            <a:endParaRPr lang="en-US"/>
          </a:p>
        </p:txBody>
      </p:sp>
    </p:spTree>
    <p:extLst>
      <p:ext uri="{BB962C8B-B14F-4D97-AF65-F5344CB8AC3E}">
        <p14:creationId xmlns:p14="http://schemas.microsoft.com/office/powerpoint/2010/main" val="97714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684914-FE88-4D9B-9F45-EBFD5234B36B}" type="slidenum">
              <a:rPr lang="en-US"/>
              <a:pPr/>
              <a:t>10</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xfrm>
            <a:off x="1239520" y="3329940"/>
            <a:ext cx="6817360" cy="3154680"/>
          </a:xfrm>
        </p:spPr>
        <p:txBody>
          <a:bodyPr/>
          <a:lstStyle/>
          <a:p>
            <a:endParaRPr lang="en-US" dirty="0"/>
          </a:p>
        </p:txBody>
      </p:sp>
    </p:spTree>
    <p:extLst>
      <p:ext uri="{BB962C8B-B14F-4D97-AF65-F5344CB8AC3E}">
        <p14:creationId xmlns:p14="http://schemas.microsoft.com/office/powerpoint/2010/main" val="255947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b="1" dirty="0"/>
              <a:t>Largest study to date, put on by NIMH. Compared FGA and SGA and looked found no difference! So, how do we choose an AP?</a:t>
            </a:r>
          </a:p>
          <a:p>
            <a:r>
              <a:rPr lang="en-US" dirty="0"/>
              <a:t>Efficacy</a:t>
            </a:r>
            <a:r>
              <a:rPr lang="en-US" baseline="0" dirty="0"/>
              <a:t>: 70% improve (~20% symptom improvement)</a:t>
            </a:r>
          </a:p>
          <a:p>
            <a:r>
              <a:rPr lang="en-US" baseline="0" dirty="0"/>
              <a:t>	</a:t>
            </a:r>
            <a:r>
              <a:rPr lang="en-US" baseline="0" dirty="0">
                <a:sym typeface="Wingdings" panose="05000000000000000000" pitchFamily="2" charset="2"/>
              </a:rPr>
              <a:t> of the remainder, clozapine may benefit ~30-50% </a:t>
            </a:r>
          </a:p>
          <a:p>
            <a:endParaRPr lang="en-US" dirty="0"/>
          </a:p>
          <a:p>
            <a:r>
              <a:rPr lang="en-US" dirty="0"/>
              <a:t>Phase 1: </a:t>
            </a:r>
            <a:r>
              <a:rPr lang="en-US" sz="2800" dirty="0"/>
              <a:t>n=1493 patients at 57 centers</a:t>
            </a:r>
          </a:p>
          <a:p>
            <a:r>
              <a:rPr lang="en-US" sz="2800" dirty="0"/>
              <a:t>Randomized to 1 of 5 antipsychotics</a:t>
            </a:r>
            <a:r>
              <a:rPr lang="en-US" sz="2800" baseline="0" dirty="0"/>
              <a:t> (</a:t>
            </a:r>
            <a:r>
              <a:rPr lang="en-US" sz="2400" dirty="0"/>
              <a:t>Olanzapine, perphenazine, quetiapine, risperidone, ziprasidone) </a:t>
            </a:r>
            <a:r>
              <a:rPr lang="en-US" sz="2400" dirty="0">
                <a:sym typeface="Wingdings" panose="05000000000000000000" pitchFamily="2" charset="2"/>
              </a:rPr>
              <a:t> ones</a:t>
            </a:r>
            <a:r>
              <a:rPr lang="en-US" sz="2400" baseline="0" dirty="0">
                <a:sym typeface="Wingdings" panose="05000000000000000000" pitchFamily="2" charset="2"/>
              </a:rPr>
              <a:t> available at the time***</a:t>
            </a:r>
            <a:endParaRPr lang="en-US" dirty="0"/>
          </a:p>
          <a:p>
            <a:r>
              <a:rPr lang="en-US" sz="2800" b="1" dirty="0"/>
              <a:t>Primary outcome: </a:t>
            </a:r>
            <a:r>
              <a:rPr lang="en-US" sz="2400" dirty="0"/>
              <a:t>time</a:t>
            </a:r>
            <a:r>
              <a:rPr lang="en-US" sz="2400" baseline="0" dirty="0"/>
              <a:t> to discontinuation for any cause </a:t>
            </a:r>
          </a:p>
          <a:p>
            <a:r>
              <a:rPr lang="en-US" sz="1200" b="1" baseline="0" dirty="0"/>
              <a:t>Results: </a:t>
            </a:r>
            <a:r>
              <a:rPr lang="en-US" sz="2400" dirty="0"/>
              <a:t>74% of subjects discontinued (patient choice, could be from any reason) study medication before 18 months</a:t>
            </a:r>
          </a:p>
          <a:p>
            <a:r>
              <a:rPr lang="en-US" sz="2400" dirty="0"/>
              <a:t>No statistically significant difference between 1</a:t>
            </a:r>
            <a:r>
              <a:rPr lang="en-US" sz="2400" baseline="30000" dirty="0"/>
              <a:t>st</a:t>
            </a:r>
            <a:r>
              <a:rPr lang="en-US" sz="2400" dirty="0"/>
              <a:t> gen (perphenazine) and 2</a:t>
            </a:r>
            <a:r>
              <a:rPr lang="en-US" sz="2400" baseline="30000" dirty="0"/>
              <a:t>nd</a:t>
            </a:r>
            <a:r>
              <a:rPr lang="en-US" sz="2400" dirty="0"/>
              <a:t> gen antipsychotics in terms of effectiveness over time</a:t>
            </a:r>
          </a:p>
          <a:p>
            <a:endParaRPr lang="en-US" sz="24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Phase 2: </a:t>
            </a:r>
            <a:r>
              <a:rPr lang="en-US" sz="2800" dirty="0"/>
              <a:t>This looked</a:t>
            </a:r>
            <a:r>
              <a:rPr lang="en-US" sz="2800" baseline="0" dirty="0"/>
              <a:t> at the 74% who stopped phase I </a:t>
            </a:r>
            <a:r>
              <a:rPr lang="en-US" sz="2800" dirty="0"/>
              <a:t>due to failed initial therapy in CATIE I (n= 543)</a:t>
            </a:r>
          </a:p>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	</a:t>
            </a:r>
            <a:r>
              <a:rPr lang="en-US" sz="2800" dirty="0">
                <a:sym typeface="Wingdings" panose="05000000000000000000" pitchFamily="2" charset="2"/>
              </a:rPr>
              <a:t> Defined response as a 20% improvement in symptom scores</a:t>
            </a:r>
            <a:endParaRPr lang="en-US" sz="28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Randomized to olanzapine, quetiapine, risperidone, clozapine</a:t>
            </a:r>
          </a:p>
          <a:p>
            <a:r>
              <a:rPr lang="en-US" sz="2800" b="1" dirty="0"/>
              <a:t>Results:</a:t>
            </a:r>
            <a:r>
              <a:rPr lang="en-US" sz="2800" dirty="0"/>
              <a:t> </a:t>
            </a:r>
            <a:r>
              <a:rPr lang="en-US" sz="2400" dirty="0"/>
              <a:t>Discontinued due to poor symptom control: </a:t>
            </a:r>
            <a:r>
              <a:rPr lang="en-US" sz="2000" dirty="0"/>
              <a:t>Clozapine efficacious over all other study medications</a:t>
            </a:r>
          </a:p>
          <a:p>
            <a:r>
              <a:rPr lang="en-US" sz="2400" dirty="0"/>
              <a:t>All cause discontinuation: </a:t>
            </a:r>
            <a:r>
              <a:rPr lang="en-US" sz="2000" dirty="0"/>
              <a:t>Clozapine superior to quetiapine or risperidone, similar to olanzapine</a:t>
            </a:r>
          </a:p>
          <a:p>
            <a:endParaRPr lang="en-US" sz="2000" dirty="0"/>
          </a:p>
          <a:p>
            <a:r>
              <a:rPr lang="en-US" sz="2000" dirty="0"/>
              <a:t>Effectiveness study: all encompassing, not just looking at efficacy (PANS, psych testing, </a:t>
            </a:r>
            <a:r>
              <a:rPr lang="en-US" sz="2000" dirty="0" err="1"/>
              <a:t>etc</a:t>
            </a:r>
            <a:r>
              <a:rPr lang="en-US" sz="2000" dirty="0"/>
              <a:t>), but also looking at ADEs, </a:t>
            </a:r>
            <a:r>
              <a:rPr lang="en-US" sz="2000" dirty="0" err="1"/>
              <a:t>pt</a:t>
            </a:r>
            <a:r>
              <a:rPr lang="en-US" sz="2000" dirty="0"/>
              <a:t> choice, </a:t>
            </a:r>
            <a:r>
              <a:rPr lang="en-US" sz="2000" dirty="0" err="1"/>
              <a:t>etc</a:t>
            </a:r>
            <a:endParaRPr lang="en-US" sz="2000" dirty="0"/>
          </a:p>
          <a:p>
            <a:pPr lvl="1"/>
            <a:endParaRPr lang="en-US" sz="2000" dirty="0"/>
          </a:p>
          <a:p>
            <a:pPr lvl="1"/>
            <a:endParaRPr lang="en-US" sz="2000" dirty="0"/>
          </a:p>
          <a:p>
            <a:endParaRPr lang="en-US" sz="2400"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11</a:t>
            </a:fld>
            <a:endParaRPr lang="en-US"/>
          </a:p>
        </p:txBody>
      </p:sp>
    </p:spTree>
    <p:extLst>
      <p:ext uri="{BB962C8B-B14F-4D97-AF65-F5344CB8AC3E}">
        <p14:creationId xmlns:p14="http://schemas.microsoft.com/office/powerpoint/2010/main" val="2931310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ym typeface="Wingdings" pitchFamily="2" charset="2"/>
              </a:rPr>
              <a:t>Adequate trial: 2 weeks, then switch if no response</a:t>
            </a:r>
            <a:endParaRPr lang="en-US" dirty="0"/>
          </a:p>
          <a:p>
            <a:r>
              <a:rPr lang="en-US" b="1" dirty="0"/>
              <a:t>Efficacy for Response</a:t>
            </a:r>
            <a:r>
              <a:rPr lang="en-US" b="1" baseline="0" dirty="0"/>
              <a:t>: 70% improvement (~20% symptom improvement in PANSS)</a:t>
            </a:r>
          </a:p>
          <a:p>
            <a:r>
              <a:rPr lang="en-US" b="1" baseline="0" dirty="0"/>
              <a:t>	</a:t>
            </a:r>
            <a:r>
              <a:rPr lang="en-US" b="1" baseline="0" dirty="0">
                <a:sym typeface="Wingdings" panose="05000000000000000000" pitchFamily="2" charset="2"/>
              </a:rPr>
              <a:t> of the remainder, clozapine may benefit ~30-50% </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ym typeface="Wingdings" pitchFamily="2" charset="2"/>
              </a:rPr>
              <a:t>Clozapine unique in that requires 4-6 month trial </a:t>
            </a:r>
          </a:p>
          <a:p>
            <a:endParaRPr lang="en-US" dirty="0"/>
          </a:p>
          <a:p>
            <a:r>
              <a:rPr lang="en-US" dirty="0"/>
              <a:t>Comorbidities-</a:t>
            </a:r>
            <a:r>
              <a:rPr lang="en-US" dirty="0">
                <a:sym typeface="Wingdings" pitchFamily="2" charset="2"/>
              </a:rPr>
              <a:t> cardiac</a:t>
            </a:r>
            <a:r>
              <a:rPr lang="en-US" baseline="0" dirty="0">
                <a:sym typeface="Wingdings" pitchFamily="2" charset="2"/>
              </a:rPr>
              <a:t> disease </a:t>
            </a:r>
            <a:r>
              <a:rPr lang="en-US" baseline="0" dirty="0" err="1">
                <a:sym typeface="Wingdings" pitchFamily="2" charset="2"/>
              </a:rPr>
              <a:t>hx</a:t>
            </a:r>
            <a:r>
              <a:rPr lang="en-US" baseline="0" dirty="0">
                <a:sym typeface="Wingdings" pitchFamily="2" charset="2"/>
              </a:rPr>
              <a:t>, diabetes</a:t>
            </a:r>
          </a:p>
          <a:p>
            <a:r>
              <a:rPr lang="en-US" baseline="0" dirty="0">
                <a:sym typeface="Wingdings" pitchFamily="2" charset="2"/>
              </a:rPr>
              <a:t>Formulations: PO vs. LAI</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12</a:t>
            </a:fld>
            <a:endParaRPr lang="en-US"/>
          </a:p>
        </p:txBody>
      </p:sp>
    </p:spTree>
    <p:extLst>
      <p:ext uri="{BB962C8B-B14F-4D97-AF65-F5344CB8AC3E}">
        <p14:creationId xmlns:p14="http://schemas.microsoft.com/office/powerpoint/2010/main" val="3382482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sym typeface="Wingdings" panose="05000000000000000000" pitchFamily="2" charset="2"/>
            </a:endParaRPr>
          </a:p>
          <a:p>
            <a:r>
              <a:rPr lang="en-US" baseline="0" dirty="0">
                <a:sym typeface="Wingdings" panose="05000000000000000000" pitchFamily="2" charset="2"/>
              </a:rPr>
              <a:t>Response rate: </a:t>
            </a:r>
            <a:r>
              <a:rPr lang="en-US" baseline="0" dirty="0" err="1">
                <a:sym typeface="Wingdings" panose="05000000000000000000" pitchFamily="2" charset="2"/>
              </a:rPr>
              <a:t>Agid</a:t>
            </a:r>
            <a:r>
              <a:rPr lang="en-US" baseline="0" dirty="0">
                <a:sym typeface="Wingdings" panose="05000000000000000000" pitchFamily="2" charset="2"/>
              </a:rPr>
              <a:t>, et al. </a:t>
            </a:r>
          </a:p>
          <a:p>
            <a:r>
              <a:rPr lang="en-US" baseline="0" dirty="0">
                <a:sym typeface="Wingdings" panose="05000000000000000000" pitchFamily="2" charset="2"/>
              </a:rPr>
              <a:t>	 2 weeks, then switch if no response</a:t>
            </a:r>
          </a:p>
          <a:p>
            <a:endParaRPr lang="en-US" baseline="0" dirty="0">
              <a:sym typeface="Wingdings" panose="05000000000000000000" pitchFamily="2" charset="2"/>
            </a:endParaRPr>
          </a:p>
          <a:p>
            <a:endParaRPr lang="en-US" baseline="0" dirty="0">
              <a:sym typeface="Wingdings" panose="05000000000000000000" pitchFamily="2" charset="2"/>
            </a:endParaRPr>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13</a:t>
            </a:fld>
            <a:endParaRPr lang="en-US"/>
          </a:p>
        </p:txBody>
      </p:sp>
    </p:spTree>
    <p:extLst>
      <p:ext uri="{BB962C8B-B14F-4D97-AF65-F5344CB8AC3E}">
        <p14:creationId xmlns:p14="http://schemas.microsoft.com/office/powerpoint/2010/main" val="3698013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MINDFUL OF THE LIMITATIONS OF YOUR MEDICATIONS</a:t>
            </a:r>
          </a:p>
          <a:p>
            <a:endParaRPr lang="en-US" dirty="0"/>
          </a:p>
          <a:p>
            <a:r>
              <a:rPr lang="en-US" dirty="0"/>
              <a:t>These are pharmacologically “dirty drugs” because they hit other receptors---keep that in mind when you</a:t>
            </a:r>
            <a:r>
              <a:rPr lang="en-US" baseline="0" dirty="0"/>
              <a:t> are prescribing these that they are not all benign drugs </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14</a:t>
            </a:fld>
            <a:endParaRPr lang="en-US"/>
          </a:p>
        </p:txBody>
      </p:sp>
    </p:spTree>
    <p:extLst>
      <p:ext uri="{BB962C8B-B14F-4D97-AF65-F5344CB8AC3E}">
        <p14:creationId xmlns:p14="http://schemas.microsoft.com/office/powerpoint/2010/main" val="2238036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pharmacologically “dirty drugs” because they hit other receptors---keep that in mind when you</a:t>
            </a:r>
            <a:r>
              <a:rPr lang="en-US" baseline="0" dirty="0"/>
              <a:t> are prescribing these that they are not all benign drugs</a:t>
            </a:r>
          </a:p>
          <a:p>
            <a:endParaRPr lang="en-US" baseline="0" dirty="0"/>
          </a:p>
          <a:p>
            <a:r>
              <a:rPr lang="en-US" baseline="0" dirty="0"/>
              <a:t>High potency drugs: increased risk of side effects (EPS), less M1, H1</a:t>
            </a:r>
          </a:p>
          <a:p>
            <a:r>
              <a:rPr lang="en-US" baseline="0" dirty="0"/>
              <a:t>Low potency drugs: lower risk of side effects (EPS), more M1, H1</a:t>
            </a:r>
          </a:p>
          <a:p>
            <a:r>
              <a:rPr lang="en-US" baseline="0" dirty="0"/>
              <a:t> </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15</a:t>
            </a:fld>
            <a:endParaRPr lang="en-US"/>
          </a:p>
        </p:txBody>
      </p:sp>
    </p:spTree>
    <p:extLst>
      <p:ext uri="{BB962C8B-B14F-4D97-AF65-F5344CB8AC3E}">
        <p14:creationId xmlns:p14="http://schemas.microsoft.com/office/powerpoint/2010/main" val="304437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a:t>
            </a:r>
            <a:r>
              <a:rPr lang="en-US" baseline="0" dirty="0"/>
              <a:t> medications have you seen used in your patients??</a:t>
            </a:r>
            <a:endParaRPr lang="en-US" dirty="0"/>
          </a:p>
          <a:p>
            <a:endParaRPr lang="en-US" dirty="0"/>
          </a:p>
          <a:p>
            <a:r>
              <a:rPr lang="en-US" dirty="0"/>
              <a:t>All of these block</a:t>
            </a:r>
            <a:r>
              <a:rPr lang="en-US" baseline="0" dirty="0"/>
              <a:t> D2, but they vary in potency </a:t>
            </a:r>
          </a:p>
          <a:p>
            <a:r>
              <a:rPr lang="en-US" baseline="0" dirty="0"/>
              <a:t>	---this means mg vs. mg to achieve similar clinical benefit </a:t>
            </a:r>
          </a:p>
          <a:p>
            <a:endParaRPr lang="en-US" baseline="0" dirty="0"/>
          </a:p>
          <a:p>
            <a:r>
              <a:rPr lang="en-US" baseline="0" dirty="0"/>
              <a:t>High potency drugs: increased risk of side effects (EPS)</a:t>
            </a:r>
          </a:p>
          <a:p>
            <a:r>
              <a:rPr lang="en-US" baseline="0" dirty="0"/>
              <a:t>Low potency drugs: lower risk of side effects (EPS)</a:t>
            </a:r>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16</a:t>
            </a:fld>
            <a:endParaRPr lang="en-US"/>
          </a:p>
        </p:txBody>
      </p:sp>
    </p:spTree>
    <p:extLst>
      <p:ext uri="{BB962C8B-B14F-4D97-AF65-F5344CB8AC3E}">
        <p14:creationId xmlns:p14="http://schemas.microsoft.com/office/powerpoint/2010/main" val="3406605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Notice the</a:t>
            </a:r>
            <a:r>
              <a:rPr lang="en-US" baseline="0" dirty="0"/>
              <a:t> dosage strengths: these are not commonly prescribed at this high of doses!! </a:t>
            </a:r>
          </a:p>
          <a:p>
            <a:endParaRPr lang="en-US" baseline="0" dirty="0"/>
          </a:p>
          <a:p>
            <a:r>
              <a:rPr lang="en-US" baseline="0" dirty="0"/>
              <a:t>Chlorpromazine equivalents: 400-600mg is the relative potency to achieve antipsychotic effect or equivalent </a:t>
            </a:r>
            <a:endParaRPr lang="en-US" dirty="0"/>
          </a:p>
          <a:p>
            <a:endParaRPr lang="en-US" dirty="0"/>
          </a:p>
          <a:p>
            <a:r>
              <a:rPr lang="en-US" dirty="0"/>
              <a:t>This correlates with side effects:</a:t>
            </a:r>
          </a:p>
          <a:p>
            <a:r>
              <a:rPr lang="en-US" dirty="0"/>
              <a:t>	-</a:t>
            </a:r>
            <a:r>
              <a:rPr lang="en-US" baseline="0" dirty="0"/>
              <a:t>H1 (histamine): sedation </a:t>
            </a:r>
          </a:p>
          <a:p>
            <a:r>
              <a:rPr lang="en-US" baseline="0" dirty="0"/>
              <a:t>	-M1 (muscarinic): anticholinergic effects</a:t>
            </a:r>
          </a:p>
          <a:p>
            <a:r>
              <a:rPr lang="en-US" baseline="0" dirty="0"/>
              <a:t>	-DA (dopamine): EPS/TD</a:t>
            </a:r>
          </a:p>
          <a:p>
            <a:r>
              <a:rPr lang="en-US" baseline="0" dirty="0"/>
              <a:t>	-Alpha: orthostatic hypotension </a:t>
            </a:r>
            <a:endParaRPr lang="en-US" dirty="0"/>
          </a:p>
          <a:p>
            <a:endParaRPr lang="en-US" dirty="0"/>
          </a:p>
          <a:p>
            <a:r>
              <a:rPr lang="en-US" dirty="0"/>
              <a:t>To give</a:t>
            </a:r>
            <a:r>
              <a:rPr lang="en-US" baseline="0" dirty="0"/>
              <a:t> you an idea of equipotent doses---like if you need to switch a patient to a different 1</a:t>
            </a:r>
            <a:r>
              <a:rPr lang="en-US" baseline="30000" dirty="0"/>
              <a:t>st</a:t>
            </a:r>
            <a:r>
              <a:rPr lang="en-US" baseline="0" dirty="0"/>
              <a:t> gen agent and you are trying to figure out what would be an equivalent dose---we use chlorpromazine equivalents</a:t>
            </a:r>
          </a:p>
          <a:p>
            <a:endParaRPr lang="en-US" baseline="0" dirty="0"/>
          </a:p>
          <a:p>
            <a:r>
              <a:rPr lang="en-US" baseline="0" dirty="0"/>
              <a:t>As a general rule: we would start a drug at 400-600 mg of chlorpromazine equivalents</a:t>
            </a:r>
          </a:p>
          <a:p>
            <a:endParaRPr lang="en-US" baseline="0" dirty="0"/>
          </a:p>
          <a:p>
            <a:r>
              <a:rPr lang="en-US" baseline="0" dirty="0"/>
              <a:t>b/c 100 mg </a:t>
            </a:r>
            <a:r>
              <a:rPr lang="en-US" baseline="0" dirty="0" err="1"/>
              <a:t>thorazine</a:t>
            </a:r>
            <a:r>
              <a:rPr lang="en-US" baseline="0" dirty="0"/>
              <a:t> = 2 mg </a:t>
            </a:r>
            <a:r>
              <a:rPr lang="en-US" baseline="0" dirty="0" err="1"/>
              <a:t>haldol</a:t>
            </a:r>
            <a:r>
              <a:rPr lang="en-US" baseline="0" dirty="0"/>
              <a:t> </a:t>
            </a:r>
          </a:p>
          <a:p>
            <a:r>
              <a:rPr lang="en-US" baseline="0" dirty="0"/>
              <a:t>So if a patient was on 10 mg </a:t>
            </a:r>
            <a:r>
              <a:rPr lang="en-US" baseline="0" dirty="0" err="1"/>
              <a:t>haldol</a:t>
            </a:r>
            <a:r>
              <a:rPr lang="en-US" baseline="0" dirty="0"/>
              <a:t> a day, what would this equate to in chlorpromazine equivalents?  500 mg</a:t>
            </a:r>
          </a:p>
          <a:p>
            <a:r>
              <a:rPr lang="en-US" baseline="0" dirty="0"/>
              <a:t>If they were on 20 mg </a:t>
            </a:r>
            <a:r>
              <a:rPr lang="en-US" baseline="0" dirty="0" err="1"/>
              <a:t>loxapine</a:t>
            </a:r>
            <a:r>
              <a:rPr lang="en-US" baseline="0" dirty="0"/>
              <a:t> a day this would equal 200 chlorpromazine equivalents---so probably just round up to start them at usual starting dose </a:t>
            </a:r>
          </a:p>
          <a:p>
            <a:endParaRPr lang="en-US" baseline="0"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17</a:t>
            </a:fld>
            <a:endParaRPr lang="en-US"/>
          </a:p>
        </p:txBody>
      </p:sp>
    </p:spTree>
    <p:extLst>
      <p:ext uri="{BB962C8B-B14F-4D97-AF65-F5344CB8AC3E}">
        <p14:creationId xmlns:p14="http://schemas.microsoft.com/office/powerpoint/2010/main" val="1718469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One</a:t>
            </a:r>
            <a:r>
              <a:rPr lang="en-US" baseline="0" dirty="0"/>
              <a:t> thing I wanted to point out is notice that the more potent conventional antipsychotics that cause more EPS have only weak anticholinergic properties (M1)</a:t>
            </a:r>
          </a:p>
          <a:p>
            <a:endParaRPr lang="en-US" baseline="0" dirty="0"/>
          </a:p>
          <a:p>
            <a:r>
              <a:rPr lang="en-US" baseline="0" dirty="0"/>
              <a:t>Why does this matter? Think about what class of drugs do u use to treat some types of EPS like dystonic reactions? ---ANTICHOLINERGICS </a:t>
            </a:r>
          </a:p>
          <a:p>
            <a:endParaRPr lang="en-US" baseline="0" dirty="0"/>
          </a:p>
          <a:p>
            <a:r>
              <a:rPr lang="en-US" baseline="0" dirty="0"/>
              <a:t>Dopamine normally inhibits acetylcholine release from the </a:t>
            </a:r>
            <a:r>
              <a:rPr lang="en-US" baseline="0" dirty="0" err="1"/>
              <a:t>nigrostriatum</a:t>
            </a:r>
            <a:r>
              <a:rPr lang="en-US" baseline="0" dirty="0"/>
              <a:t>---so if we have less dopamine in the </a:t>
            </a:r>
            <a:r>
              <a:rPr lang="en-US" baseline="0" dirty="0" err="1"/>
              <a:t>nigrostriatum</a:t>
            </a:r>
            <a:r>
              <a:rPr lang="en-US" baseline="0" dirty="0"/>
              <a:t> due to giving an antipsychotic, then there is a relative imbalance of dopamine and acetylcholine. that is why we give anticholinergic drugs to suppress this acetylcholine activity. </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18</a:t>
            </a:fld>
            <a:endParaRPr lang="en-US"/>
          </a:p>
        </p:txBody>
      </p:sp>
    </p:spTree>
    <p:extLst>
      <p:ext uri="{BB962C8B-B14F-4D97-AF65-F5344CB8AC3E}">
        <p14:creationId xmlns:p14="http://schemas.microsoft.com/office/powerpoint/2010/main" val="4072563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Why are formulations important to be aware of?</a:t>
            </a:r>
          </a:p>
        </p:txBody>
      </p:sp>
      <p:sp>
        <p:nvSpPr>
          <p:cNvPr id="4" name="Slide Number Placeholder 3"/>
          <p:cNvSpPr>
            <a:spLocks noGrp="1"/>
          </p:cNvSpPr>
          <p:nvPr>
            <p:ph type="sldNum" sz="quarter" idx="10"/>
          </p:nvPr>
        </p:nvSpPr>
        <p:spPr/>
        <p:txBody>
          <a:bodyPr/>
          <a:lstStyle/>
          <a:p>
            <a:fld id="{748ABB82-441F-4DCE-AF4C-B0D62B3B59E5}" type="slidenum">
              <a:rPr lang="en-US" smtClean="0"/>
              <a:pPr/>
              <a:t>19</a:t>
            </a:fld>
            <a:endParaRPr lang="en-US"/>
          </a:p>
        </p:txBody>
      </p:sp>
    </p:spTree>
    <p:extLst>
      <p:ext uri="{BB962C8B-B14F-4D97-AF65-F5344CB8AC3E}">
        <p14:creationId xmlns:p14="http://schemas.microsoft.com/office/powerpoint/2010/main" val="1083260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main difference between FGA and SGA is the involvement of serotonin with SGAs!</a:t>
            </a:r>
          </a:p>
          <a:p>
            <a:endParaRPr lang="en-US" baseline="0" dirty="0"/>
          </a:p>
          <a:p>
            <a:r>
              <a:rPr lang="en-US" b="1" baseline="0" dirty="0"/>
              <a:t>These drugs block 5HT2a receptors which leads to an increase in dopamine in the striatum-</a:t>
            </a:r>
            <a:r>
              <a:rPr lang="en-US" baseline="0" dirty="0">
                <a:sym typeface="Wingdings" pitchFamily="2" charset="2"/>
              </a:rPr>
              <a:t>dopamine will compete with the drug at D2 receptors in the striatum and will reduce drug binding there enough to </a:t>
            </a:r>
            <a:r>
              <a:rPr lang="en-US" b="1" baseline="0" dirty="0">
                <a:sym typeface="Wingdings" pitchFamily="2" charset="2"/>
              </a:rPr>
              <a:t>decrease EPS</a:t>
            </a:r>
            <a:r>
              <a:rPr lang="en-US" baseline="0" dirty="0">
                <a:sym typeface="Wingdings" pitchFamily="2" charset="2"/>
              </a:rPr>
              <a:t>. </a:t>
            </a:r>
          </a:p>
          <a:p>
            <a:endParaRPr lang="en-US" baseline="0" dirty="0">
              <a:sym typeface="Wingdings" pitchFamily="2" charset="2"/>
            </a:endParaRPr>
          </a:p>
          <a:p>
            <a:r>
              <a:rPr lang="en-US" baseline="0" dirty="0">
                <a:sym typeface="Wingdings" pitchFamily="2" charset="2"/>
              </a:rPr>
              <a:t>5HT2A antagonism: facilitates dopamine release, which results in decrease EPS side effects </a:t>
            </a:r>
          </a:p>
          <a:p>
            <a:endParaRPr lang="en-US" baseline="0" dirty="0">
              <a:sym typeface="Wingdings" pitchFamily="2" charset="2"/>
            </a:endParaRPr>
          </a:p>
          <a:p>
            <a:r>
              <a:rPr lang="en-US" b="1" baseline="0" dirty="0">
                <a:sym typeface="Wingdings" pitchFamily="2" charset="2"/>
              </a:rPr>
              <a:t>What is a partial agonist? </a:t>
            </a:r>
            <a:endParaRPr lang="en-US" b="1" baseline="0" dirty="0"/>
          </a:p>
          <a:p>
            <a:r>
              <a:rPr lang="en-US" sz="1200" b="0" kern="1200" dirty="0">
                <a:solidFill>
                  <a:schemeClr val="tx1"/>
                </a:solidFill>
                <a:effectLst/>
                <a:latin typeface="+mn-lt"/>
                <a:ea typeface="+mn-ea"/>
                <a:cs typeface="+mn-cs"/>
              </a:rPr>
              <a:t>(bind to and activate a receptor, but are not able to elicit the maximum possible response that is produced by full </a:t>
            </a:r>
            <a:r>
              <a:rPr lang="en-US" sz="1200" b="0" i="0" kern="1200" dirty="0">
                <a:solidFill>
                  <a:schemeClr val="tx1"/>
                </a:solidFill>
                <a:effectLst/>
                <a:latin typeface="+mn-lt"/>
                <a:ea typeface="+mn-ea"/>
                <a:cs typeface="+mn-cs"/>
              </a:rPr>
              <a:t>agonists)</a:t>
            </a:r>
            <a:endParaRPr lang="en-US" baseline="0" dirty="0"/>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20</a:t>
            </a:fld>
            <a:endParaRPr lang="en-US"/>
          </a:p>
        </p:txBody>
      </p:sp>
    </p:spTree>
    <p:extLst>
      <p:ext uri="{BB962C8B-B14F-4D97-AF65-F5344CB8AC3E}">
        <p14:creationId xmlns:p14="http://schemas.microsoft.com/office/powerpoint/2010/main" val="28708475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pharmacologically “dirty drugs” because they hit other receptors---keep that in mind when you</a:t>
            </a:r>
            <a:r>
              <a:rPr lang="en-US" baseline="0" dirty="0"/>
              <a:t> are prescribing these that they are not all benign drugs </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21</a:t>
            </a:fld>
            <a:endParaRPr lang="en-US"/>
          </a:p>
        </p:txBody>
      </p:sp>
    </p:spTree>
    <p:extLst>
      <p:ext uri="{BB962C8B-B14F-4D97-AF65-F5344CB8AC3E}">
        <p14:creationId xmlns:p14="http://schemas.microsoft.com/office/powerpoint/2010/main" val="3894526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“Pines”: potency 5HT2a &gt; D2 (5HT2a more potent)</a:t>
            </a:r>
          </a:p>
          <a:p>
            <a:r>
              <a:rPr lang="en-US" dirty="0"/>
              <a:t>“</a:t>
            </a:r>
            <a:r>
              <a:rPr lang="en-US" dirty="0" err="1"/>
              <a:t>Dones</a:t>
            </a:r>
            <a:r>
              <a:rPr lang="en-US" dirty="0"/>
              <a:t>”: more or similar potency for 5HT2a and D2</a:t>
            </a:r>
          </a:p>
          <a:p>
            <a:r>
              <a:rPr lang="en-US" dirty="0"/>
              <a:t>“</a:t>
            </a:r>
            <a:r>
              <a:rPr lang="en-US" dirty="0" err="1"/>
              <a:t>Ips</a:t>
            </a:r>
            <a:r>
              <a:rPr lang="en-US" dirty="0"/>
              <a:t>”</a:t>
            </a:r>
          </a:p>
          <a:p>
            <a:pPr marL="171450" indent="-171450">
              <a:buFont typeface="Wingdings" panose="05000000000000000000" pitchFamily="2" charset="2"/>
              <a:buChar char="à"/>
            </a:pPr>
            <a:r>
              <a:rPr lang="en-US" dirty="0">
                <a:sym typeface="Wingdings" panose="05000000000000000000" pitchFamily="2" charset="2"/>
              </a:rPr>
              <a:t>Aripiprazole, </a:t>
            </a:r>
            <a:r>
              <a:rPr lang="en-US" dirty="0" err="1">
                <a:sym typeface="Wingdings" panose="05000000000000000000" pitchFamily="2" charset="2"/>
              </a:rPr>
              <a:t>cariprazine</a:t>
            </a:r>
            <a:r>
              <a:rPr lang="en-US" dirty="0">
                <a:sym typeface="Wingdings" panose="05000000000000000000" pitchFamily="2" charset="2"/>
              </a:rPr>
              <a:t>: potency D2 &gt; 5HT2a</a:t>
            </a:r>
          </a:p>
          <a:p>
            <a:pPr marL="171450" indent="-171450">
              <a:buFont typeface="Wingdings" panose="05000000000000000000" pitchFamily="2" charset="2"/>
              <a:buChar char="à"/>
            </a:pPr>
            <a:r>
              <a:rPr lang="en-US" dirty="0" err="1">
                <a:sym typeface="Wingdings" panose="05000000000000000000" pitchFamily="2" charset="2"/>
              </a:rPr>
              <a:t>Brexpiprazole</a:t>
            </a:r>
            <a:r>
              <a:rPr lang="en-US" dirty="0">
                <a:sym typeface="Wingdings" panose="05000000000000000000" pitchFamily="2" charset="2"/>
              </a:rPr>
              <a:t>: similar 5HT2a and D2</a:t>
            </a:r>
            <a:endParaRPr lang="en-US" dirty="0"/>
          </a:p>
          <a:p>
            <a:endParaRPr lang="en-US" dirty="0"/>
          </a:p>
          <a:p>
            <a:endParaRPr lang="en-US" dirty="0"/>
          </a:p>
          <a:p>
            <a:r>
              <a:rPr lang="en-US" dirty="0"/>
              <a:t>Most of these</a:t>
            </a:r>
            <a:r>
              <a:rPr lang="en-US" baseline="0" dirty="0"/>
              <a:t> agents require a non-formulary consult at the VA</a:t>
            </a:r>
          </a:p>
          <a:p>
            <a:r>
              <a:rPr lang="en-US" baseline="0" dirty="0"/>
              <a:t>But of note </a:t>
            </a:r>
            <a:r>
              <a:rPr lang="en-US" baseline="0" dirty="0" err="1"/>
              <a:t>risperdal</a:t>
            </a:r>
            <a:r>
              <a:rPr lang="en-US" baseline="0" dirty="0"/>
              <a:t> tabs are on formulary </a:t>
            </a:r>
          </a:p>
          <a:p>
            <a:endParaRPr lang="en-US" baseline="0" dirty="0"/>
          </a:p>
          <a:p>
            <a:r>
              <a:rPr lang="en-US" baseline="0" dirty="0"/>
              <a:t>Also </a:t>
            </a:r>
            <a:r>
              <a:rPr lang="en-US" baseline="0" dirty="0" err="1"/>
              <a:t>Pimavanserin</a:t>
            </a:r>
            <a:r>
              <a:rPr lang="en-US" baseline="0" dirty="0"/>
              <a:t> (</a:t>
            </a:r>
            <a:r>
              <a:rPr lang="en-US" baseline="0" dirty="0" err="1"/>
              <a:t>Nuplazid</a:t>
            </a:r>
            <a:r>
              <a:rPr lang="en-US" baseline="0" dirty="0"/>
              <a:t>®), indicated for PD psychosis (? Adjunctive treatment in schizophrenia spectrum= failed)</a:t>
            </a:r>
          </a:p>
          <a:p>
            <a:endParaRPr lang="en-US" baseline="0"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22</a:t>
            </a:fld>
            <a:endParaRPr lang="en-US"/>
          </a:p>
        </p:txBody>
      </p:sp>
    </p:spTree>
    <p:extLst>
      <p:ext uri="{BB962C8B-B14F-4D97-AF65-F5344CB8AC3E}">
        <p14:creationId xmlns:p14="http://schemas.microsoft.com/office/powerpoint/2010/main" val="2798005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Various equivalency guidance</a:t>
            </a:r>
            <a:r>
              <a:rPr lang="en-US" baseline="0" dirty="0"/>
              <a:t> are available</a:t>
            </a:r>
            <a:r>
              <a:rPr lang="en-US" dirty="0"/>
              <a:t>, this is one of several </a:t>
            </a:r>
          </a:p>
          <a:p>
            <a:endParaRPr lang="en-US" dirty="0"/>
          </a:p>
          <a:p>
            <a:endParaRPr lang="en-US" dirty="0"/>
          </a:p>
          <a:p>
            <a:r>
              <a:rPr lang="en-US" dirty="0"/>
              <a:t>CLZ Suggested: 50mg/day = 100mg/day</a:t>
            </a:r>
            <a:r>
              <a:rPr lang="en-US" baseline="0" dirty="0"/>
              <a:t> of chlorpromazine</a:t>
            </a:r>
          </a:p>
          <a:p>
            <a:r>
              <a:rPr lang="en-US" baseline="0" dirty="0">
                <a:sym typeface="Wingdings" panose="05000000000000000000" pitchFamily="2" charset="2"/>
              </a:rPr>
              <a:t> APA. </a:t>
            </a:r>
            <a:r>
              <a:rPr lang="en-US" baseline="0" dirty="0" err="1">
                <a:sym typeface="Wingdings" panose="05000000000000000000" pitchFamily="2" charset="2"/>
              </a:rPr>
              <a:t>Schiz</a:t>
            </a:r>
            <a:r>
              <a:rPr lang="en-US" baseline="0" dirty="0">
                <a:sym typeface="Wingdings" panose="05000000000000000000" pitchFamily="2" charset="2"/>
              </a:rPr>
              <a:t> Practice Guideline. Circa 1997</a:t>
            </a:r>
            <a:endParaRPr lang="en-US" dirty="0"/>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23</a:t>
            </a:fld>
            <a:endParaRPr lang="en-US"/>
          </a:p>
        </p:txBody>
      </p:sp>
    </p:spTree>
    <p:extLst>
      <p:ext uri="{BB962C8B-B14F-4D97-AF65-F5344CB8AC3E}">
        <p14:creationId xmlns:p14="http://schemas.microsoft.com/office/powerpoint/2010/main" val="37888273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050" b="1" kern="1200" dirty="0" err="1">
                <a:solidFill>
                  <a:schemeClr val="tx1"/>
                </a:solidFill>
                <a:effectLst/>
                <a:latin typeface="+mn-lt"/>
                <a:ea typeface="+mn-ea"/>
                <a:cs typeface="+mn-cs"/>
              </a:rPr>
              <a:t>Asenapine</a:t>
            </a:r>
            <a:endParaRPr lang="en-US" sz="1050" b="1"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Structurally related to mirtazapine, hits similar receptors (5HT2a, 2c, H1, alpha2 </a:t>
            </a:r>
            <a:r>
              <a:rPr lang="en-US" sz="1050" kern="1200" dirty="0" err="1">
                <a:solidFill>
                  <a:schemeClr val="tx1"/>
                </a:solidFill>
                <a:effectLst/>
                <a:latin typeface="+mn-lt"/>
                <a:ea typeface="+mn-ea"/>
                <a:cs typeface="+mn-cs"/>
              </a:rPr>
              <a:t>antag</a:t>
            </a:r>
            <a:r>
              <a:rPr lang="en-US" sz="1050" kern="1200" dirty="0">
                <a:solidFill>
                  <a:schemeClr val="tx1"/>
                </a:solidFill>
                <a:effectLst/>
                <a:latin typeface="+mn-lt"/>
                <a:ea typeface="+mn-ea"/>
                <a:cs typeface="+mn-cs"/>
              </a:rPr>
              <a:t>)</a:t>
            </a:r>
          </a:p>
          <a:p>
            <a:pPr lvl="0"/>
            <a:r>
              <a:rPr lang="en-US" sz="1050" kern="1200" dirty="0">
                <a:solidFill>
                  <a:schemeClr val="tx1"/>
                </a:solidFill>
                <a:effectLst/>
                <a:latin typeface="+mn-lt"/>
                <a:ea typeface="+mn-ea"/>
                <a:cs typeface="+mn-cs"/>
              </a:rPr>
              <a:t>Poor bioavailability due to 1</a:t>
            </a:r>
            <a:r>
              <a:rPr lang="en-US" sz="1050" kern="1200" baseline="30000" dirty="0">
                <a:solidFill>
                  <a:schemeClr val="tx1"/>
                </a:solidFill>
                <a:effectLst/>
                <a:latin typeface="+mn-lt"/>
                <a:ea typeface="+mn-ea"/>
                <a:cs typeface="+mn-cs"/>
              </a:rPr>
              <a:t>st</a:t>
            </a:r>
            <a:r>
              <a:rPr lang="en-US" sz="1050" kern="1200" dirty="0">
                <a:solidFill>
                  <a:schemeClr val="tx1"/>
                </a:solidFill>
                <a:effectLst/>
                <a:latin typeface="+mn-lt"/>
                <a:ea typeface="+mn-ea"/>
                <a:cs typeface="+mn-cs"/>
              </a:rPr>
              <a:t> pass metabolism, so given SL instead</a:t>
            </a:r>
          </a:p>
          <a:p>
            <a:pPr lvl="0"/>
            <a:r>
              <a:rPr lang="en-US" sz="1050" dirty="0"/>
              <a:t>(Poor bioavailability)</a:t>
            </a:r>
            <a:r>
              <a:rPr lang="en-US" sz="1050" dirty="0">
                <a:sym typeface="Wingdings" pitchFamily="2" charset="2"/>
              </a:rPr>
              <a:t></a:t>
            </a:r>
            <a:r>
              <a:rPr lang="en-US" sz="1050" dirty="0"/>
              <a:t> </a:t>
            </a:r>
            <a:r>
              <a:rPr lang="en-US" sz="1050" dirty="0" err="1"/>
              <a:t>sl</a:t>
            </a:r>
            <a:r>
              <a:rPr lang="en-US" sz="1050" baseline="0" dirty="0"/>
              <a:t> bioavailability only 35%. Decreased with food. </a:t>
            </a:r>
            <a:endParaRPr lang="en-US" sz="1050"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Has long half-life but still dosed </a:t>
            </a:r>
            <a:r>
              <a:rPr lang="en-US" sz="1050" kern="1200" dirty="0" err="1">
                <a:solidFill>
                  <a:schemeClr val="tx1"/>
                </a:solidFill>
                <a:effectLst/>
                <a:latin typeface="+mn-lt"/>
                <a:ea typeface="+mn-ea"/>
                <a:cs typeface="+mn-cs"/>
              </a:rPr>
              <a:t>BID</a:t>
            </a:r>
            <a:r>
              <a:rPr lang="en-US" sz="1050" kern="1200" dirty="0" err="1">
                <a:solidFill>
                  <a:schemeClr val="tx1"/>
                </a:solidFill>
                <a:effectLst/>
                <a:latin typeface="+mn-lt"/>
                <a:ea typeface="+mn-ea"/>
                <a:cs typeface="+mn-cs"/>
                <a:sym typeface="Wingdings" panose="05000000000000000000" pitchFamily="2" charset="2"/>
              </a:rPr>
              <a:t></a:t>
            </a:r>
            <a:r>
              <a:rPr lang="en-US" sz="1050" kern="1200" dirty="0" err="1">
                <a:solidFill>
                  <a:schemeClr val="tx1"/>
                </a:solidFill>
                <a:effectLst/>
                <a:latin typeface="+mn-lt"/>
                <a:ea typeface="+mn-ea"/>
                <a:cs typeface="+mn-cs"/>
              </a:rPr>
              <a:t>size</a:t>
            </a:r>
            <a:r>
              <a:rPr lang="en-US" sz="1050" kern="1200" dirty="0">
                <a:solidFill>
                  <a:schemeClr val="tx1"/>
                </a:solidFill>
                <a:effectLst/>
                <a:latin typeface="+mn-lt"/>
                <a:ea typeface="+mn-ea"/>
                <a:cs typeface="+mn-cs"/>
              </a:rPr>
              <a:t> of oral cavity limits the extent of absorption at high doses (do BID with lower doses instead of 1 high dose)</a:t>
            </a:r>
          </a:p>
          <a:p>
            <a:pPr lvl="0"/>
            <a:r>
              <a:rPr lang="en-US" sz="1050" kern="1200" dirty="0">
                <a:solidFill>
                  <a:schemeClr val="tx1"/>
                </a:solidFill>
                <a:effectLst/>
                <a:latin typeface="+mn-lt"/>
                <a:ea typeface="+mn-ea"/>
                <a:cs typeface="+mn-cs"/>
              </a:rPr>
              <a:t>Rapid absorption, possible “PRN” use</a:t>
            </a:r>
          </a:p>
          <a:p>
            <a:pPr lvl="0"/>
            <a:r>
              <a:rPr lang="en-US" sz="1050" kern="1200" dirty="0">
                <a:solidFill>
                  <a:schemeClr val="tx1"/>
                </a:solidFill>
                <a:effectLst/>
                <a:latin typeface="+mn-lt"/>
                <a:ea typeface="+mn-ea"/>
                <a:cs typeface="+mn-cs"/>
              </a:rPr>
              <a:t>Side effect: oral hypoesthesia</a:t>
            </a:r>
          </a:p>
          <a:p>
            <a:endParaRPr lang="en-US" sz="1050" kern="1200" dirty="0">
              <a:solidFill>
                <a:schemeClr val="tx1"/>
              </a:solidFill>
              <a:effectLst/>
              <a:latin typeface="+mn-lt"/>
              <a:ea typeface="+mn-ea"/>
              <a:cs typeface="+mn-cs"/>
            </a:endParaRPr>
          </a:p>
          <a:p>
            <a:r>
              <a:rPr lang="en-US" sz="1050" b="1" kern="1200" dirty="0">
                <a:solidFill>
                  <a:schemeClr val="tx1"/>
                </a:solidFill>
                <a:effectLst/>
                <a:latin typeface="+mn-lt"/>
                <a:ea typeface="+mn-ea"/>
                <a:cs typeface="+mn-cs"/>
              </a:rPr>
              <a:t>Olanzapine</a:t>
            </a:r>
          </a:p>
          <a:p>
            <a:pPr lvl="0"/>
            <a:r>
              <a:rPr lang="en-US" sz="1050" kern="1200" dirty="0">
                <a:solidFill>
                  <a:schemeClr val="tx1"/>
                </a:solidFill>
                <a:effectLst/>
                <a:latin typeface="+mn-lt"/>
                <a:ea typeface="+mn-ea"/>
                <a:cs typeface="+mn-cs"/>
              </a:rPr>
              <a:t>Of receptors it touches, has strongest potency for H1, 5HT2a over D2</a:t>
            </a:r>
          </a:p>
          <a:p>
            <a:pPr lvl="0"/>
            <a:r>
              <a:rPr lang="en-US" sz="1050" kern="1200" dirty="0">
                <a:solidFill>
                  <a:schemeClr val="tx1"/>
                </a:solidFill>
                <a:effectLst/>
                <a:latin typeface="+mn-lt"/>
                <a:ea typeface="+mn-ea"/>
                <a:cs typeface="+mn-cs"/>
              </a:rPr>
              <a:t>Closest to clozapine</a:t>
            </a:r>
          </a:p>
          <a:p>
            <a:pPr lvl="0"/>
            <a:r>
              <a:rPr lang="en-US" sz="1050" kern="1200" dirty="0">
                <a:solidFill>
                  <a:schemeClr val="tx1"/>
                </a:solidFill>
                <a:effectLst/>
                <a:latin typeface="+mn-lt"/>
                <a:ea typeface="+mn-ea"/>
                <a:cs typeface="+mn-cs"/>
              </a:rPr>
              <a:t>Generally lacks EPS at moderate and higher AP doses</a:t>
            </a:r>
          </a:p>
          <a:p>
            <a:pPr lvl="0"/>
            <a:r>
              <a:rPr lang="en-US" sz="1050" kern="1200" dirty="0">
                <a:solidFill>
                  <a:schemeClr val="tx1"/>
                </a:solidFill>
                <a:effectLst/>
                <a:latin typeface="+mn-lt"/>
                <a:ea typeface="+mn-ea"/>
                <a:cs typeface="+mn-cs"/>
              </a:rPr>
              <a:t>Lots of weight gain and cardiometabolic ADEs (increased TRG, insulin resistance)</a:t>
            </a:r>
          </a:p>
          <a:p>
            <a:pPr lvl="0"/>
            <a:r>
              <a:rPr lang="en-US" sz="1050" kern="1200" dirty="0">
                <a:solidFill>
                  <a:schemeClr val="tx1"/>
                </a:solidFill>
                <a:effectLst/>
                <a:latin typeface="+mn-lt"/>
                <a:ea typeface="+mn-ea"/>
                <a:cs typeface="+mn-cs"/>
              </a:rPr>
              <a:t>Sedating, but not as much as clozapine (due to M1, H1, alpha1 activity)</a:t>
            </a:r>
          </a:p>
          <a:p>
            <a:pPr lvl="0"/>
            <a:r>
              <a:rPr lang="en-US" sz="1050" kern="1200" dirty="0">
                <a:solidFill>
                  <a:schemeClr val="tx1"/>
                </a:solidFill>
                <a:effectLst/>
                <a:latin typeface="+mn-lt"/>
                <a:ea typeface="+mn-ea"/>
                <a:cs typeface="+mn-cs"/>
              </a:rPr>
              <a:t>FDA approved dosing 10-20 mg/day, </a:t>
            </a:r>
            <a:r>
              <a:rPr lang="en-US" sz="1050" b="1" kern="1200" dirty="0">
                <a:solidFill>
                  <a:schemeClr val="tx1"/>
                </a:solidFill>
                <a:effectLst/>
                <a:latin typeface="+mn-lt"/>
                <a:ea typeface="+mn-ea"/>
                <a:cs typeface="+mn-cs"/>
              </a:rPr>
              <a:t>may see higher doses used in clinical practice (40 mg/day)</a:t>
            </a:r>
          </a:p>
          <a:p>
            <a:pPr lvl="0"/>
            <a:endParaRPr lang="en-US" sz="1050" b="1" kern="1200" dirty="0">
              <a:solidFill>
                <a:schemeClr val="tx1"/>
              </a:solidFill>
              <a:effectLst/>
              <a:latin typeface="+mn-lt"/>
              <a:ea typeface="+mn-ea"/>
              <a:cs typeface="+mn-cs"/>
            </a:endParaRPr>
          </a:p>
          <a:p>
            <a:r>
              <a:rPr lang="en-US" sz="1050" b="1" kern="1200" dirty="0">
                <a:solidFill>
                  <a:schemeClr val="tx1"/>
                </a:solidFill>
                <a:effectLst/>
                <a:latin typeface="+mn-lt"/>
                <a:ea typeface="+mn-ea"/>
                <a:cs typeface="+mn-cs"/>
              </a:rPr>
              <a:t>Quetiapine</a:t>
            </a:r>
          </a:p>
          <a:p>
            <a:pPr lvl="0"/>
            <a:r>
              <a:rPr lang="en-US" sz="1050" kern="1200" dirty="0">
                <a:solidFill>
                  <a:schemeClr val="tx1"/>
                </a:solidFill>
                <a:effectLst/>
                <a:latin typeface="+mn-lt"/>
                <a:ea typeface="+mn-ea"/>
                <a:cs typeface="+mn-cs"/>
              </a:rPr>
              <a:t>Has active metabolite, </a:t>
            </a:r>
            <a:r>
              <a:rPr lang="en-US" sz="1050" kern="1200" dirty="0" err="1">
                <a:solidFill>
                  <a:schemeClr val="tx1"/>
                </a:solidFill>
                <a:effectLst/>
                <a:latin typeface="+mn-lt"/>
                <a:ea typeface="+mn-ea"/>
                <a:cs typeface="+mn-cs"/>
              </a:rPr>
              <a:t>norquetiapine</a:t>
            </a:r>
            <a:r>
              <a:rPr lang="en-US" sz="1050" kern="1200" dirty="0">
                <a:solidFill>
                  <a:schemeClr val="tx1"/>
                </a:solidFill>
                <a:effectLst/>
                <a:latin typeface="+mn-lt"/>
                <a:ea typeface="+mn-ea"/>
                <a:cs typeface="+mn-cs"/>
              </a:rPr>
              <a:t>, which has </a:t>
            </a:r>
            <a:r>
              <a:rPr lang="en-US" sz="1050" kern="1200" dirty="0" err="1">
                <a:solidFill>
                  <a:schemeClr val="tx1"/>
                </a:solidFill>
                <a:effectLst/>
                <a:latin typeface="+mn-lt"/>
                <a:ea typeface="+mn-ea"/>
                <a:cs typeface="+mn-cs"/>
              </a:rPr>
              <a:t>norepi</a:t>
            </a:r>
            <a:r>
              <a:rPr lang="en-US" sz="1050" kern="1200" dirty="0">
                <a:solidFill>
                  <a:schemeClr val="tx1"/>
                </a:solidFill>
                <a:effectLst/>
                <a:latin typeface="+mn-lt"/>
                <a:ea typeface="+mn-ea"/>
                <a:cs typeface="+mn-cs"/>
              </a:rPr>
              <a:t> transporter (NET/NRI) inhibition</a:t>
            </a:r>
          </a:p>
          <a:p>
            <a:pPr lvl="0"/>
            <a:r>
              <a:rPr lang="en-US" sz="1050" kern="1200" dirty="0">
                <a:solidFill>
                  <a:schemeClr val="tx1"/>
                </a:solidFill>
                <a:effectLst/>
                <a:latin typeface="+mn-lt"/>
                <a:ea typeface="+mn-ea"/>
                <a:cs typeface="+mn-cs"/>
              </a:rPr>
              <a:t>Effect depends on dose and formulation! </a:t>
            </a:r>
          </a:p>
          <a:p>
            <a:pPr lvl="0"/>
            <a:r>
              <a:rPr lang="en-US" sz="1050" kern="1200" dirty="0">
                <a:solidFill>
                  <a:schemeClr val="tx1"/>
                </a:solidFill>
                <a:effectLst/>
                <a:latin typeface="+mn-lt"/>
                <a:ea typeface="+mn-ea"/>
                <a:cs typeface="+mn-cs"/>
              </a:rPr>
              <a:t>IR: rapid onset, short duration but still usually dosed once daily/HS</a:t>
            </a:r>
          </a:p>
          <a:p>
            <a:pPr lvl="0"/>
            <a:r>
              <a:rPr lang="en-US" sz="1050" kern="1200" dirty="0">
                <a:solidFill>
                  <a:schemeClr val="tx1"/>
                </a:solidFill>
                <a:effectLst/>
                <a:latin typeface="+mn-lt"/>
                <a:ea typeface="+mn-ea"/>
                <a:cs typeface="+mn-cs"/>
              </a:rPr>
              <a:t>Most sedating shortly after taking the med (peak delivery)</a:t>
            </a:r>
          </a:p>
          <a:p>
            <a:pPr lvl="0"/>
            <a:r>
              <a:rPr lang="en-US" sz="1050" kern="1200" dirty="0">
                <a:solidFill>
                  <a:schemeClr val="tx1"/>
                </a:solidFill>
                <a:effectLst/>
                <a:latin typeface="+mn-lt"/>
                <a:ea typeface="+mn-ea"/>
                <a:cs typeface="+mn-cs"/>
              </a:rPr>
              <a:t>XR: Hits peak more slowly, so less peak-dose sedation (see delayed sleep onset). Still occupies &gt;60% D2 receptors quickly, but lasts about 24 </a:t>
            </a:r>
            <a:r>
              <a:rPr lang="en-US" sz="1050" kern="1200" dirty="0" err="1">
                <a:solidFill>
                  <a:schemeClr val="tx1"/>
                </a:solidFill>
                <a:effectLst/>
                <a:latin typeface="+mn-lt"/>
                <a:ea typeface="+mn-ea"/>
                <a:cs typeface="+mn-cs"/>
              </a:rPr>
              <a:t>hrs</a:t>
            </a:r>
            <a:endParaRPr lang="en-US" sz="105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Need higher doses for antipsychotic effect (as dose increase, more D2 occupied)</a:t>
            </a:r>
          </a:p>
          <a:p>
            <a:pPr lvl="0"/>
            <a:r>
              <a:rPr lang="en-US" sz="1200" b="1" kern="1200" dirty="0">
                <a:solidFill>
                  <a:schemeClr val="tx1"/>
                </a:solidFill>
                <a:effectLst/>
                <a:latin typeface="+mn-lt"/>
                <a:ea typeface="+mn-ea"/>
                <a:cs typeface="+mn-cs"/>
              </a:rPr>
              <a:t>Antidepressant dose (300mg)</a:t>
            </a:r>
          </a:p>
          <a:p>
            <a:pPr lvl="0"/>
            <a:r>
              <a:rPr lang="en-US" sz="1200" b="1" kern="1200" dirty="0">
                <a:solidFill>
                  <a:schemeClr val="tx1"/>
                </a:solidFill>
                <a:effectLst/>
                <a:latin typeface="+mn-lt"/>
                <a:ea typeface="+mn-ea"/>
                <a:cs typeface="+mn-cs"/>
              </a:rPr>
              <a:t>Sedative hypnotic dose: 50mg </a:t>
            </a:r>
            <a:r>
              <a:rPr lang="en-US" sz="1200" b="0" kern="1200" dirty="0">
                <a:solidFill>
                  <a:schemeClr val="tx1"/>
                </a:solidFill>
                <a:effectLst/>
                <a:latin typeface="+mn-lt"/>
                <a:ea typeface="+mn-ea"/>
                <a:cs typeface="+mn-cs"/>
              </a:rPr>
              <a:t>(acts at H1, alpha1, w/in minutes. Rapid decline (fast off) decreases risk of “hangover”</a:t>
            </a:r>
          </a:p>
          <a:p>
            <a:endParaRPr lang="en-US" dirty="0"/>
          </a:p>
          <a:p>
            <a:r>
              <a:rPr lang="en-US" b="1" baseline="0" dirty="0"/>
              <a:t>Note with clozapine that you start very low dose and if you stop </a:t>
            </a:r>
            <a:r>
              <a:rPr lang="en-US" b="1" baseline="0" dirty="0" err="1"/>
              <a:t>tx</a:t>
            </a:r>
            <a:r>
              <a:rPr lang="en-US" b="1" baseline="0" dirty="0"/>
              <a:t> for more than 2 days, you must restart the titration due to risks of adverse events</a:t>
            </a:r>
          </a:p>
          <a:p>
            <a:r>
              <a:rPr lang="en-US" b="1" baseline="0" dirty="0"/>
              <a:t>SPEND MORE TIME: CLOZAPINE TITRATION</a:t>
            </a:r>
          </a:p>
          <a:p>
            <a:r>
              <a:rPr lang="en-US" b="1" baseline="0" dirty="0"/>
              <a:t>	-- dose dependent side effects: orthostasis, tachycardia, seizures, sedation, cardiac arrest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High potency: clozapine, olanzapine (20-30% pts, with 7% BW will affect CV health). When on clozapine, can see </a:t>
            </a:r>
            <a:r>
              <a:rPr lang="en-US" baseline="0" dirty="0" err="1"/>
              <a:t>wt</a:t>
            </a:r>
            <a:r>
              <a:rPr lang="en-US" baseline="0" dirty="0"/>
              <a:t> gain for extended amount of time! </a:t>
            </a:r>
            <a:r>
              <a:rPr lang="en-US" baseline="0" dirty="0" err="1"/>
              <a:t>Cloz</a:t>
            </a:r>
            <a:r>
              <a:rPr lang="en-US" baseline="0" dirty="0"/>
              <a:t> studied for 5 years and saw </a:t>
            </a:r>
            <a:r>
              <a:rPr lang="en-US" baseline="0" dirty="0" err="1"/>
              <a:t>wt</a:t>
            </a:r>
            <a:r>
              <a:rPr lang="en-US" baseline="0" dirty="0"/>
              <a:t> gain for extended time, </a:t>
            </a:r>
            <a:r>
              <a:rPr lang="en-US" baseline="0" dirty="0" err="1"/>
              <a:t>olanz</a:t>
            </a:r>
            <a:r>
              <a:rPr lang="en-US" baseline="0" dirty="0"/>
              <a:t> for 39 weeks</a:t>
            </a:r>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24</a:t>
            </a:fld>
            <a:endParaRPr lang="en-US"/>
          </a:p>
        </p:txBody>
      </p:sp>
    </p:spTree>
    <p:extLst>
      <p:ext uri="{BB962C8B-B14F-4D97-AF65-F5344CB8AC3E}">
        <p14:creationId xmlns:p14="http://schemas.microsoft.com/office/powerpoint/2010/main" val="1025610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050" b="1" kern="1200" dirty="0">
                <a:solidFill>
                  <a:schemeClr val="tx1"/>
                </a:solidFill>
                <a:effectLst/>
                <a:latin typeface="+mn-lt"/>
                <a:ea typeface="+mn-ea"/>
                <a:cs typeface="+mn-cs"/>
              </a:rPr>
              <a:t>Risperidone</a:t>
            </a:r>
            <a:endParaRPr lang="en-US" sz="1050"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Atypical at lower doses; more typical at higher doses </a:t>
            </a:r>
            <a:r>
              <a:rPr lang="en-US" sz="1050" kern="1200" dirty="0">
                <a:solidFill>
                  <a:schemeClr val="tx1"/>
                </a:solidFill>
                <a:effectLst/>
                <a:latin typeface="+mn-lt"/>
                <a:ea typeface="+mn-ea"/>
                <a:cs typeface="+mn-cs"/>
                <a:sym typeface="Wingdings" panose="05000000000000000000" pitchFamily="2" charset="2"/>
              </a:rPr>
              <a:t></a:t>
            </a:r>
            <a:r>
              <a:rPr lang="en-US" sz="1050" kern="1200" dirty="0">
                <a:solidFill>
                  <a:schemeClr val="tx1"/>
                </a:solidFill>
                <a:effectLst/>
                <a:latin typeface="+mn-lt"/>
                <a:ea typeface="+mn-ea"/>
                <a:cs typeface="+mn-cs"/>
              </a:rPr>
              <a:t> EPS if dose is too high</a:t>
            </a:r>
          </a:p>
          <a:p>
            <a:pPr lvl="0"/>
            <a:r>
              <a:rPr lang="en-US" sz="1050" kern="1200" dirty="0">
                <a:solidFill>
                  <a:schemeClr val="tx1"/>
                </a:solidFill>
                <a:effectLst/>
                <a:latin typeface="+mn-lt"/>
                <a:ea typeface="+mn-ea"/>
                <a:cs typeface="+mn-cs"/>
              </a:rPr>
              <a:t>Does increase prolactin</a:t>
            </a:r>
          </a:p>
          <a:p>
            <a:pPr lvl="0"/>
            <a:r>
              <a:rPr lang="en-US" sz="1050" kern="1200" dirty="0">
                <a:solidFill>
                  <a:schemeClr val="tx1"/>
                </a:solidFill>
                <a:effectLst/>
                <a:latin typeface="+mn-lt"/>
                <a:ea typeface="+mn-ea"/>
                <a:cs typeface="+mn-cs"/>
              </a:rPr>
              <a:t>Good at high doses for schizophrenia and bipolar mania</a:t>
            </a:r>
          </a:p>
          <a:p>
            <a:pPr lvl="0"/>
            <a:r>
              <a:rPr lang="en-US" sz="1050" kern="1200" dirty="0">
                <a:solidFill>
                  <a:schemeClr val="tx1"/>
                </a:solidFill>
                <a:effectLst/>
                <a:latin typeface="+mn-lt"/>
                <a:ea typeface="+mn-ea"/>
                <a:cs typeface="+mn-cs"/>
              </a:rPr>
              <a:t>Lower doses for kids/teens w/ autism, etc. </a:t>
            </a:r>
          </a:p>
          <a:p>
            <a:pPr lvl="0"/>
            <a:r>
              <a:rPr lang="en-US" sz="1050" kern="1200" dirty="0">
                <a:solidFill>
                  <a:schemeClr val="tx1"/>
                </a:solidFill>
                <a:effectLst/>
                <a:latin typeface="+mn-lt"/>
                <a:ea typeface="+mn-ea"/>
                <a:cs typeface="+mn-cs"/>
              </a:rPr>
              <a:t>Rapid absorption, higher peak dose, shorter DOA and fluctuation in drug levels leads to sedation, OH. </a:t>
            </a:r>
          </a:p>
          <a:p>
            <a:pPr lvl="0"/>
            <a:r>
              <a:rPr lang="en-US" sz="1050" kern="1200" dirty="0">
                <a:solidFill>
                  <a:schemeClr val="tx1"/>
                </a:solidFill>
                <a:effectLst/>
                <a:latin typeface="+mn-lt"/>
                <a:ea typeface="+mn-ea"/>
                <a:cs typeface="+mn-cs"/>
              </a:rPr>
              <a:t>Give BID (smaller doses) when starting to help avoid peak dose effect</a:t>
            </a:r>
          </a:p>
          <a:p>
            <a:pPr lvl="0"/>
            <a:endParaRPr lang="en-US" sz="1050" kern="1200" dirty="0">
              <a:solidFill>
                <a:schemeClr val="tx1"/>
              </a:solidFill>
              <a:effectLst/>
              <a:latin typeface="+mn-lt"/>
              <a:ea typeface="+mn-ea"/>
              <a:cs typeface="+mn-cs"/>
            </a:endParaRPr>
          </a:p>
          <a:p>
            <a:r>
              <a:rPr lang="en-US" sz="1050" b="1" kern="1200" dirty="0">
                <a:solidFill>
                  <a:schemeClr val="tx1"/>
                </a:solidFill>
                <a:effectLst/>
                <a:latin typeface="+mn-lt"/>
                <a:ea typeface="+mn-ea"/>
                <a:cs typeface="+mn-cs"/>
              </a:rPr>
              <a:t>Paliperidone</a:t>
            </a:r>
            <a:endParaRPr lang="en-US" sz="1050"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Active metabolite of risperidone</a:t>
            </a:r>
          </a:p>
          <a:p>
            <a:pPr lvl="0"/>
            <a:r>
              <a:rPr lang="en-US" sz="1050" kern="1200" dirty="0">
                <a:solidFill>
                  <a:schemeClr val="tx1"/>
                </a:solidFill>
                <a:effectLst/>
                <a:latin typeface="+mn-lt"/>
                <a:ea typeface="+mn-ea"/>
                <a:cs typeface="+mn-cs"/>
              </a:rPr>
              <a:t>Few DDI because not hepatically metabolized</a:t>
            </a:r>
          </a:p>
          <a:p>
            <a:pPr lvl="0"/>
            <a:r>
              <a:rPr lang="en-US" sz="1050" kern="1200" dirty="0">
                <a:solidFill>
                  <a:schemeClr val="tx1"/>
                </a:solidFill>
                <a:effectLst/>
                <a:latin typeface="+mn-lt"/>
                <a:ea typeface="+mn-ea"/>
                <a:cs typeface="+mn-cs"/>
              </a:rPr>
              <a:t>Oral form is SR </a:t>
            </a:r>
            <a:r>
              <a:rPr lang="en-US" sz="1050" kern="1200" dirty="0">
                <a:solidFill>
                  <a:schemeClr val="tx1"/>
                </a:solidFill>
                <a:effectLst/>
                <a:latin typeface="+mn-lt"/>
                <a:ea typeface="+mn-ea"/>
                <a:cs typeface="+mn-cs"/>
                <a:sym typeface="Wingdings" panose="05000000000000000000" pitchFamily="2" charset="2"/>
              </a:rPr>
              <a:t></a:t>
            </a:r>
            <a:r>
              <a:rPr lang="en-US" sz="1050" kern="1200" dirty="0">
                <a:solidFill>
                  <a:schemeClr val="tx1"/>
                </a:solidFill>
                <a:effectLst/>
                <a:latin typeface="+mn-lt"/>
                <a:ea typeface="+mn-ea"/>
                <a:cs typeface="+mn-cs"/>
              </a:rPr>
              <a:t> don’t see OH and sedation from peak dose effect when starting (unlike with risperidone)</a:t>
            </a:r>
          </a:p>
          <a:p>
            <a:pPr lvl="0"/>
            <a:r>
              <a:rPr lang="en-US" sz="1050" kern="1200" dirty="0">
                <a:solidFill>
                  <a:schemeClr val="tx1"/>
                </a:solidFill>
                <a:effectLst/>
                <a:latin typeface="+mn-lt"/>
                <a:ea typeface="+mn-ea"/>
                <a:cs typeface="+mn-cs"/>
              </a:rPr>
              <a:t>Not 1:1 dosing with risperidone!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050" b="1" baseline="0" dirty="0"/>
          </a:p>
          <a:p>
            <a:r>
              <a:rPr lang="en-US" sz="1050" b="1" kern="1200" dirty="0" err="1">
                <a:solidFill>
                  <a:schemeClr val="tx1"/>
                </a:solidFill>
                <a:effectLst/>
                <a:latin typeface="+mn-lt"/>
                <a:ea typeface="+mn-ea"/>
                <a:cs typeface="+mn-cs"/>
              </a:rPr>
              <a:t>Lurasidone</a:t>
            </a:r>
            <a:endParaRPr lang="en-US" sz="1050"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Minimal affinity for H1, M1 </a:t>
            </a:r>
            <a:r>
              <a:rPr lang="en-US" sz="1050" kern="1200" dirty="0">
                <a:solidFill>
                  <a:schemeClr val="tx1"/>
                </a:solidFill>
                <a:effectLst/>
                <a:latin typeface="+mn-lt"/>
                <a:ea typeface="+mn-ea"/>
                <a:cs typeface="+mn-cs"/>
                <a:sym typeface="Wingdings" panose="05000000000000000000" pitchFamily="2" charset="2"/>
              </a:rPr>
              <a:t></a:t>
            </a:r>
            <a:r>
              <a:rPr lang="en-US" sz="1050" kern="1200" dirty="0">
                <a:solidFill>
                  <a:schemeClr val="tx1"/>
                </a:solidFill>
                <a:effectLst/>
                <a:latin typeface="+mn-lt"/>
                <a:ea typeface="+mn-ea"/>
                <a:cs typeface="+mn-cs"/>
              </a:rPr>
              <a:t> no sedation, especially if given at night</a:t>
            </a:r>
          </a:p>
          <a:p>
            <a:pPr lvl="0"/>
            <a:r>
              <a:rPr lang="en-US" sz="1050" kern="1200" dirty="0">
                <a:solidFill>
                  <a:schemeClr val="tx1"/>
                </a:solidFill>
                <a:effectLst/>
                <a:latin typeface="+mn-lt"/>
                <a:ea typeface="+mn-ea"/>
                <a:cs typeface="+mn-cs"/>
              </a:rPr>
              <a:t>Little/no weight gain or DLD</a:t>
            </a:r>
          </a:p>
          <a:p>
            <a:pPr lvl="0"/>
            <a:r>
              <a:rPr lang="en-US" sz="1050" kern="1200" dirty="0">
                <a:solidFill>
                  <a:schemeClr val="tx1"/>
                </a:solidFill>
                <a:effectLst/>
                <a:latin typeface="+mn-lt"/>
                <a:ea typeface="+mn-ea"/>
                <a:cs typeface="+mn-cs"/>
              </a:rPr>
              <a:t>Starting dose of 40mg is also an effective antipsychotic dose</a:t>
            </a:r>
          </a:p>
          <a:p>
            <a:pPr lvl="0"/>
            <a:r>
              <a:rPr lang="en-US" sz="1050" kern="1200" dirty="0">
                <a:solidFill>
                  <a:schemeClr val="tx1"/>
                </a:solidFill>
                <a:effectLst/>
                <a:latin typeface="+mn-lt"/>
                <a:ea typeface="+mn-ea"/>
                <a:cs typeface="+mn-cs"/>
              </a:rPr>
              <a:t>Moderate EPS, but decreases if given QHS</a:t>
            </a:r>
          </a:p>
          <a:p>
            <a:pPr lvl="0"/>
            <a:r>
              <a:rPr lang="en-US" sz="1050" kern="1200" dirty="0">
                <a:solidFill>
                  <a:schemeClr val="tx1"/>
                </a:solidFill>
                <a:effectLst/>
                <a:latin typeface="+mn-lt"/>
                <a:ea typeface="+mn-ea"/>
                <a:cs typeface="+mn-cs"/>
              </a:rPr>
              <a:t>Give with &gt;/= 500 calories (otherwise won’t be absorbed due to decreased bioavailability)</a:t>
            </a:r>
          </a:p>
          <a:p>
            <a:pPr lvl="0"/>
            <a:r>
              <a:rPr lang="en-US" sz="1050" kern="1200" dirty="0">
                <a:solidFill>
                  <a:schemeClr val="tx1"/>
                </a:solidFill>
                <a:effectLst/>
                <a:latin typeface="+mn-lt"/>
                <a:ea typeface="+mn-ea"/>
                <a:cs typeface="+mn-cs"/>
              </a:rPr>
              <a:t>No QTc concerns</a:t>
            </a:r>
          </a:p>
          <a:p>
            <a:pPr lvl="0"/>
            <a:r>
              <a:rPr lang="en-US" sz="1050" kern="1200" dirty="0">
                <a:solidFill>
                  <a:schemeClr val="tx1"/>
                </a:solidFill>
                <a:effectLst/>
                <a:latin typeface="+mn-lt"/>
                <a:ea typeface="+mn-ea"/>
                <a:cs typeface="+mn-cs"/>
              </a:rPr>
              <a:t>Also a 5HT7 antagonist </a:t>
            </a:r>
            <a:r>
              <a:rPr lang="en-US" sz="1050" kern="1200" dirty="0">
                <a:solidFill>
                  <a:schemeClr val="tx1"/>
                </a:solidFill>
                <a:effectLst/>
                <a:latin typeface="+mn-lt"/>
                <a:ea typeface="+mn-ea"/>
                <a:cs typeface="+mn-cs"/>
                <a:sym typeface="Wingdings" panose="05000000000000000000" pitchFamily="2" charset="2"/>
              </a:rPr>
              <a:t></a:t>
            </a:r>
            <a:r>
              <a:rPr lang="en-US" sz="1050" kern="1200" dirty="0">
                <a:solidFill>
                  <a:schemeClr val="tx1"/>
                </a:solidFill>
                <a:effectLst/>
                <a:latin typeface="+mn-lt"/>
                <a:ea typeface="+mn-ea"/>
                <a:cs typeface="+mn-cs"/>
              </a:rPr>
              <a:t> increased 5HT release (in brainstem)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050" b="1" baseline="0" dirty="0"/>
          </a:p>
          <a:p>
            <a:r>
              <a:rPr lang="en-US" sz="1050" b="1" kern="1200" dirty="0">
                <a:solidFill>
                  <a:schemeClr val="tx1"/>
                </a:solidFill>
                <a:effectLst/>
                <a:latin typeface="+mn-lt"/>
                <a:ea typeface="+mn-ea"/>
                <a:cs typeface="+mn-cs"/>
              </a:rPr>
              <a:t>Ziprasidone</a:t>
            </a:r>
            <a:endParaRPr lang="en-US" sz="1050"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Has 5HT2c and H1 antagonist actions</a:t>
            </a:r>
          </a:p>
          <a:p>
            <a:pPr lvl="0"/>
            <a:r>
              <a:rPr lang="en-US" sz="1050" kern="1200" dirty="0">
                <a:solidFill>
                  <a:schemeClr val="tx1"/>
                </a:solidFill>
                <a:effectLst/>
                <a:latin typeface="+mn-lt"/>
                <a:ea typeface="+mn-ea"/>
                <a:cs typeface="+mn-cs"/>
              </a:rPr>
              <a:t>Less likely to produce weight gain</a:t>
            </a:r>
          </a:p>
          <a:p>
            <a:pPr lvl="0"/>
            <a:r>
              <a:rPr lang="en-US" sz="1050" kern="1200" dirty="0">
                <a:solidFill>
                  <a:schemeClr val="tx1"/>
                </a:solidFill>
                <a:effectLst/>
                <a:latin typeface="+mn-lt"/>
                <a:ea typeface="+mn-ea"/>
                <a:cs typeface="+mn-cs"/>
              </a:rPr>
              <a:t>Little DLD, increased TRG, or insulin resistance</a:t>
            </a:r>
          </a:p>
          <a:p>
            <a:pPr lvl="0"/>
            <a:r>
              <a:rPr lang="en-US" sz="1050" kern="1200" dirty="0">
                <a:solidFill>
                  <a:schemeClr val="tx1"/>
                </a:solidFill>
                <a:effectLst/>
                <a:latin typeface="+mn-lt"/>
                <a:ea typeface="+mn-ea"/>
                <a:cs typeface="+mn-cs"/>
              </a:rPr>
              <a:t>Dose dependent QTc prolongation </a:t>
            </a:r>
            <a:r>
              <a:rPr lang="en-US" sz="1050" b="1" kern="1200" dirty="0">
                <a:solidFill>
                  <a:schemeClr val="tx1"/>
                </a:solidFill>
                <a:effectLst/>
                <a:latin typeface="+mn-lt"/>
                <a:ea typeface="+mn-ea"/>
                <a:cs typeface="+mn-cs"/>
              </a:rPr>
              <a:t>within the usual dosing range </a:t>
            </a:r>
            <a:r>
              <a:rPr lang="en-US" sz="1050" kern="1200" dirty="0">
                <a:solidFill>
                  <a:schemeClr val="tx1"/>
                </a:solidFill>
                <a:effectLst/>
                <a:latin typeface="+mn-lt"/>
                <a:ea typeface="+mn-ea"/>
                <a:cs typeface="+mn-cs"/>
              </a:rPr>
              <a:t>(meaning, if </a:t>
            </a:r>
            <a:r>
              <a:rPr lang="en-US" sz="1050" kern="1200" dirty="0" err="1">
                <a:solidFill>
                  <a:schemeClr val="tx1"/>
                </a:solidFill>
                <a:effectLst/>
                <a:latin typeface="+mn-lt"/>
                <a:ea typeface="+mn-ea"/>
                <a:cs typeface="+mn-cs"/>
              </a:rPr>
              <a:t>pt</a:t>
            </a:r>
            <a:r>
              <a:rPr lang="en-US" sz="1050" kern="1200" dirty="0">
                <a:solidFill>
                  <a:schemeClr val="tx1"/>
                </a:solidFill>
                <a:effectLst/>
                <a:latin typeface="+mn-lt"/>
                <a:ea typeface="+mn-ea"/>
                <a:cs typeface="+mn-cs"/>
              </a:rPr>
              <a:t> were to OD, don’t see extra long QTc)</a:t>
            </a:r>
          </a:p>
          <a:p>
            <a:pPr lvl="0"/>
            <a:r>
              <a:rPr lang="en-US" sz="1050" kern="1200" dirty="0">
                <a:solidFill>
                  <a:schemeClr val="tx1"/>
                </a:solidFill>
                <a:effectLst/>
                <a:latin typeface="+mn-lt"/>
                <a:ea typeface="+mn-ea"/>
                <a:cs typeface="+mn-cs"/>
              </a:rPr>
              <a:t>Give BID with &gt;/= 500 calorie meal (otherwise won’t be absorbed due to decreased bioavailability)</a:t>
            </a:r>
          </a:p>
          <a:p>
            <a:pPr lvl="0"/>
            <a:r>
              <a:rPr lang="en-US" sz="1050" b="0" i="0" u="none" strike="noStrike" kern="1200" baseline="0" dirty="0">
                <a:solidFill>
                  <a:schemeClr val="tx1"/>
                </a:solidFill>
                <a:latin typeface="+mn-lt"/>
                <a:ea typeface="+mn-ea"/>
                <a:cs typeface="+mn-cs"/>
              </a:rPr>
              <a:t>The absorption of ziprasidone is increased up to two-fold in the presence of food</a:t>
            </a:r>
            <a:endParaRPr lang="en-US" sz="1050" kern="1200" dirty="0">
              <a:solidFill>
                <a:schemeClr val="tx1"/>
              </a:solidFill>
              <a:effectLst/>
              <a:latin typeface="+mn-lt"/>
              <a:ea typeface="+mn-ea"/>
              <a:cs typeface="+mn-cs"/>
            </a:endParaRPr>
          </a:p>
          <a:p>
            <a:pPr lvl="0"/>
            <a:endParaRPr lang="en-US" sz="1050" kern="1200" dirty="0">
              <a:solidFill>
                <a:schemeClr val="tx1"/>
              </a:solidFill>
              <a:effectLst/>
              <a:latin typeface="+mn-lt"/>
              <a:ea typeface="+mn-ea"/>
              <a:cs typeface="+mn-cs"/>
            </a:endParaRPr>
          </a:p>
          <a:p>
            <a:r>
              <a:rPr lang="en-US" sz="1050" b="1" kern="1200" dirty="0">
                <a:solidFill>
                  <a:schemeClr val="tx1"/>
                </a:solidFill>
                <a:effectLst/>
                <a:latin typeface="+mn-lt"/>
                <a:ea typeface="+mn-ea"/>
                <a:cs typeface="+mn-cs"/>
              </a:rPr>
              <a:t>Iloperidone</a:t>
            </a:r>
            <a:endParaRPr lang="en-US" sz="1050"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Low level of EPS, DLD</a:t>
            </a:r>
          </a:p>
          <a:p>
            <a:pPr lvl="0"/>
            <a:r>
              <a:rPr lang="en-US" sz="1050" kern="1200" dirty="0">
                <a:solidFill>
                  <a:schemeClr val="tx1"/>
                </a:solidFill>
                <a:effectLst/>
                <a:latin typeface="+mn-lt"/>
                <a:ea typeface="+mn-ea"/>
                <a:cs typeface="+mn-cs"/>
              </a:rPr>
              <a:t>Moderate weight gain</a:t>
            </a:r>
          </a:p>
          <a:p>
            <a:pPr lvl="0"/>
            <a:r>
              <a:rPr lang="en-US" sz="1050" kern="1200" dirty="0">
                <a:solidFill>
                  <a:schemeClr val="tx1"/>
                </a:solidFill>
                <a:effectLst/>
                <a:latin typeface="+mn-lt"/>
                <a:ea typeface="+mn-ea"/>
                <a:cs typeface="+mn-cs"/>
              </a:rPr>
              <a:t>Potent alpha 1 antagonism </a:t>
            </a:r>
            <a:r>
              <a:rPr lang="en-US" sz="1050" kern="1200" dirty="0">
                <a:solidFill>
                  <a:schemeClr val="tx1"/>
                </a:solidFill>
                <a:effectLst/>
                <a:latin typeface="+mn-lt"/>
                <a:ea typeface="+mn-ea"/>
                <a:cs typeface="+mn-cs"/>
                <a:sym typeface="Wingdings" panose="05000000000000000000" pitchFamily="2" charset="2"/>
              </a:rPr>
              <a:t></a:t>
            </a:r>
            <a:r>
              <a:rPr lang="en-US" sz="1050" kern="1200" dirty="0">
                <a:solidFill>
                  <a:schemeClr val="tx1"/>
                </a:solidFill>
                <a:effectLst/>
                <a:latin typeface="+mn-lt"/>
                <a:ea typeface="+mn-ea"/>
                <a:cs typeface="+mn-cs"/>
              </a:rPr>
              <a:t> OH, sedation, especially if rapidly titrated</a:t>
            </a:r>
          </a:p>
          <a:p>
            <a:pPr lvl="0"/>
            <a:r>
              <a:rPr lang="en-US" sz="1050" kern="1200" dirty="0">
                <a:solidFill>
                  <a:schemeClr val="tx1"/>
                </a:solidFill>
                <a:effectLst/>
                <a:latin typeface="+mn-lt"/>
                <a:ea typeface="+mn-ea"/>
                <a:cs typeface="+mn-cs"/>
              </a:rPr>
              <a:t>Dosed BID and titrated over days to avoid OH, sedation, causing a slow onset of AP effects</a:t>
            </a:r>
          </a:p>
          <a:p>
            <a:pPr lvl="0"/>
            <a:r>
              <a:rPr lang="en-US" sz="1050" kern="1200" dirty="0">
                <a:solidFill>
                  <a:schemeClr val="tx1"/>
                </a:solidFill>
                <a:effectLst/>
                <a:latin typeface="+mn-lt"/>
                <a:ea typeface="+mn-ea"/>
                <a:cs typeface="+mn-cs"/>
              </a:rPr>
              <a:t>Often used as a switch in non-urgent situations</a:t>
            </a:r>
          </a:p>
          <a:p>
            <a:pPr lvl="0"/>
            <a:r>
              <a:rPr lang="en-US" sz="1050" kern="1200" dirty="0">
                <a:solidFill>
                  <a:schemeClr val="tx1"/>
                </a:solidFill>
                <a:effectLst/>
                <a:latin typeface="+mn-lt"/>
                <a:ea typeface="+mn-ea"/>
                <a:cs typeface="+mn-cs"/>
              </a:rPr>
              <a:t>Dose dependent QTc prolongation</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25</a:t>
            </a:fld>
            <a:endParaRPr lang="en-US"/>
          </a:p>
        </p:txBody>
      </p:sp>
    </p:spTree>
    <p:extLst>
      <p:ext uri="{BB962C8B-B14F-4D97-AF65-F5344CB8AC3E}">
        <p14:creationId xmlns:p14="http://schemas.microsoft.com/office/powerpoint/2010/main" val="11771314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050" b="1" kern="1200" dirty="0">
                <a:solidFill>
                  <a:schemeClr val="tx1"/>
                </a:solidFill>
                <a:effectLst/>
                <a:latin typeface="+mn-lt"/>
                <a:ea typeface="+mn-ea"/>
                <a:cs typeface="+mn-cs"/>
              </a:rPr>
              <a:t>Aripiprazole</a:t>
            </a:r>
            <a:endParaRPr lang="en-US" sz="1050"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D2 partial agonist: decreased EPS</a:t>
            </a:r>
          </a:p>
          <a:p>
            <a:pPr lvl="0"/>
            <a:r>
              <a:rPr lang="en-US" sz="1050" kern="1200" dirty="0">
                <a:solidFill>
                  <a:schemeClr val="tx1"/>
                </a:solidFill>
                <a:effectLst/>
                <a:latin typeface="+mn-lt"/>
                <a:ea typeface="+mn-ea"/>
                <a:cs typeface="+mn-cs"/>
              </a:rPr>
              <a:t>Also has antidepressant activity (used at lower doses, 2.5mg)</a:t>
            </a:r>
          </a:p>
          <a:p>
            <a:pPr lvl="0"/>
            <a:r>
              <a:rPr lang="en-US" sz="1050" kern="1200" dirty="0">
                <a:solidFill>
                  <a:schemeClr val="tx1"/>
                </a:solidFill>
                <a:effectLst/>
                <a:latin typeface="+mn-lt"/>
                <a:ea typeface="+mn-ea"/>
                <a:cs typeface="+mn-cs"/>
              </a:rPr>
              <a:t>5HT1a partial agonist</a:t>
            </a:r>
          </a:p>
          <a:p>
            <a:pPr lvl="0"/>
            <a:r>
              <a:rPr lang="en-US" sz="1050" kern="1200" dirty="0">
                <a:solidFill>
                  <a:schemeClr val="tx1"/>
                </a:solidFill>
                <a:effectLst/>
                <a:latin typeface="+mn-lt"/>
                <a:ea typeface="+mn-ea"/>
                <a:cs typeface="+mn-cs"/>
              </a:rPr>
              <a:t>Not sedating (lacks M1, H1 activity). Has “activating” properties due to D2 partial agonist (maybe too much agonist vs. antagonist?). Akathisia thought to be due to too much antagonist activity (on spectrum)</a:t>
            </a:r>
          </a:p>
          <a:p>
            <a:pPr lvl="0"/>
            <a:r>
              <a:rPr lang="en-US" sz="1050" kern="1200" dirty="0">
                <a:solidFill>
                  <a:schemeClr val="tx1"/>
                </a:solidFill>
                <a:effectLst/>
                <a:latin typeface="+mn-lt"/>
                <a:ea typeface="+mn-ea"/>
                <a:cs typeface="+mn-cs"/>
              </a:rPr>
              <a:t>Akathisia depends on dose and diagnosis (Schizophrenia: similar rates to placebo, started at 15mg; Bipolar: 25% incidence w/</a:t>
            </a:r>
            <a:r>
              <a:rPr lang="en-US" sz="1050" kern="1200" dirty="0" err="1">
                <a:solidFill>
                  <a:schemeClr val="tx1"/>
                </a:solidFill>
                <a:effectLst/>
                <a:latin typeface="+mn-lt"/>
                <a:ea typeface="+mn-ea"/>
                <a:cs typeface="+mn-cs"/>
              </a:rPr>
              <a:t>aripip</a:t>
            </a:r>
            <a:r>
              <a:rPr lang="en-US" sz="1050" kern="1200" dirty="0">
                <a:solidFill>
                  <a:schemeClr val="tx1"/>
                </a:solidFill>
                <a:effectLst/>
                <a:latin typeface="+mn-lt"/>
                <a:ea typeface="+mn-ea"/>
                <a:cs typeface="+mn-cs"/>
              </a:rPr>
              <a:t>, started w/30mg)</a:t>
            </a:r>
          </a:p>
          <a:p>
            <a:pPr lvl="0"/>
            <a:r>
              <a:rPr lang="en-US" sz="1050" kern="1200" dirty="0">
                <a:solidFill>
                  <a:schemeClr val="tx1"/>
                </a:solidFill>
                <a:effectLst/>
                <a:latin typeface="+mn-lt"/>
                <a:ea typeface="+mn-ea"/>
                <a:cs typeface="+mn-cs"/>
              </a:rPr>
              <a:t>Note: propranolol NOT effective in aripiprazole mediated akathisia in pts w/schizophrenia; diphenhydramine works better per studies</a:t>
            </a:r>
          </a:p>
          <a:p>
            <a:pPr lvl="0"/>
            <a:r>
              <a:rPr lang="en-US" sz="1050" kern="1200" dirty="0">
                <a:solidFill>
                  <a:schemeClr val="tx1"/>
                </a:solidFill>
                <a:effectLst/>
                <a:latin typeface="+mn-lt"/>
                <a:ea typeface="+mn-ea"/>
                <a:cs typeface="+mn-cs"/>
              </a:rPr>
              <a:t>High doses might not have enough AP efficacy in hard to treat patients</a:t>
            </a:r>
          </a:p>
          <a:p>
            <a:pPr lvl="0"/>
            <a:r>
              <a:rPr lang="en-US" sz="1050" kern="1200" dirty="0">
                <a:solidFill>
                  <a:schemeClr val="tx1"/>
                </a:solidFill>
                <a:effectLst/>
                <a:latin typeface="+mn-lt"/>
                <a:ea typeface="+mn-ea"/>
                <a:cs typeface="+mn-cs"/>
              </a:rPr>
              <a:t>Little weight gain, DLD; can cause N/V</a:t>
            </a:r>
          </a:p>
          <a:p>
            <a:pPr lvl="0"/>
            <a:endParaRPr lang="en-US" sz="1050" kern="1200" dirty="0">
              <a:solidFill>
                <a:schemeClr val="tx1"/>
              </a:solidFill>
              <a:effectLst/>
              <a:latin typeface="+mn-lt"/>
              <a:ea typeface="+mn-ea"/>
              <a:cs typeface="+mn-cs"/>
            </a:endParaRPr>
          </a:p>
          <a:p>
            <a:r>
              <a:rPr lang="en-US" sz="1050" b="1" kern="1200" dirty="0" err="1">
                <a:solidFill>
                  <a:schemeClr val="tx1"/>
                </a:solidFill>
                <a:effectLst/>
                <a:latin typeface="+mn-lt"/>
                <a:ea typeface="+mn-ea"/>
                <a:cs typeface="+mn-cs"/>
              </a:rPr>
              <a:t>Brexpiprazole</a:t>
            </a:r>
            <a:endParaRPr lang="en-US" sz="1050"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More D2 antagonism than aripiprazole </a:t>
            </a:r>
          </a:p>
          <a:p>
            <a:pPr lvl="0"/>
            <a:r>
              <a:rPr lang="en-US" sz="1050" kern="1200" dirty="0">
                <a:solidFill>
                  <a:schemeClr val="tx1"/>
                </a:solidFill>
                <a:effectLst/>
                <a:latin typeface="+mn-lt"/>
                <a:ea typeface="+mn-ea"/>
                <a:cs typeface="+mn-cs"/>
              </a:rPr>
              <a:t>More potent 5HT2a antagonism, 5HT1a partial agonism, and alpha1 antagonism compared to D2 partial agonism </a:t>
            </a:r>
            <a:r>
              <a:rPr lang="en-US" sz="1050" kern="1200" dirty="0">
                <a:solidFill>
                  <a:schemeClr val="tx1"/>
                </a:solidFill>
                <a:effectLst/>
                <a:latin typeface="+mn-lt"/>
                <a:ea typeface="+mn-ea"/>
                <a:cs typeface="+mn-cs"/>
                <a:sym typeface="Wingdings" panose="05000000000000000000" pitchFamily="2" charset="2"/>
              </a:rPr>
              <a:t></a:t>
            </a:r>
            <a:r>
              <a:rPr lang="en-US" sz="1050" kern="1200" dirty="0">
                <a:solidFill>
                  <a:schemeClr val="tx1"/>
                </a:solidFill>
                <a:effectLst/>
                <a:latin typeface="+mn-lt"/>
                <a:ea typeface="+mn-ea"/>
                <a:cs typeface="+mn-cs"/>
              </a:rPr>
              <a:t> increased AP properties, very low EPS, rare akathisia, more favorable tolerability</a:t>
            </a:r>
          </a:p>
          <a:p>
            <a:pPr lvl="0"/>
            <a:endParaRPr lang="en-US" sz="1050" kern="1200" dirty="0">
              <a:solidFill>
                <a:schemeClr val="tx1"/>
              </a:solidFill>
              <a:effectLst/>
              <a:latin typeface="+mn-lt"/>
              <a:ea typeface="+mn-ea"/>
              <a:cs typeface="+mn-cs"/>
            </a:endParaRPr>
          </a:p>
          <a:p>
            <a:r>
              <a:rPr lang="en-US" sz="1050" b="1" kern="1200" dirty="0" err="1">
                <a:solidFill>
                  <a:schemeClr val="tx1"/>
                </a:solidFill>
                <a:effectLst/>
                <a:latin typeface="+mn-lt"/>
                <a:ea typeface="+mn-ea"/>
                <a:cs typeface="+mn-cs"/>
              </a:rPr>
              <a:t>Cariprazine</a:t>
            </a:r>
            <a:endParaRPr lang="en-US" sz="1050" kern="1200" dirty="0">
              <a:solidFill>
                <a:schemeClr val="tx1"/>
              </a:solidFill>
              <a:effectLst/>
              <a:latin typeface="+mn-lt"/>
              <a:ea typeface="+mn-ea"/>
              <a:cs typeface="+mn-cs"/>
            </a:endParaRPr>
          </a:p>
          <a:p>
            <a:pPr lvl="0"/>
            <a:r>
              <a:rPr lang="en-US" sz="1050" kern="1200" dirty="0">
                <a:solidFill>
                  <a:schemeClr val="tx1"/>
                </a:solidFill>
                <a:effectLst/>
                <a:latin typeface="+mn-lt"/>
                <a:ea typeface="+mn-ea"/>
                <a:cs typeface="+mn-cs"/>
              </a:rPr>
              <a:t>D2 partial agonist, more antagonist than aripiprazole</a:t>
            </a:r>
          </a:p>
          <a:p>
            <a:pPr lvl="0"/>
            <a:r>
              <a:rPr lang="en-US" sz="1050" kern="1200" dirty="0">
                <a:solidFill>
                  <a:schemeClr val="tx1"/>
                </a:solidFill>
                <a:effectLst/>
                <a:latin typeface="+mn-lt"/>
                <a:ea typeface="+mn-ea"/>
                <a:cs typeface="+mn-cs"/>
              </a:rPr>
              <a:t>Has 2 long acting active metabolites</a:t>
            </a:r>
          </a:p>
          <a:p>
            <a:pPr lvl="0"/>
            <a:r>
              <a:rPr lang="en-US" sz="1050" kern="1200" dirty="0">
                <a:solidFill>
                  <a:schemeClr val="tx1"/>
                </a:solidFill>
                <a:effectLst/>
                <a:latin typeface="+mn-lt"/>
                <a:ea typeface="+mn-ea"/>
                <a:cs typeface="+mn-cs"/>
              </a:rPr>
              <a:t>Potent 5HT1a partial agonist </a:t>
            </a:r>
            <a:r>
              <a:rPr lang="en-US" sz="1050" kern="1200" dirty="0">
                <a:solidFill>
                  <a:schemeClr val="tx1"/>
                </a:solidFill>
                <a:effectLst/>
                <a:latin typeface="+mn-lt"/>
                <a:ea typeface="+mn-ea"/>
                <a:cs typeface="+mn-cs"/>
                <a:sym typeface="Wingdings" panose="05000000000000000000" pitchFamily="2" charset="2"/>
              </a:rPr>
              <a:t></a:t>
            </a:r>
            <a:r>
              <a:rPr lang="en-US" sz="1050" kern="1200" dirty="0">
                <a:solidFill>
                  <a:schemeClr val="tx1"/>
                </a:solidFill>
                <a:effectLst/>
                <a:latin typeface="+mn-lt"/>
                <a:ea typeface="+mn-ea"/>
                <a:cs typeface="+mn-cs"/>
              </a:rPr>
              <a:t> low EPS</a:t>
            </a:r>
          </a:p>
          <a:p>
            <a:pPr lvl="0"/>
            <a:r>
              <a:rPr lang="en-US" sz="1050" kern="1200" dirty="0">
                <a:solidFill>
                  <a:schemeClr val="tx1"/>
                </a:solidFill>
                <a:effectLst/>
                <a:latin typeface="+mn-lt"/>
                <a:ea typeface="+mn-ea"/>
                <a:cs typeface="+mn-cs"/>
              </a:rPr>
              <a:t>Has more affinity for D3 than D2 (D3 exact role unknown, may have effects on cognition, mood, emotion, reward)</a:t>
            </a:r>
            <a:endParaRPr lang="en-US" sz="1050"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26</a:t>
            </a:fld>
            <a:endParaRPr lang="en-US"/>
          </a:p>
        </p:txBody>
      </p:sp>
    </p:spTree>
    <p:extLst>
      <p:ext uri="{BB962C8B-B14F-4D97-AF65-F5344CB8AC3E}">
        <p14:creationId xmlns:p14="http://schemas.microsoft.com/office/powerpoint/2010/main" val="29763948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Estimated adherence rate &lt;60%</a:t>
            </a:r>
          </a:p>
          <a:p>
            <a:r>
              <a:rPr lang="en-US" dirty="0"/>
              <a:t>Data to support that</a:t>
            </a:r>
            <a:r>
              <a:rPr lang="en-US" baseline="0" dirty="0"/>
              <a:t> this formulation can be effective in promoting compliance</a:t>
            </a:r>
          </a:p>
          <a:p>
            <a:r>
              <a:rPr lang="en-US" baseline="0" dirty="0"/>
              <a:t>We don’t want to wait until a patient becomes non-compliant before they get started on these if possible</a:t>
            </a:r>
          </a:p>
          <a:p>
            <a:r>
              <a:rPr lang="en-US" baseline="0" dirty="0"/>
              <a:t>b/c we know that in schizophrenia, the more relapses, the worse a patients outcomes…often they don’t always “bounce back” to previous state</a:t>
            </a:r>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27</a:t>
            </a:fld>
            <a:endParaRPr lang="en-US"/>
          </a:p>
        </p:txBody>
      </p:sp>
    </p:spTree>
    <p:extLst>
      <p:ext uri="{BB962C8B-B14F-4D97-AF65-F5344CB8AC3E}">
        <p14:creationId xmlns:p14="http://schemas.microsoft.com/office/powerpoint/2010/main" val="3239632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Must do PO overlap with fluphenazine. Can’t load!</a:t>
            </a:r>
          </a:p>
          <a:p>
            <a:r>
              <a:rPr lang="en-US" baseline="0" dirty="0"/>
              <a:t>Fluphenazine: Can’t load due to erratic absorption, don’t know what you will get. Risk of “dose dumping” where </a:t>
            </a:r>
            <a:r>
              <a:rPr lang="en-US" baseline="0" dirty="0" err="1"/>
              <a:t>pt</a:t>
            </a:r>
            <a:r>
              <a:rPr lang="en-US" baseline="0" dirty="0"/>
              <a:t> gets all of the drug at once, which can cause dystonia</a:t>
            </a:r>
          </a:p>
          <a:p>
            <a:r>
              <a:rPr lang="en-US" baseline="0" dirty="0"/>
              <a:t>10mg PO = 12.5mg IM every 3 weeks </a:t>
            </a:r>
          </a:p>
          <a:p>
            <a:r>
              <a:rPr lang="en-US" baseline="0" dirty="0"/>
              <a:t>(Or x1.25)</a:t>
            </a:r>
          </a:p>
          <a:p>
            <a:endParaRPr lang="en-US" baseline="0" dirty="0"/>
          </a:p>
          <a:p>
            <a:r>
              <a:rPr lang="en-US" baseline="0" dirty="0"/>
              <a:t>Notice the mechanism of long acting– these are oil based products! Called flip-flop pharmacokinetics </a:t>
            </a:r>
          </a:p>
          <a:p>
            <a:r>
              <a:rPr lang="en-US" baseline="0" dirty="0"/>
              <a:t>---active drug must leave the oil over a sustained period of time </a:t>
            </a:r>
          </a:p>
          <a:p>
            <a:r>
              <a:rPr lang="en-US" baseline="0" dirty="0"/>
              <a:t>---concern with pts with nut allergies</a:t>
            </a:r>
          </a:p>
          <a:p>
            <a:r>
              <a:rPr lang="en-US" baseline="0" dirty="0"/>
              <a:t>---painful injections </a:t>
            </a:r>
          </a:p>
          <a:p>
            <a:r>
              <a:rPr lang="en-US" baseline="0" dirty="0"/>
              <a:t>---can produce “tumor-like” oil filled pockets in </a:t>
            </a:r>
            <a:r>
              <a:rPr lang="en-US" baseline="0" dirty="0" err="1"/>
              <a:t>pt</a:t>
            </a:r>
            <a:r>
              <a:rPr lang="en-US" baseline="0" dirty="0"/>
              <a:t> where the injection is placed, also be aware not to </a:t>
            </a:r>
            <a:r>
              <a:rPr lang="en-US" baseline="0" dirty="0" err="1"/>
              <a:t>inj</a:t>
            </a:r>
            <a:r>
              <a:rPr lang="en-US" baseline="0" dirty="0"/>
              <a:t> into this site with a subsequent </a:t>
            </a:r>
            <a:r>
              <a:rPr lang="en-US" baseline="0" dirty="0" err="1"/>
              <a:t>inj</a:t>
            </a:r>
            <a:endParaRPr lang="en-US" baseline="0" dirty="0"/>
          </a:p>
          <a:p>
            <a:r>
              <a:rPr lang="en-US" baseline="0" dirty="0"/>
              <a:t>	</a:t>
            </a:r>
          </a:p>
          <a:p>
            <a:pPr rtl="0" eaLnBrk="1" fontAlgn="ctr" latinLnBrk="0" hangingPunct="1"/>
            <a:r>
              <a:rPr lang="en-US" sz="1200" b="1" i="0" u="none" strike="noStrike" kern="1200" dirty="0">
                <a:solidFill>
                  <a:schemeClr val="tx1"/>
                </a:solidFill>
                <a:effectLst/>
                <a:latin typeface="+mn-lt"/>
                <a:ea typeface="+mn-ea"/>
                <a:cs typeface="+mn-cs"/>
              </a:rPr>
              <a:t>Mechanism</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Esterified with sesame</a:t>
            </a:r>
            <a:r>
              <a:rPr lang="en-US" sz="1200" b="0" i="0" u="none" strike="noStrike" kern="1200" baseline="0" dirty="0">
                <a:solidFill>
                  <a:schemeClr val="tx1"/>
                </a:solidFill>
                <a:effectLst/>
                <a:latin typeface="+mn-lt"/>
                <a:ea typeface="+mn-ea"/>
                <a:cs typeface="+mn-cs"/>
              </a:rPr>
              <a:t> oil, absorption slower than elimination</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Same</a:t>
            </a:r>
            <a:r>
              <a:rPr lang="en-US" sz="1200" b="0" i="0" u="none" strike="noStrike" kern="1200" baseline="0" dirty="0">
                <a:solidFill>
                  <a:schemeClr val="tx1"/>
                </a:solidFill>
                <a:effectLst/>
                <a:latin typeface="+mn-lt"/>
                <a:ea typeface="+mn-ea"/>
                <a:cs typeface="+mn-cs"/>
              </a:rPr>
              <a:t> as haloperidol</a:t>
            </a:r>
            <a:endParaRPr lang="en-US" sz="1200" b="0" i="0" u="none" strike="noStrike" kern="1200" dirty="0">
              <a:solidFill>
                <a:schemeClr val="tx1"/>
              </a:solidFill>
              <a:effectLst/>
              <a:latin typeface="+mn-lt"/>
              <a:ea typeface="+mn-ea"/>
              <a:cs typeface="+mn-cs"/>
            </a:endParaRP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28</a:t>
            </a:fld>
            <a:endParaRPr lang="en-US"/>
          </a:p>
        </p:txBody>
      </p:sp>
    </p:spTree>
    <p:extLst>
      <p:ext uri="{BB962C8B-B14F-4D97-AF65-F5344CB8AC3E}">
        <p14:creationId xmlns:p14="http://schemas.microsoft.com/office/powerpoint/2010/main" val="13920484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Risperidone</a:t>
            </a:r>
            <a:r>
              <a:rPr lang="en-US" dirty="0"/>
              <a:t>:</a:t>
            </a:r>
            <a:r>
              <a:rPr lang="en-US" baseline="0" dirty="0"/>
              <a:t> clinical practice is to PO overlap for 4-6 weeks </a:t>
            </a:r>
            <a:endParaRPr lang="en-US" dirty="0"/>
          </a:p>
          <a:p>
            <a:endParaRPr lang="en-US" dirty="0"/>
          </a:p>
          <a:p>
            <a:r>
              <a:rPr lang="en-US" b="1" dirty="0" err="1"/>
              <a:t>Invega</a:t>
            </a:r>
            <a:r>
              <a:rPr lang="en-US" b="1" dirty="0"/>
              <a:t> </a:t>
            </a:r>
            <a:r>
              <a:rPr lang="en-US" b="1" dirty="0" err="1"/>
              <a:t>Trinza</a:t>
            </a:r>
            <a:r>
              <a:rPr lang="en-US" b="1" dirty="0"/>
              <a:t>- </a:t>
            </a:r>
            <a:r>
              <a:rPr lang="en-US" dirty="0">
                <a:effectLst/>
              </a:rPr>
              <a:t>used only after monthly IM </a:t>
            </a:r>
            <a:r>
              <a:rPr lang="en-US" dirty="0" err="1">
                <a:effectLst/>
              </a:rPr>
              <a:t>paliperidone</a:t>
            </a:r>
            <a:r>
              <a:rPr lang="en-US" dirty="0">
                <a:effectLst/>
              </a:rPr>
              <a:t> (</a:t>
            </a:r>
            <a:r>
              <a:rPr lang="en-US" dirty="0" err="1">
                <a:effectLst/>
              </a:rPr>
              <a:t>Invega</a:t>
            </a:r>
            <a:r>
              <a:rPr lang="en-US" dirty="0">
                <a:effectLst/>
              </a:rPr>
              <a:t> </a:t>
            </a:r>
            <a:r>
              <a:rPr lang="en-US" dirty="0" err="1">
                <a:effectLst/>
              </a:rPr>
              <a:t>Sustenna</a:t>
            </a:r>
            <a:r>
              <a:rPr lang="en-US" dirty="0">
                <a:effectLst/>
              </a:rPr>
              <a:t>) has been established as adequate treatment for at least 4 months. The last 2 doses of monthly IM </a:t>
            </a:r>
            <a:r>
              <a:rPr lang="en-US" dirty="0" err="1">
                <a:effectLst/>
              </a:rPr>
              <a:t>paliperidone</a:t>
            </a:r>
            <a:r>
              <a:rPr lang="en-US" dirty="0">
                <a:effectLst/>
              </a:rPr>
              <a:t> should be the same dosage strength before starting 3-month IM </a:t>
            </a:r>
            <a:r>
              <a:rPr lang="en-US" dirty="0" err="1">
                <a:effectLst/>
              </a:rPr>
              <a:t>paliperidone</a:t>
            </a:r>
            <a:r>
              <a:rPr lang="en-US" dirty="0">
                <a:effectLst/>
              </a:rPr>
              <a:t>. Initiate 3-month IM </a:t>
            </a:r>
            <a:r>
              <a:rPr lang="en-US" dirty="0" err="1">
                <a:effectLst/>
              </a:rPr>
              <a:t>paliperidone</a:t>
            </a:r>
            <a:r>
              <a:rPr lang="en-US" dirty="0">
                <a:effectLst/>
              </a:rPr>
              <a:t> when the next monthly IM </a:t>
            </a:r>
            <a:r>
              <a:rPr lang="en-US" dirty="0" err="1">
                <a:effectLst/>
              </a:rPr>
              <a:t>paliperidone</a:t>
            </a:r>
            <a:r>
              <a:rPr lang="en-US" dirty="0">
                <a:effectLst/>
              </a:rPr>
              <a:t> dose is scheduled.</a:t>
            </a:r>
            <a:endParaRPr lang="en-US" b="1" dirty="0"/>
          </a:p>
          <a:p>
            <a:endParaRPr lang="en-US" dirty="0"/>
          </a:p>
          <a:p>
            <a:pPr rtl="0" eaLnBrk="1" fontAlgn="ctr" latinLnBrk="0" hangingPunct="1"/>
            <a:r>
              <a:rPr lang="en-US" sz="1200" b="1" i="0" u="none" strike="noStrike" kern="1200" dirty="0">
                <a:solidFill>
                  <a:schemeClr val="tx1"/>
                </a:solidFill>
                <a:effectLst/>
                <a:latin typeface="+mn-lt"/>
                <a:ea typeface="+mn-ea"/>
                <a:cs typeface="+mn-cs"/>
              </a:rPr>
              <a:t>Mechanism</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Encapsulated microspheres</a:t>
            </a:r>
          </a:p>
          <a:p>
            <a:pPr rtl="0" eaLnBrk="1" fontAlgn="auto" latinLnBrk="0" hangingPunct="1"/>
            <a:r>
              <a:rPr lang="en-US" sz="1200" b="0" i="0" u="none" strike="noStrike" kern="1200" dirty="0">
                <a:solidFill>
                  <a:schemeClr val="tx1"/>
                </a:solidFill>
                <a:effectLst/>
                <a:latin typeface="+mn-lt"/>
                <a:ea typeface="+mn-ea"/>
                <a:cs typeface="+mn-cs"/>
              </a:rPr>
              <a:t>Crystallized nanoparticles</a:t>
            </a:r>
          </a:p>
          <a:p>
            <a:pPr rtl="0" eaLnBrk="1" fontAlgn="auto" latinLnBrk="0" hangingPunct="1"/>
            <a:r>
              <a:rPr lang="en-US" sz="1200" b="0" i="0" u="none" strike="noStrike" kern="1200" dirty="0">
                <a:solidFill>
                  <a:schemeClr val="tx1"/>
                </a:solidFill>
                <a:effectLst/>
                <a:latin typeface="+mn-lt"/>
                <a:ea typeface="+mn-ea"/>
                <a:cs typeface="+mn-cs"/>
              </a:rPr>
              <a:t>Nanoparticles</a:t>
            </a:r>
            <a:r>
              <a:rPr lang="en-US" sz="1200" b="0" i="0" u="none" strike="noStrike" kern="1200" baseline="0" dirty="0">
                <a:solidFill>
                  <a:schemeClr val="tx1"/>
                </a:solidFill>
                <a:effectLst/>
                <a:latin typeface="+mn-lt"/>
                <a:ea typeface="+mn-ea"/>
                <a:cs typeface="+mn-cs"/>
              </a:rPr>
              <a:t> </a:t>
            </a: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29</a:t>
            </a:fld>
            <a:endParaRPr lang="en-US"/>
          </a:p>
        </p:txBody>
      </p:sp>
    </p:spTree>
    <p:extLst>
      <p:ext uri="{BB962C8B-B14F-4D97-AF65-F5344CB8AC3E}">
        <p14:creationId xmlns:p14="http://schemas.microsoft.com/office/powerpoint/2010/main" val="6394823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1" baseline="0" dirty="0" err="1"/>
              <a:t>Aristada</a:t>
            </a:r>
            <a:r>
              <a:rPr lang="en-US" b="1" baseline="0" dirty="0"/>
              <a:t> INITIO: </a:t>
            </a:r>
            <a:r>
              <a:rPr lang="en-US" b="1" baseline="0" dirty="0" err="1"/>
              <a:t>NanoCrystal</a:t>
            </a:r>
            <a:r>
              <a:rPr lang="en-US" b="1" baseline="0" dirty="0"/>
              <a:t> technology, designed to provide an ER formulation using a smaller particle size of aripiprazole </a:t>
            </a:r>
            <a:r>
              <a:rPr lang="en-US" b="1" baseline="0" dirty="0" err="1"/>
              <a:t>lauroxil</a:t>
            </a:r>
            <a:r>
              <a:rPr lang="en-US" b="1" baseline="0" dirty="0"/>
              <a:t> compared to </a:t>
            </a:r>
            <a:r>
              <a:rPr lang="en-US" b="1" baseline="0" dirty="0" err="1"/>
              <a:t>Aristada</a:t>
            </a:r>
            <a:r>
              <a:rPr lang="en-US" b="1" baseline="0" dirty="0"/>
              <a:t>, thereby enabling faster dissolution and leading to more rapid achievement of relevant levels of aripiprazole</a:t>
            </a:r>
          </a:p>
          <a:p>
            <a:r>
              <a:rPr lang="en-US" b="1" baseline="0" dirty="0"/>
              <a:t>Olanzapine</a:t>
            </a:r>
            <a:r>
              <a:rPr lang="en-US" baseline="0" dirty="0"/>
              <a:t>--post inject delirium syndrome---concern over “drug dumping” too quickly. </a:t>
            </a:r>
            <a:r>
              <a:rPr lang="en-US" b="1" baseline="0" dirty="0"/>
              <a:t>Has REMS program, </a:t>
            </a:r>
            <a:r>
              <a:rPr lang="en-US" b="1" baseline="0" dirty="0" err="1"/>
              <a:t>pt</a:t>
            </a:r>
            <a:r>
              <a:rPr lang="en-US" b="1" baseline="0" dirty="0"/>
              <a:t> must have a driver take them to the appt. </a:t>
            </a:r>
          </a:p>
          <a:p>
            <a:r>
              <a:rPr lang="en-US" b="1" baseline="0" dirty="0">
                <a:sym typeface="Wingdings" panose="05000000000000000000" pitchFamily="2" charset="2"/>
              </a:rPr>
              <a:t>	 Why? </a:t>
            </a:r>
            <a:r>
              <a:rPr lang="en-US" b="0" baseline="0" dirty="0">
                <a:sym typeface="Wingdings" panose="05000000000000000000" pitchFamily="2" charset="2"/>
              </a:rPr>
              <a:t>Nurse hits the vasculature…</a:t>
            </a:r>
          </a:p>
          <a:p>
            <a:endParaRPr lang="en-US" b="0" baseline="0" dirty="0">
              <a:sym typeface="Wingdings" panose="05000000000000000000" pitchFamily="2" charset="2"/>
            </a:endParaRPr>
          </a:p>
          <a:p>
            <a:r>
              <a:rPr lang="en-US" b="0" baseline="0" dirty="0" err="1">
                <a:sym typeface="Wingdings" panose="05000000000000000000" pitchFamily="2" charset="2"/>
              </a:rPr>
              <a:t>Aristada</a:t>
            </a:r>
            <a:r>
              <a:rPr lang="en-US" b="0" baseline="0" dirty="0">
                <a:sym typeface="Wingdings" panose="05000000000000000000" pitchFamily="2" charset="2"/>
              </a:rPr>
              <a:t> Initio: single dose to initiate treatment or to reinitiate following a missed dose of </a:t>
            </a:r>
            <a:r>
              <a:rPr lang="en-US" b="0" baseline="0" dirty="0" err="1">
                <a:sym typeface="Wingdings" panose="05000000000000000000" pitchFamily="2" charset="2"/>
              </a:rPr>
              <a:t>aristada</a:t>
            </a:r>
            <a:r>
              <a:rPr lang="en-US" b="0" baseline="0" dirty="0">
                <a:sym typeface="Wingdings" panose="05000000000000000000" pitchFamily="2" charset="2"/>
              </a:rPr>
              <a:t>. NOT intended for repeat dosing! Do not give</a:t>
            </a:r>
            <a:endParaRPr lang="en-US" b="1" baseline="0" dirty="0"/>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err="1"/>
              <a:t>LinkeRx</a:t>
            </a:r>
            <a:r>
              <a:rPr lang="en-US" sz="1200" b="1" dirty="0">
                <a:latin typeface="+mn-lt"/>
                <a:ea typeface="Calibri"/>
                <a:cs typeface="Times New Roman"/>
              </a:rPr>
              <a:t>®:</a:t>
            </a:r>
            <a:r>
              <a:rPr lang="en-US" sz="1200" b="1" baseline="0" dirty="0">
                <a:latin typeface="+mn-lt"/>
                <a:ea typeface="Calibri"/>
                <a:cs typeface="Times New Roman"/>
              </a:rPr>
              <a:t> a linker is used to attach aripiprazole to a fatty acid. When </a:t>
            </a:r>
            <a:r>
              <a:rPr lang="en-US" sz="1200" b="1" baseline="0" dirty="0" err="1">
                <a:latin typeface="+mn-lt"/>
                <a:ea typeface="Calibri"/>
                <a:cs typeface="Times New Roman"/>
              </a:rPr>
              <a:t>aristada</a:t>
            </a:r>
            <a:r>
              <a:rPr lang="en-US" sz="1200" b="1" baseline="0" dirty="0">
                <a:latin typeface="+mn-lt"/>
                <a:ea typeface="Calibri"/>
                <a:cs typeface="Times New Roman"/>
              </a:rPr>
              <a:t> is dissolved in the body, enzymes cleave the fatty acid from the linker. The linker then reacts with water, leaving free aripiprazole for sustained release action. </a:t>
            </a:r>
            <a:endParaRPr lang="en-US" sz="1200" b="1" dirty="0">
              <a:latin typeface="+mn-lt"/>
              <a:ea typeface="Calibri"/>
              <a:cs typeface="Times New Roman"/>
            </a:endParaRPr>
          </a:p>
          <a:p>
            <a:endParaRPr lang="en-US" dirty="0"/>
          </a:p>
          <a:p>
            <a:pPr rtl="0" eaLnBrk="1" fontAlgn="ctr" latinLnBrk="0" hangingPunct="1"/>
            <a:r>
              <a:rPr lang="en-US" sz="1200" b="1" i="0" u="none" strike="noStrike" kern="1200" dirty="0">
                <a:solidFill>
                  <a:schemeClr val="tx1"/>
                </a:solidFill>
                <a:effectLst/>
                <a:latin typeface="+mn-lt"/>
                <a:ea typeface="+mn-ea"/>
                <a:cs typeface="+mn-cs"/>
              </a:rPr>
              <a:t>Mechanism</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Micron-sized salt crystals</a:t>
            </a:r>
          </a:p>
          <a:p>
            <a:pPr rtl="0" eaLnBrk="1" fontAlgn="ctr" latinLnBrk="0" hangingPunct="1"/>
            <a:r>
              <a:rPr lang="en-US" sz="1200" b="0" i="0" u="none" strike="noStrike" kern="1200" dirty="0">
                <a:solidFill>
                  <a:schemeClr val="tx1"/>
                </a:solidFill>
                <a:effectLst/>
                <a:latin typeface="+mn-lt"/>
                <a:ea typeface="+mn-ea"/>
                <a:cs typeface="+mn-cs"/>
              </a:rPr>
              <a:t>Lyophilized</a:t>
            </a:r>
            <a:r>
              <a:rPr lang="en-US" sz="1200" b="0" i="0" u="none" strike="noStrike" kern="1200" baseline="0" dirty="0">
                <a:solidFill>
                  <a:schemeClr val="tx1"/>
                </a:solidFill>
                <a:effectLst/>
                <a:latin typeface="+mn-lt"/>
                <a:ea typeface="+mn-ea"/>
                <a:cs typeface="+mn-cs"/>
              </a:rPr>
              <a:t> powder</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err="1">
                <a:solidFill>
                  <a:schemeClr val="tx1"/>
                </a:solidFill>
                <a:effectLst/>
                <a:latin typeface="+mn-lt"/>
                <a:ea typeface="+mn-ea"/>
                <a:cs typeface="+mn-cs"/>
              </a:rPr>
              <a:t>LinkeRx</a:t>
            </a:r>
            <a:r>
              <a:rPr lang="en-US" sz="1200" b="0" i="0" u="none" strike="noStrike"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30</a:t>
            </a:fld>
            <a:endParaRPr lang="en-US"/>
          </a:p>
        </p:txBody>
      </p:sp>
    </p:spTree>
    <p:extLst>
      <p:ext uri="{BB962C8B-B14F-4D97-AF65-F5344CB8AC3E}">
        <p14:creationId xmlns:p14="http://schemas.microsoft.com/office/powerpoint/2010/main" val="18704165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8ABB82-441F-4DCE-AF4C-B0D62B3B59E5}" type="slidenum">
              <a:rPr lang="en-US" smtClean="0"/>
              <a:pPr/>
              <a:t>31</a:t>
            </a:fld>
            <a:endParaRPr lang="en-US"/>
          </a:p>
        </p:txBody>
      </p:sp>
    </p:spTree>
    <p:extLst>
      <p:ext uri="{BB962C8B-B14F-4D97-AF65-F5344CB8AC3E}">
        <p14:creationId xmlns:p14="http://schemas.microsoft.com/office/powerpoint/2010/main" val="12577924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32</a:t>
            </a:fld>
            <a:endParaRPr lang="en-US"/>
          </a:p>
        </p:txBody>
      </p:sp>
    </p:spTree>
    <p:extLst>
      <p:ext uri="{BB962C8B-B14F-4D97-AF65-F5344CB8AC3E}">
        <p14:creationId xmlns:p14="http://schemas.microsoft.com/office/powerpoint/2010/main" val="314963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a:t>
            </a:r>
            <a:r>
              <a:rPr lang="en-US" baseline="30000" dirty="0"/>
              <a:t>st</a:t>
            </a:r>
            <a:r>
              <a:rPr lang="en-US" dirty="0"/>
              <a:t> to occur of EPS </a:t>
            </a:r>
            <a:r>
              <a:rPr lang="en-US" dirty="0">
                <a:sym typeface="Wingdings" panose="05000000000000000000" pitchFamily="2" charset="2"/>
              </a:rPr>
              <a:t> more common in young, AA men</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Continuous spasms and involuntary muscle contractions of the head, neck, trunk, and extremities (most commonly seen in face, neck)</a:t>
            </a:r>
            <a:endParaRPr lang="en-US" b="1"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a:p>
          <a:p>
            <a:r>
              <a:rPr lang="en-US" baseline="0" dirty="0"/>
              <a:t>This can be very uncomfortable for the </a:t>
            </a:r>
            <a:r>
              <a:rPr lang="en-US" baseline="0" dirty="0" err="1"/>
              <a:t>pt</a:t>
            </a:r>
            <a:r>
              <a:rPr lang="en-US" baseline="0" dirty="0"/>
              <a:t>, and IM is faster acting to provide fast relief</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33</a:t>
            </a:fld>
            <a:endParaRPr lang="en-US"/>
          </a:p>
        </p:txBody>
      </p:sp>
    </p:spTree>
    <p:extLst>
      <p:ext uri="{BB962C8B-B14F-4D97-AF65-F5344CB8AC3E}">
        <p14:creationId xmlns:p14="http://schemas.microsoft.com/office/powerpoint/2010/main" val="40106978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Assessed via </a:t>
            </a:r>
            <a:r>
              <a:rPr lang="en-US" sz="2800" dirty="0"/>
              <a:t>Simpson-Angus Scale (SAS)</a:t>
            </a:r>
          </a:p>
          <a:p>
            <a:pPr lvl="1"/>
            <a:r>
              <a:rPr lang="en-US" sz="2400" i="0" dirty="0"/>
              <a:t>10- item scale, range 0-4</a:t>
            </a:r>
          </a:p>
          <a:p>
            <a:pPr lvl="1"/>
            <a:r>
              <a:rPr lang="en-US" sz="2400" i="0" dirty="0"/>
              <a:t>Examines gait, rigidity, tremor,  </a:t>
            </a:r>
            <a:r>
              <a:rPr lang="en-US" sz="2400" i="0" dirty="0" err="1"/>
              <a:t>sialorrhea</a:t>
            </a:r>
            <a:r>
              <a:rPr lang="en-US" sz="2400" i="0" dirty="0"/>
              <a:t>, etc.</a:t>
            </a:r>
          </a:p>
          <a:p>
            <a:endParaRPr lang="en-US" dirty="0"/>
          </a:p>
          <a:p>
            <a:r>
              <a:rPr lang="en-US" dirty="0"/>
              <a:t>slow pill-rolling finger tremors, masklike facial expression, weakened voice, absence of arm swing when walking, stiff stooped posture, and an impaired shuffling gait</a:t>
            </a:r>
          </a:p>
          <a:p>
            <a:endParaRPr lang="en-US" dirty="0"/>
          </a:p>
          <a:p>
            <a:r>
              <a:rPr lang="en-US" dirty="0"/>
              <a:t>Signs and symptoms: </a:t>
            </a:r>
            <a:r>
              <a:rPr lang="en-US" sz="1200" b="0" kern="1200" dirty="0" err="1">
                <a:solidFill>
                  <a:schemeClr val="tx1"/>
                </a:solidFill>
                <a:effectLst/>
                <a:latin typeface="+mn-lt"/>
                <a:ea typeface="+mn-ea"/>
                <a:cs typeface="+mn-cs"/>
              </a:rPr>
              <a:t>Leadpipe</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rigidity</a:t>
            </a:r>
            <a:r>
              <a:rPr lang="en-US" sz="1200" b="0" kern="1200" dirty="0">
                <a:solidFill>
                  <a:schemeClr val="tx1"/>
                </a:solidFill>
                <a:effectLst/>
                <a:latin typeface="+mn-lt"/>
                <a:ea typeface="+mn-ea"/>
                <a:cs typeface="+mn-cs"/>
              </a:rPr>
              <a:t> results when an increase in muscle tone causes a sustained resistance to passive movement throughout the whole range of motion, with no fluctuations. </a:t>
            </a:r>
            <a:r>
              <a:rPr lang="en-US" sz="1200" b="1" kern="1200" dirty="0">
                <a:solidFill>
                  <a:schemeClr val="tx1"/>
                </a:solidFill>
                <a:effectLst/>
                <a:latin typeface="+mn-lt"/>
                <a:ea typeface="+mn-ea"/>
                <a:cs typeface="+mn-cs"/>
              </a:rPr>
              <a:t>Cogwheel rigidity</a:t>
            </a:r>
            <a:r>
              <a:rPr lang="en-US" sz="1200" b="0" kern="1200" dirty="0">
                <a:solidFill>
                  <a:schemeClr val="tx1"/>
                </a:solidFill>
                <a:effectLst/>
                <a:latin typeface="+mn-lt"/>
                <a:ea typeface="+mn-ea"/>
                <a:cs typeface="+mn-cs"/>
              </a:rPr>
              <a:t> is a combination of lead-pipe </a:t>
            </a:r>
            <a:r>
              <a:rPr lang="en-US" sz="1200" b="1" kern="1200" dirty="0">
                <a:solidFill>
                  <a:schemeClr val="tx1"/>
                </a:solidFill>
                <a:effectLst/>
                <a:latin typeface="+mn-lt"/>
                <a:ea typeface="+mn-ea"/>
                <a:cs typeface="+mn-cs"/>
              </a:rPr>
              <a:t>rigidity</a:t>
            </a:r>
            <a:r>
              <a:rPr lang="en-US" sz="1200" b="0" kern="1200" dirty="0">
                <a:solidFill>
                  <a:schemeClr val="tx1"/>
                </a:solidFill>
                <a:effectLst/>
                <a:latin typeface="+mn-lt"/>
                <a:ea typeface="+mn-ea"/>
                <a:cs typeface="+mn-cs"/>
              </a:rPr>
              <a:t> and tremor which presents as a jerky resistance to passive movement as muscles tense and relax.</a:t>
            </a:r>
            <a:endParaRPr lang="en-US" dirty="0"/>
          </a:p>
          <a:p>
            <a:endParaRPr lang="en-US" dirty="0"/>
          </a:p>
          <a:p>
            <a:r>
              <a:rPr lang="en-US" dirty="0"/>
              <a:t>Note the</a:t>
            </a:r>
            <a:r>
              <a:rPr lang="en-US" baseline="0" dirty="0"/>
              <a:t> difference in </a:t>
            </a:r>
            <a:r>
              <a:rPr lang="en-US" baseline="0" dirty="0" err="1"/>
              <a:t>pt</a:t>
            </a:r>
            <a:r>
              <a:rPr lang="en-US" baseline="0" dirty="0"/>
              <a:t> population—older females compared to dystonic reactions</a:t>
            </a:r>
          </a:p>
          <a:p>
            <a:r>
              <a:rPr lang="en-US" baseline="0" dirty="0"/>
              <a:t>Difference in </a:t>
            </a:r>
            <a:r>
              <a:rPr lang="en-US" baseline="0" dirty="0" err="1"/>
              <a:t>cogwheeling</a:t>
            </a:r>
            <a:r>
              <a:rPr lang="en-US" baseline="0" dirty="0"/>
              <a:t> (jerk and release) and lead pipe rigidity (not more in jerking fashion ---can see in NMS)</a:t>
            </a:r>
          </a:p>
          <a:p>
            <a:endParaRPr lang="en-US" baseline="0" dirty="0"/>
          </a:p>
          <a:p>
            <a:r>
              <a:rPr lang="en-US" baseline="0" dirty="0"/>
              <a:t>Other way to manage? </a:t>
            </a:r>
          </a:p>
          <a:p>
            <a:r>
              <a:rPr lang="en-US" baseline="0" dirty="0"/>
              <a:t>Change to different agent, b/c in general </a:t>
            </a:r>
            <a:r>
              <a:rPr lang="en-US" baseline="0" dirty="0" err="1"/>
              <a:t>esp</a:t>
            </a:r>
            <a:r>
              <a:rPr lang="en-US" baseline="0" dirty="0"/>
              <a:t> if this is occurring in older </a:t>
            </a:r>
            <a:r>
              <a:rPr lang="en-US" baseline="0" dirty="0" err="1"/>
              <a:t>pt</a:t>
            </a:r>
            <a:r>
              <a:rPr lang="en-US" baseline="0" dirty="0"/>
              <a:t>, we want to avoid using anticholinergic agents—can cause delirium</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34</a:t>
            </a:fld>
            <a:endParaRPr lang="en-US"/>
          </a:p>
        </p:txBody>
      </p:sp>
    </p:spTree>
    <p:extLst>
      <p:ext uri="{BB962C8B-B14F-4D97-AF65-F5344CB8AC3E}">
        <p14:creationId xmlns:p14="http://schemas.microsoft.com/office/powerpoint/2010/main" val="39418734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Assessed via </a:t>
            </a:r>
            <a:r>
              <a:rPr lang="en-US" sz="1200" dirty="0"/>
              <a:t>Barnes Akathisia Rating Scale (BARS)</a:t>
            </a:r>
          </a:p>
          <a:p>
            <a:endParaRPr lang="en-US" dirty="0"/>
          </a:p>
          <a:p>
            <a:r>
              <a:rPr lang="en-US" dirty="0" err="1"/>
              <a:t>Pateints</a:t>
            </a:r>
            <a:r>
              <a:rPr lang="en-US" dirty="0"/>
              <a:t> may verbalize that they are unable to remain calm, have disturbed sleep patterns, or have impaired concentration. Symptoms are often described as "anxiety," which is concerning because it may prompt a clinician to administer an additional APM. Objectively, patients may demonstrate restlessness through actions such as pacing, marching, shuffling, foot-taping, rocking motion, or shifting body weight from leg to leg. Restlessness can be throughout the entire body or confined to a section of the extremities</a:t>
            </a:r>
            <a:endParaRPr lang="en-US" b="1" dirty="0"/>
          </a:p>
          <a:p>
            <a:endParaRPr lang="en-US" b="1" dirty="0"/>
          </a:p>
          <a:p>
            <a:r>
              <a:rPr lang="en-US" b="1" dirty="0"/>
              <a:t>Subjective!!</a:t>
            </a:r>
          </a:p>
          <a:p>
            <a:endParaRPr lang="en-US" b="1" dirty="0"/>
          </a:p>
          <a:p>
            <a:r>
              <a:rPr lang="en-US" b="1" dirty="0"/>
              <a:t>Associated with an increase</a:t>
            </a:r>
            <a:r>
              <a:rPr lang="en-US" b="1" baseline="0" dirty="0"/>
              <a:t> in suicidal ideation </a:t>
            </a:r>
            <a:endParaRPr lang="en-US" b="1" dirty="0"/>
          </a:p>
          <a:p>
            <a:endParaRPr lang="en-US" dirty="0"/>
          </a:p>
          <a:p>
            <a:r>
              <a:rPr lang="en-US" dirty="0"/>
              <a:t>This can be misconstrued as not doing well psychiatrically</a:t>
            </a:r>
            <a:r>
              <a:rPr lang="en-US" baseline="0" dirty="0"/>
              <a:t> so that’s why it is so important to talk to the </a:t>
            </a:r>
            <a:r>
              <a:rPr lang="en-US" baseline="0" dirty="0" err="1"/>
              <a:t>pt</a:t>
            </a:r>
            <a:r>
              <a:rPr lang="en-US" baseline="0" dirty="0"/>
              <a:t> and note the timeline of </a:t>
            </a:r>
            <a:r>
              <a:rPr lang="en-US" baseline="0" dirty="0" err="1"/>
              <a:t>sx</a:t>
            </a:r>
            <a:endParaRPr lang="en-US" baseline="0" dirty="0"/>
          </a:p>
          <a:p>
            <a:r>
              <a:rPr lang="en-US" baseline="0" dirty="0"/>
              <a:t>This can be very uncomfortable for some and hard to express</a:t>
            </a:r>
          </a:p>
          <a:p>
            <a:r>
              <a:rPr lang="en-US" baseline="0" dirty="0"/>
              <a:t>Def make sure you are avoiding stimulants </a:t>
            </a:r>
          </a:p>
          <a:p>
            <a:r>
              <a:rPr lang="en-US" baseline="0" dirty="0"/>
              <a:t>Generally we want to avoid using benzos but that is an option </a:t>
            </a:r>
          </a:p>
        </p:txBody>
      </p:sp>
      <p:sp>
        <p:nvSpPr>
          <p:cNvPr id="4" name="Slide Number Placeholder 3"/>
          <p:cNvSpPr>
            <a:spLocks noGrp="1"/>
          </p:cNvSpPr>
          <p:nvPr>
            <p:ph type="sldNum" sz="quarter" idx="10"/>
          </p:nvPr>
        </p:nvSpPr>
        <p:spPr/>
        <p:txBody>
          <a:bodyPr/>
          <a:lstStyle/>
          <a:p>
            <a:fld id="{748ABB82-441F-4DCE-AF4C-B0D62B3B59E5}" type="slidenum">
              <a:rPr lang="en-US" smtClean="0"/>
              <a:pPr/>
              <a:t>35</a:t>
            </a:fld>
            <a:endParaRPr lang="en-US"/>
          </a:p>
        </p:txBody>
      </p:sp>
    </p:spTree>
    <p:extLst>
      <p:ext uri="{BB962C8B-B14F-4D97-AF65-F5344CB8AC3E}">
        <p14:creationId xmlns:p14="http://schemas.microsoft.com/office/powerpoint/2010/main" val="23115073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Assessed via </a:t>
            </a:r>
            <a:r>
              <a:rPr lang="en-US" sz="1200" dirty="0"/>
              <a:t>Abnormal Involuntary Movement Scale (AIMS)</a:t>
            </a:r>
          </a:p>
          <a:p>
            <a:endParaRPr lang="en-US" dirty="0"/>
          </a:p>
          <a:p>
            <a:r>
              <a:rPr lang="en-US" dirty="0"/>
              <a:t>protruding or rolling tongue, lip smacking, grimacing, frowning, sucking or kissing motions, and facial distortions</a:t>
            </a:r>
          </a:p>
          <a:p>
            <a:r>
              <a:rPr lang="en-US" dirty="0"/>
              <a:t>A </a:t>
            </a:r>
            <a:r>
              <a:rPr lang="en-US" dirty="0" err="1"/>
              <a:t>pateint’s</a:t>
            </a:r>
            <a:r>
              <a:rPr lang="en-US" dirty="0"/>
              <a:t> trunk may rock, twist, jerk, or thrust forward</a:t>
            </a:r>
          </a:p>
          <a:p>
            <a:endParaRPr lang="en-US" dirty="0"/>
          </a:p>
          <a:p>
            <a:r>
              <a:rPr lang="en-US" dirty="0"/>
              <a:t>This is a cumulative effect</a:t>
            </a:r>
          </a:p>
          <a:p>
            <a:r>
              <a:rPr lang="en-US" baseline="0" dirty="0"/>
              <a:t>Can be so severe that can impact swallow functioning</a:t>
            </a:r>
          </a:p>
          <a:p>
            <a:r>
              <a:rPr lang="en-US" baseline="0" dirty="0"/>
              <a:t>Withdrawal </a:t>
            </a:r>
            <a:r>
              <a:rPr lang="en-US" baseline="0" dirty="0" err="1"/>
              <a:t>dyskinesia</a:t>
            </a:r>
            <a:r>
              <a:rPr lang="en-US" baseline="0" dirty="0" err="1">
                <a:sym typeface="Wingdings" pitchFamily="2" charset="2"/>
              </a:rPr>
              <a:t>when</a:t>
            </a:r>
            <a:r>
              <a:rPr lang="en-US" baseline="0" dirty="0">
                <a:sym typeface="Wingdings" pitchFamily="2" charset="2"/>
              </a:rPr>
              <a:t> stop the drug can develop TD acutely—sometimes doesn’t fully resolve</a:t>
            </a:r>
          </a:p>
          <a:p>
            <a:endParaRPr lang="en-US" baseline="0" dirty="0">
              <a:sym typeface="Wingdings" pitchFamily="2" charset="2"/>
            </a:endParaRPr>
          </a:p>
          <a:p>
            <a:r>
              <a:rPr lang="en-US" baseline="0" dirty="0">
                <a:sym typeface="Wingdings" pitchFamily="2" charset="2"/>
              </a:rPr>
              <a:t>Of all the antipsychotics, clozapine not only does not have risk of causing TD but actually may be helpful in treating---often times they don’t require therapeutic level of this, if used for augmentation</a:t>
            </a:r>
          </a:p>
        </p:txBody>
      </p:sp>
      <p:sp>
        <p:nvSpPr>
          <p:cNvPr id="4" name="Slide Number Placeholder 3"/>
          <p:cNvSpPr>
            <a:spLocks noGrp="1"/>
          </p:cNvSpPr>
          <p:nvPr>
            <p:ph type="sldNum" sz="quarter" idx="10"/>
          </p:nvPr>
        </p:nvSpPr>
        <p:spPr/>
        <p:txBody>
          <a:bodyPr/>
          <a:lstStyle/>
          <a:p>
            <a:fld id="{748ABB82-441F-4DCE-AF4C-B0D62B3B59E5}" type="slidenum">
              <a:rPr lang="en-US" smtClean="0"/>
              <a:pPr/>
              <a:t>36</a:t>
            </a:fld>
            <a:endParaRPr lang="en-US"/>
          </a:p>
        </p:txBody>
      </p:sp>
    </p:spTree>
    <p:extLst>
      <p:ext uri="{BB962C8B-B14F-4D97-AF65-F5344CB8AC3E}">
        <p14:creationId xmlns:p14="http://schemas.microsoft.com/office/powerpoint/2010/main" val="23100174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Valbenazine</a:t>
            </a:r>
            <a:r>
              <a:rPr lang="en-US" sz="1200" kern="1200" dirty="0">
                <a:solidFill>
                  <a:schemeClr val="tx1"/>
                </a:solidFill>
                <a:effectLst/>
                <a:latin typeface="+mn-lt"/>
                <a:ea typeface="+mn-ea"/>
                <a:cs typeface="+mn-cs"/>
              </a:rPr>
              <a:t> MOA: selectively inhibits vesicular monoamine transporter 2 (VMAT2)</a:t>
            </a:r>
            <a:r>
              <a:rPr lang="en-US" sz="1200" kern="1200" dirty="0">
                <a:solidFill>
                  <a:schemeClr val="tx1"/>
                </a:solidFill>
                <a:effectLst/>
                <a:latin typeface="+mn-lt"/>
                <a:ea typeface="+mn-ea"/>
                <a:cs typeface="+mn-cs"/>
                <a:sym typeface="Wingdings" panose="05000000000000000000" pitchFamily="2" charset="2"/>
              </a:rPr>
              <a:t></a:t>
            </a:r>
            <a:r>
              <a:rPr lang="en-US" sz="1200" kern="1200" dirty="0">
                <a:solidFill>
                  <a:schemeClr val="tx1"/>
                </a:solidFill>
                <a:effectLst/>
                <a:latin typeface="+mn-lt"/>
                <a:ea typeface="+mn-ea"/>
                <a:cs typeface="+mn-cs"/>
              </a:rPr>
              <a:t>blocks monoamine uptake into presynaptic vesicles</a:t>
            </a:r>
            <a:r>
              <a:rPr lang="en-US" sz="1200" kern="1200" dirty="0">
                <a:solidFill>
                  <a:schemeClr val="tx1"/>
                </a:solidFill>
                <a:effectLst/>
                <a:latin typeface="+mn-lt"/>
                <a:ea typeface="+mn-ea"/>
                <a:cs typeface="+mn-cs"/>
                <a:sym typeface="Wingdings" panose="05000000000000000000" pitchFamily="2" charset="2"/>
              </a:rPr>
              <a:t></a:t>
            </a:r>
            <a:r>
              <a:rPr lang="en-US" sz="1200" kern="1200" dirty="0">
                <a:solidFill>
                  <a:schemeClr val="tx1"/>
                </a:solidFill>
                <a:effectLst/>
                <a:latin typeface="+mn-lt"/>
                <a:ea typeface="+mn-ea"/>
                <a:cs typeface="+mn-cs"/>
              </a:rPr>
              <a:t>↓monoamine release into synaptic </a:t>
            </a:r>
            <a:r>
              <a:rPr lang="en-US" sz="1200" kern="1200" dirty="0" err="1">
                <a:solidFill>
                  <a:schemeClr val="tx1"/>
                </a:solidFill>
                <a:effectLst/>
                <a:latin typeface="+mn-lt"/>
                <a:ea typeface="+mn-ea"/>
                <a:cs typeface="+mn-cs"/>
              </a:rPr>
              <a:t>cleft</a:t>
            </a:r>
            <a:r>
              <a:rPr lang="en-US" sz="1200" kern="1200" dirty="0" err="1">
                <a:solidFill>
                  <a:schemeClr val="tx1"/>
                </a:solidFill>
                <a:effectLst/>
                <a:latin typeface="+mn-lt"/>
                <a:ea typeface="+mn-ea"/>
                <a:cs typeface="+mn-cs"/>
                <a:sym typeface="Wingdings" panose="05000000000000000000" pitchFamily="2" charset="2"/>
              </a:rPr>
              <a:t></a:t>
            </a:r>
            <a:r>
              <a:rPr lang="en-US" sz="1200" kern="1200" dirty="0" err="1">
                <a:solidFill>
                  <a:schemeClr val="tx1"/>
                </a:solidFill>
                <a:effectLst/>
                <a:latin typeface="+mn-lt"/>
                <a:ea typeface="+mn-ea"/>
                <a:cs typeface="+mn-cs"/>
              </a:rPr>
              <a:t>less</a:t>
            </a:r>
            <a:r>
              <a:rPr lang="en-US" sz="1200" kern="1200" dirty="0">
                <a:solidFill>
                  <a:schemeClr val="tx1"/>
                </a:solidFill>
                <a:effectLst/>
                <a:latin typeface="+mn-lt"/>
                <a:ea typeface="+mn-ea"/>
                <a:cs typeface="+mn-cs"/>
              </a:rPr>
              <a:t> dopamine to interact with hypersensitive D2 receptors</a:t>
            </a:r>
            <a:r>
              <a:rPr lang="en-US" sz="1200" kern="1200" baseline="30000" dirty="0">
                <a:solidFill>
                  <a:schemeClr val="tx1"/>
                </a:solidFill>
                <a:effectLst/>
                <a:latin typeface="+mn-lt"/>
                <a:ea typeface="+mn-ea"/>
                <a:cs typeface="+mn-cs"/>
              </a:rPr>
              <a:t>3</a:t>
            </a:r>
            <a:endParaRPr lang="en-US" sz="1200" kern="1200" dirty="0">
              <a:solidFill>
                <a:schemeClr val="tx1"/>
              </a:solidFill>
              <a:effectLst/>
              <a:latin typeface="+mn-lt"/>
              <a:ea typeface="+mn-ea"/>
              <a:cs typeface="+mn-cs"/>
            </a:endParaRPr>
          </a:p>
          <a:p>
            <a:endParaRPr lang="en-US" dirty="0">
              <a:effectLst/>
            </a:endParaRPr>
          </a:p>
          <a:p>
            <a:endParaRPr lang="en-US" dirty="0">
              <a:effectLst/>
            </a:endParaRPr>
          </a:p>
          <a:p>
            <a:r>
              <a:rPr lang="en-US" dirty="0" err="1">
                <a:effectLst/>
              </a:rPr>
              <a:t>Valbenazine</a:t>
            </a:r>
            <a:endParaRPr lang="en-US" dirty="0">
              <a:effectLst/>
            </a:endParaRPr>
          </a:p>
          <a:p>
            <a:r>
              <a:rPr lang="en-US" dirty="0">
                <a:effectLst/>
              </a:rPr>
              <a:t>Concomitant administration with a strong CYP3A4 inducer (</a:t>
            </a:r>
            <a:r>
              <a:rPr lang="en-US" dirty="0" err="1">
                <a:effectLst/>
              </a:rPr>
              <a:t>eg</a:t>
            </a:r>
            <a:r>
              <a:rPr lang="en-US" dirty="0">
                <a:effectLst/>
              </a:rPr>
              <a:t>, carbamazepine, phenytoin, rifampin, St John's wort): Use is not recommended.</a:t>
            </a:r>
          </a:p>
          <a:p>
            <a:r>
              <a:rPr lang="en-US" dirty="0">
                <a:effectLst/>
              </a:rPr>
              <a:t>Concomitant administration with a strong CYP3A4 inhibitor (</a:t>
            </a:r>
            <a:r>
              <a:rPr lang="en-US" dirty="0" err="1">
                <a:effectLst/>
              </a:rPr>
              <a:t>eg</a:t>
            </a:r>
            <a:r>
              <a:rPr lang="en-US" dirty="0">
                <a:effectLst/>
              </a:rPr>
              <a:t>, clarithromycin, itraconazole, ketoconazole): Maximum dose: 40 mg once daily</a:t>
            </a:r>
          </a:p>
          <a:p>
            <a:r>
              <a:rPr lang="en-US" dirty="0">
                <a:effectLst/>
              </a:rPr>
              <a:t>Concomitant administration with a strong CYP2D6 inhibitor (</a:t>
            </a:r>
            <a:r>
              <a:rPr lang="en-US" dirty="0" err="1">
                <a:effectLst/>
              </a:rPr>
              <a:t>eg</a:t>
            </a:r>
            <a:r>
              <a:rPr lang="en-US" dirty="0">
                <a:effectLst/>
              </a:rPr>
              <a:t>, fluoxetine, paroxetine, quinidine): Dosage adjustment is not provided in the manufacturer's labeling, however, a dose reduction may be necessary based on tolerability.</a:t>
            </a:r>
          </a:p>
          <a:p>
            <a:endParaRPr lang="en-US" dirty="0"/>
          </a:p>
          <a:p>
            <a:r>
              <a:rPr lang="en-US" dirty="0"/>
              <a:t>Tetrabenazine is used off-label for TD</a:t>
            </a:r>
          </a:p>
        </p:txBody>
      </p:sp>
      <p:sp>
        <p:nvSpPr>
          <p:cNvPr id="4" name="Slide Number Placeholder 3"/>
          <p:cNvSpPr>
            <a:spLocks noGrp="1"/>
          </p:cNvSpPr>
          <p:nvPr>
            <p:ph type="sldNum" sz="quarter" idx="10"/>
          </p:nvPr>
        </p:nvSpPr>
        <p:spPr/>
        <p:txBody>
          <a:bodyPr/>
          <a:lstStyle/>
          <a:p>
            <a:fld id="{748ABB82-441F-4DCE-AF4C-B0D62B3B59E5}" type="slidenum">
              <a:rPr lang="en-US" smtClean="0"/>
              <a:pPr/>
              <a:t>37</a:t>
            </a:fld>
            <a:endParaRPr lang="en-US"/>
          </a:p>
        </p:txBody>
      </p:sp>
    </p:spTree>
    <p:extLst>
      <p:ext uri="{BB962C8B-B14F-4D97-AF65-F5344CB8AC3E}">
        <p14:creationId xmlns:p14="http://schemas.microsoft.com/office/powerpoint/2010/main" val="31221003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AIMS basically looks at the progression of tardive dyskinesia</a:t>
            </a:r>
          </a:p>
          <a:p>
            <a:r>
              <a:rPr lang="en-US" dirty="0"/>
              <a:t>Note we have some of these</a:t>
            </a:r>
            <a:r>
              <a:rPr lang="en-US" baseline="0" dirty="0"/>
              <a:t> other scales as well</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38</a:t>
            </a:fld>
            <a:endParaRPr lang="en-US"/>
          </a:p>
        </p:txBody>
      </p:sp>
    </p:spTree>
    <p:extLst>
      <p:ext uri="{BB962C8B-B14F-4D97-AF65-F5344CB8AC3E}">
        <p14:creationId xmlns:p14="http://schemas.microsoft.com/office/powerpoint/2010/main" val="15634321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still</a:t>
            </a:r>
            <a:r>
              <a:rPr lang="en-US" baseline="0" dirty="0"/>
              <a:t> do this in practice all the time when pts are at risk of significant harm to self or staff----key is to use the lowest possible effective dose </a:t>
            </a:r>
          </a:p>
          <a:p>
            <a:endParaRPr lang="en-US" baseline="0" dirty="0"/>
          </a:p>
          <a:p>
            <a:r>
              <a:rPr lang="en-US" baseline="0" dirty="0"/>
              <a:t>Do risk/benefit analysis and use best clinical judgment</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39</a:t>
            </a:fld>
            <a:endParaRPr lang="en-US"/>
          </a:p>
        </p:txBody>
      </p:sp>
    </p:spTree>
    <p:extLst>
      <p:ext uri="{BB962C8B-B14F-4D97-AF65-F5344CB8AC3E}">
        <p14:creationId xmlns:p14="http://schemas.microsoft.com/office/powerpoint/2010/main" val="37858786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esp. </a:t>
            </a:r>
            <a:r>
              <a:rPr lang="en-US" sz="1200" dirty="0" err="1"/>
              <a:t>risp</a:t>
            </a:r>
            <a:r>
              <a:rPr lang="en-US" sz="1200" dirty="0"/>
              <a:t>/</a:t>
            </a:r>
            <a:r>
              <a:rPr lang="en-US" sz="1200"/>
              <a:t>pali</a:t>
            </a:r>
            <a:endParaRPr lang="en-US"/>
          </a:p>
        </p:txBody>
      </p:sp>
      <p:sp>
        <p:nvSpPr>
          <p:cNvPr id="4" name="Slide Number Placeholder 3"/>
          <p:cNvSpPr>
            <a:spLocks noGrp="1"/>
          </p:cNvSpPr>
          <p:nvPr>
            <p:ph type="sldNum" sz="quarter" idx="10"/>
          </p:nvPr>
        </p:nvSpPr>
        <p:spPr/>
        <p:txBody>
          <a:bodyPr/>
          <a:lstStyle/>
          <a:p>
            <a:fld id="{748ABB82-441F-4DCE-AF4C-B0D62B3B59E5}" type="slidenum">
              <a:rPr lang="en-US" smtClean="0"/>
              <a:pPr/>
              <a:t>40</a:t>
            </a:fld>
            <a:endParaRPr lang="en-US"/>
          </a:p>
        </p:txBody>
      </p:sp>
    </p:spTree>
    <p:extLst>
      <p:ext uri="{BB962C8B-B14F-4D97-AF65-F5344CB8AC3E}">
        <p14:creationId xmlns:p14="http://schemas.microsoft.com/office/powerpoint/2010/main" val="35667137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Fever</a:t>
            </a:r>
            <a:r>
              <a:rPr lang="en-US" dirty="0"/>
              <a:t>: Temps &gt;38C,</a:t>
            </a:r>
            <a:r>
              <a:rPr lang="en-US" baseline="0" dirty="0"/>
              <a:t> but even higher (up to 40C) can occur </a:t>
            </a:r>
            <a:endParaRPr lang="en-US" dirty="0"/>
          </a:p>
          <a:p>
            <a:r>
              <a:rPr lang="en-US" sz="1200" b="1" kern="1200" dirty="0" err="1">
                <a:solidFill>
                  <a:schemeClr val="tx1"/>
                </a:solidFill>
                <a:effectLst/>
                <a:latin typeface="+mn-lt"/>
                <a:ea typeface="+mn-ea"/>
                <a:cs typeface="+mn-cs"/>
              </a:rPr>
              <a:t>Leadpipe</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rigidity</a:t>
            </a:r>
            <a:r>
              <a:rPr lang="en-US" sz="1200" b="0" kern="1200" dirty="0">
                <a:solidFill>
                  <a:schemeClr val="tx1"/>
                </a:solidFill>
                <a:effectLst/>
                <a:latin typeface="+mn-lt"/>
                <a:ea typeface="+mn-ea"/>
                <a:cs typeface="+mn-cs"/>
              </a:rPr>
              <a:t> results when an increase in muscle tone causes a sustained resistance to passive movement throughout the whole range of motion, with no fluctuations. </a:t>
            </a:r>
          </a:p>
          <a:p>
            <a:r>
              <a:rPr lang="en-US" sz="1200" b="1" kern="1200" dirty="0">
                <a:solidFill>
                  <a:schemeClr val="tx1"/>
                </a:solidFill>
                <a:effectLst/>
                <a:latin typeface="+mn-lt"/>
                <a:ea typeface="+mn-ea"/>
                <a:cs typeface="+mn-cs"/>
              </a:rPr>
              <a:t>Mental status changes</a:t>
            </a:r>
            <a:r>
              <a:rPr lang="en-US" sz="1200" b="0" kern="1200" dirty="0">
                <a:solidFill>
                  <a:schemeClr val="tx1"/>
                </a:solidFill>
                <a:effectLst/>
                <a:latin typeface="+mn-lt"/>
                <a:ea typeface="+mn-ea"/>
                <a:cs typeface="+mn-cs"/>
              </a:rPr>
              <a:t>: delirium</a:t>
            </a:r>
            <a:r>
              <a:rPr lang="en-US" sz="1200" b="0" kern="1200" baseline="0" dirty="0">
                <a:solidFill>
                  <a:schemeClr val="tx1"/>
                </a:solidFill>
                <a:effectLst/>
                <a:latin typeface="+mn-lt"/>
                <a:ea typeface="+mn-ea"/>
                <a:cs typeface="+mn-cs"/>
              </a:rPr>
              <a:t>, confusion, coma </a:t>
            </a:r>
          </a:p>
          <a:p>
            <a:r>
              <a:rPr lang="en-US" sz="1200" b="1" kern="1200" baseline="0" dirty="0">
                <a:solidFill>
                  <a:schemeClr val="tx1"/>
                </a:solidFill>
                <a:effectLst/>
                <a:latin typeface="+mn-lt"/>
                <a:ea typeface="+mn-ea"/>
                <a:cs typeface="+mn-cs"/>
              </a:rPr>
              <a:t>Autonomic dysfunction</a:t>
            </a:r>
            <a:r>
              <a:rPr lang="en-US" sz="1200" b="0" kern="1200" baseline="0" dirty="0">
                <a:solidFill>
                  <a:schemeClr val="tx1"/>
                </a:solidFill>
                <a:effectLst/>
                <a:latin typeface="+mn-lt"/>
                <a:ea typeface="+mn-ea"/>
                <a:cs typeface="+mn-cs"/>
              </a:rPr>
              <a:t>: tachycardia, labile BP, tachypnea, dysrhythmias </a:t>
            </a:r>
            <a:endParaRPr lang="en-US" dirty="0"/>
          </a:p>
          <a:p>
            <a:r>
              <a:rPr lang="en-US" dirty="0"/>
              <a:t>This can look like malignant catatonia or serotonin</a:t>
            </a:r>
            <a:r>
              <a:rPr lang="en-US" baseline="0" dirty="0"/>
              <a:t> syndrome</a:t>
            </a:r>
          </a:p>
          <a:p>
            <a:r>
              <a:rPr lang="en-US" baseline="0" dirty="0"/>
              <a:t>CPK really elevated in 10,000s</a:t>
            </a:r>
          </a:p>
          <a:p>
            <a:endParaRPr lang="en-US" dirty="0"/>
          </a:p>
          <a:p>
            <a:r>
              <a:rPr lang="en-US" dirty="0"/>
              <a:t>Psychotropic</a:t>
            </a:r>
            <a:r>
              <a:rPr lang="en-US" baseline="0" dirty="0"/>
              <a:t> medications: typical and atypical antipsychotics, antiemetics, </a:t>
            </a:r>
            <a:r>
              <a:rPr lang="en-US" baseline="0" dirty="0" err="1"/>
              <a:t>etc</a:t>
            </a:r>
            <a:endParaRPr lang="en-US" baseline="0" dirty="0"/>
          </a:p>
          <a:p>
            <a:r>
              <a:rPr lang="en-US" baseline="0" dirty="0"/>
              <a:t>FYI: When stop DA agonists abruptly, can produce NMS  as well</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41</a:t>
            </a:fld>
            <a:endParaRPr lang="en-US"/>
          </a:p>
        </p:txBody>
      </p:sp>
    </p:spTree>
    <p:extLst>
      <p:ext uri="{BB962C8B-B14F-4D97-AF65-F5344CB8AC3E}">
        <p14:creationId xmlns:p14="http://schemas.microsoft.com/office/powerpoint/2010/main" val="27172788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Risk</a:t>
            </a:r>
            <a:r>
              <a:rPr lang="en-US" b="1" baseline="0" dirty="0"/>
              <a:t> of </a:t>
            </a:r>
            <a:r>
              <a:rPr lang="en-US" b="1" baseline="0" dirty="0" err="1"/>
              <a:t>Torsades</a:t>
            </a:r>
            <a:r>
              <a:rPr lang="en-US" b="1" baseline="0" dirty="0"/>
              <a:t> de pointes</a:t>
            </a:r>
          </a:p>
          <a:p>
            <a:endParaRPr lang="en-US" dirty="0"/>
          </a:p>
          <a:p>
            <a:r>
              <a:rPr lang="en-US" dirty="0"/>
              <a:t>Risk factors: female sex, history of heart disease, presence of a QT interval prolonging agent, hypokalemia, history of QT prolongation, family history of QT prolongation, </a:t>
            </a:r>
            <a:r>
              <a:rPr lang="en-US" dirty="0" err="1"/>
              <a:t>QTc</a:t>
            </a:r>
            <a:r>
              <a:rPr lang="en-US" dirty="0"/>
              <a:t> &gt; 450 </a:t>
            </a:r>
            <a:r>
              <a:rPr lang="en-US" dirty="0" err="1"/>
              <a:t>ms</a:t>
            </a:r>
            <a:r>
              <a:rPr lang="en-US" dirty="0"/>
              <a:t> at baseline, and bradycardia </a:t>
            </a:r>
          </a:p>
          <a:p>
            <a:endParaRPr lang="en-US" dirty="0"/>
          </a:p>
          <a:p>
            <a:r>
              <a:rPr lang="en-US" b="1" dirty="0"/>
              <a:t>Baseline</a:t>
            </a:r>
            <a:r>
              <a:rPr lang="en-US" b="1" baseline="0" dirty="0"/>
              <a:t> EKG and electrolyte monitoring is what is done is clinical practice. </a:t>
            </a:r>
          </a:p>
          <a:p>
            <a:r>
              <a:rPr lang="en-US" b="1" baseline="0" dirty="0"/>
              <a:t>Good to monitor K, Mg, EKG (ask students this)</a:t>
            </a:r>
          </a:p>
          <a:p>
            <a:endParaRPr lang="en-US" dirty="0"/>
          </a:p>
          <a:p>
            <a:r>
              <a:rPr lang="en-US" dirty="0"/>
              <a:t>Note that this is usually not simply caused</a:t>
            </a:r>
            <a:r>
              <a:rPr lang="en-US" baseline="0" dirty="0"/>
              <a:t> by one agent in isolation but by an accumulation of multiple factors like DDI, electrolyte imbalances, </a:t>
            </a:r>
            <a:r>
              <a:rPr lang="en-US" baseline="0" dirty="0" err="1"/>
              <a:t>etc</a:t>
            </a:r>
            <a:endParaRPr lang="en-US" baseline="0" dirty="0"/>
          </a:p>
          <a:p>
            <a:r>
              <a:rPr lang="en-US" baseline="0" dirty="0"/>
              <a:t>Make sure monitoring of K and Mg regularly as well </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42</a:t>
            </a:fld>
            <a:endParaRPr lang="en-US"/>
          </a:p>
        </p:txBody>
      </p:sp>
    </p:spTree>
    <p:extLst>
      <p:ext uri="{BB962C8B-B14F-4D97-AF65-F5344CB8AC3E}">
        <p14:creationId xmlns:p14="http://schemas.microsoft.com/office/powerpoint/2010/main" val="37364440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 off movement disorders with metabolic effects</a:t>
            </a:r>
          </a:p>
          <a:p>
            <a:r>
              <a:rPr lang="en-US" dirty="0"/>
              <a:t>Apple</a:t>
            </a:r>
            <a:r>
              <a:rPr lang="en-US" baseline="0" dirty="0"/>
              <a:t> shaped, more visceral fat, worse outcomes, increased morbidity/mortality. </a:t>
            </a:r>
          </a:p>
          <a:p>
            <a:pPr marL="171450" indent="-171450">
              <a:buFont typeface="Arial" panose="020B0604020202020204" pitchFamily="34" charset="0"/>
              <a:buChar char="•"/>
            </a:pPr>
            <a:r>
              <a:rPr lang="en-US" baseline="0" dirty="0"/>
              <a:t>DM largely driven by obesity</a:t>
            </a:r>
          </a:p>
          <a:p>
            <a:pPr marL="171450" indent="-171450">
              <a:buFont typeface="Arial" panose="020B0604020202020204" pitchFamily="34" charset="0"/>
              <a:buChar char="•"/>
            </a:pPr>
            <a:r>
              <a:rPr lang="en-US" baseline="0" dirty="0"/>
              <a:t>Abdominal adiposity best predictor of metabolic syndrome</a:t>
            </a:r>
          </a:p>
          <a:p>
            <a:pPr marL="171450" indent="-171450">
              <a:buFont typeface="Arial" panose="020B0604020202020204" pitchFamily="34" charset="0"/>
              <a:buChar char="•"/>
            </a:pPr>
            <a:endParaRPr lang="en-US" baseline="0" dirty="0"/>
          </a:p>
          <a:p>
            <a:pPr marL="0" indent="0">
              <a:buFont typeface="Arial" panose="020B0604020202020204" pitchFamily="34" charset="0"/>
              <a:buNone/>
            </a:pPr>
            <a:r>
              <a:rPr lang="en-US" baseline="0" dirty="0"/>
              <a:t>High potency: clozapine, olanzapine (20-30% pts, with 7% BW will affect CV health)</a:t>
            </a:r>
          </a:p>
          <a:p>
            <a:pPr marL="0" indent="0">
              <a:buFont typeface="Arial" panose="020B0604020202020204" pitchFamily="34" charset="0"/>
              <a:buNone/>
            </a:pPr>
            <a:r>
              <a:rPr lang="en-US" baseline="0" dirty="0"/>
              <a:t>Mid potency: Quetiapine&gt;risperidone; 15% with </a:t>
            </a:r>
            <a:r>
              <a:rPr lang="en-US" baseline="0" dirty="0" err="1"/>
              <a:t>wt</a:t>
            </a:r>
            <a:r>
              <a:rPr lang="en-US" baseline="0" dirty="0"/>
              <a:t> gain, plateaus around 8-12 weeks</a:t>
            </a:r>
          </a:p>
          <a:p>
            <a:pPr marL="0" indent="0">
              <a:buFont typeface="Arial" panose="020B0604020202020204" pitchFamily="34" charset="0"/>
              <a:buNone/>
            </a:pPr>
            <a:r>
              <a:rPr lang="en-US" baseline="0" dirty="0"/>
              <a:t>Low potency: </a:t>
            </a:r>
            <a:r>
              <a:rPr lang="en-US" baseline="0" dirty="0" err="1"/>
              <a:t>Aripip</a:t>
            </a:r>
            <a:r>
              <a:rPr lang="en-US" baseline="0" dirty="0"/>
              <a:t>, </a:t>
            </a:r>
            <a:r>
              <a:rPr lang="en-US" baseline="0" dirty="0" err="1"/>
              <a:t>zipras</a:t>
            </a:r>
            <a:r>
              <a:rPr lang="en-US" baseline="0" dirty="0"/>
              <a:t>: 5-10% with </a:t>
            </a:r>
            <a:r>
              <a:rPr lang="en-US" baseline="0" dirty="0" err="1"/>
              <a:t>wt</a:t>
            </a:r>
            <a:r>
              <a:rPr lang="en-US" baseline="0" dirty="0"/>
              <a:t> gain</a:t>
            </a:r>
          </a:p>
        </p:txBody>
      </p:sp>
      <p:sp>
        <p:nvSpPr>
          <p:cNvPr id="4" name="Slide Number Placeholder 3"/>
          <p:cNvSpPr>
            <a:spLocks noGrp="1"/>
          </p:cNvSpPr>
          <p:nvPr>
            <p:ph type="sldNum" sz="quarter" idx="10"/>
          </p:nvPr>
        </p:nvSpPr>
        <p:spPr/>
        <p:txBody>
          <a:bodyPr/>
          <a:lstStyle/>
          <a:p>
            <a:fld id="{748ABB82-441F-4DCE-AF4C-B0D62B3B59E5}" type="slidenum">
              <a:rPr lang="en-US" smtClean="0"/>
              <a:pPr/>
              <a:t>43</a:t>
            </a:fld>
            <a:endParaRPr lang="en-US"/>
          </a:p>
        </p:txBody>
      </p:sp>
    </p:spTree>
    <p:extLst>
      <p:ext uri="{BB962C8B-B14F-4D97-AF65-F5344CB8AC3E}">
        <p14:creationId xmlns:p14="http://schemas.microsoft.com/office/powerpoint/2010/main" val="17404677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2004</a:t>
            </a:r>
          </a:p>
          <a:p>
            <a:endParaRPr lang="en-US" dirty="0"/>
          </a:p>
          <a:p>
            <a:r>
              <a:rPr lang="en-US" dirty="0"/>
              <a:t>Clearly it is important to monitor b/c weight gain, obesity, dyslipidemia,</a:t>
            </a:r>
            <a:r>
              <a:rPr lang="en-US" baseline="0" dirty="0"/>
              <a:t> insulin resistance/diabetes can increase risk for cardiovascular disease </a:t>
            </a:r>
          </a:p>
          <a:p>
            <a:endParaRPr lang="en-US" baseline="0" dirty="0"/>
          </a:p>
          <a:p>
            <a:r>
              <a:rPr lang="en-US" baseline="0" dirty="0"/>
              <a:t>Weight gain may be due to increased hunger/appetite in hypothalamic eating centers---and those antipsychotics with most risk of </a:t>
            </a:r>
            <a:r>
              <a:rPr lang="en-US" baseline="0" dirty="0" err="1"/>
              <a:t>wt</a:t>
            </a:r>
            <a:r>
              <a:rPr lang="en-US" baseline="0" dirty="0"/>
              <a:t> gain are those that potently block histamine H1 receptors </a:t>
            </a:r>
          </a:p>
          <a:p>
            <a:endParaRPr lang="en-US" baseline="0" dirty="0"/>
          </a:p>
          <a:p>
            <a:r>
              <a:rPr lang="en-US" baseline="0" dirty="0"/>
              <a:t>So if you have a </a:t>
            </a:r>
            <a:r>
              <a:rPr lang="en-US" baseline="0" dirty="0" err="1"/>
              <a:t>pt</a:t>
            </a:r>
            <a:r>
              <a:rPr lang="en-US" baseline="0" dirty="0"/>
              <a:t> whose BMI or fasting triglyceride level significantly increases---may consider switching to a different agent that poses less risk of this (</a:t>
            </a:r>
            <a:r>
              <a:rPr lang="en-US" baseline="0" dirty="0" err="1"/>
              <a:t>ziprasidone</a:t>
            </a:r>
            <a:r>
              <a:rPr lang="en-US" baseline="0" dirty="0"/>
              <a:t>) </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44</a:t>
            </a:fld>
            <a:endParaRPr lang="en-US"/>
          </a:p>
        </p:txBody>
      </p:sp>
    </p:spTree>
    <p:extLst>
      <p:ext uri="{BB962C8B-B14F-4D97-AF65-F5344CB8AC3E}">
        <p14:creationId xmlns:p14="http://schemas.microsoft.com/office/powerpoint/2010/main" val="28909324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8ABB82-441F-4DCE-AF4C-B0D62B3B59E5}" type="slidenum">
              <a:rPr lang="en-US" smtClean="0"/>
              <a:pPr/>
              <a:t>45</a:t>
            </a:fld>
            <a:endParaRPr lang="en-US"/>
          </a:p>
        </p:txBody>
      </p:sp>
    </p:spTree>
    <p:extLst>
      <p:ext uri="{BB962C8B-B14F-4D97-AF65-F5344CB8AC3E}">
        <p14:creationId xmlns:p14="http://schemas.microsoft.com/office/powerpoint/2010/main" val="25071966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8ABB82-441F-4DCE-AF4C-B0D62B3B59E5}" type="slidenum">
              <a:rPr lang="en-US" smtClean="0"/>
              <a:pPr/>
              <a:t>46</a:t>
            </a:fld>
            <a:endParaRPr lang="en-US"/>
          </a:p>
        </p:txBody>
      </p:sp>
    </p:spTree>
    <p:extLst>
      <p:ext uri="{BB962C8B-B14F-4D97-AF65-F5344CB8AC3E}">
        <p14:creationId xmlns:p14="http://schemas.microsoft.com/office/powerpoint/2010/main" val="17579791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8ABB82-441F-4DCE-AF4C-B0D62B3B59E5}" type="slidenum">
              <a:rPr lang="en-US" smtClean="0"/>
              <a:pPr/>
              <a:t>47</a:t>
            </a:fld>
            <a:endParaRPr lang="en-US"/>
          </a:p>
        </p:txBody>
      </p:sp>
    </p:spTree>
    <p:extLst>
      <p:ext uri="{BB962C8B-B14F-4D97-AF65-F5344CB8AC3E}">
        <p14:creationId xmlns:p14="http://schemas.microsoft.com/office/powerpoint/2010/main" val="25169358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8ABB82-441F-4DCE-AF4C-B0D62B3B59E5}" type="slidenum">
              <a:rPr lang="en-US" smtClean="0"/>
              <a:pPr/>
              <a:t>48</a:t>
            </a:fld>
            <a:endParaRPr lang="en-US"/>
          </a:p>
        </p:txBody>
      </p:sp>
    </p:spTree>
    <p:extLst>
      <p:ext uri="{BB962C8B-B14F-4D97-AF65-F5344CB8AC3E}">
        <p14:creationId xmlns:p14="http://schemas.microsoft.com/office/powerpoint/2010/main" val="26416449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Antihistamine: </a:t>
            </a:r>
            <a:r>
              <a:rPr lang="en-US" dirty="0" err="1"/>
              <a:t>cloz</a:t>
            </a:r>
            <a:r>
              <a:rPr lang="en-US" dirty="0"/>
              <a:t>, </a:t>
            </a:r>
            <a:r>
              <a:rPr lang="en-US" dirty="0" err="1"/>
              <a:t>quetia</a:t>
            </a:r>
            <a:r>
              <a:rPr lang="en-US" dirty="0"/>
              <a:t>, </a:t>
            </a:r>
            <a:r>
              <a:rPr lang="en-US" dirty="0" err="1"/>
              <a:t>olanz</a:t>
            </a:r>
            <a:r>
              <a:rPr lang="en-US" dirty="0"/>
              <a:t>, iloperidone all H1 &gt; D2</a:t>
            </a:r>
          </a:p>
          <a:p>
            <a:r>
              <a:rPr lang="en-US" dirty="0" err="1"/>
              <a:t>Lurasidone</a:t>
            </a:r>
            <a:r>
              <a:rPr lang="en-US" dirty="0"/>
              <a:t> has essentially NO binding to H1</a:t>
            </a:r>
          </a:p>
          <a:p>
            <a:endParaRPr lang="en-US" dirty="0"/>
          </a:p>
          <a:p>
            <a:r>
              <a:rPr lang="en-US" dirty="0"/>
              <a:t>Anticholinergic: pines (C, O, Q) high potency for muscarinic receptors</a:t>
            </a:r>
          </a:p>
          <a:p>
            <a:endParaRPr lang="en-US" dirty="0"/>
          </a:p>
          <a:p>
            <a:r>
              <a:rPr lang="en-US" dirty="0"/>
              <a:t>Alpha1 adrenergic antagonist: </a:t>
            </a:r>
          </a:p>
          <a:p>
            <a:r>
              <a:rPr lang="en-US" dirty="0"/>
              <a:t>Most potent relative to D2: </a:t>
            </a:r>
            <a:r>
              <a:rPr lang="en-US" dirty="0" err="1"/>
              <a:t>cloz</a:t>
            </a:r>
            <a:r>
              <a:rPr lang="en-US" dirty="0"/>
              <a:t>, </a:t>
            </a:r>
            <a:r>
              <a:rPr lang="en-US" dirty="0" err="1"/>
              <a:t>quetia</a:t>
            </a:r>
            <a:r>
              <a:rPr lang="en-US" dirty="0"/>
              <a:t>, </a:t>
            </a:r>
            <a:r>
              <a:rPr lang="en-US" dirty="0" err="1"/>
              <a:t>risp</a:t>
            </a:r>
            <a:r>
              <a:rPr lang="en-US" dirty="0"/>
              <a:t>, </a:t>
            </a:r>
            <a:r>
              <a:rPr lang="en-US" dirty="0" err="1"/>
              <a:t>ilop</a:t>
            </a:r>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49</a:t>
            </a:fld>
            <a:endParaRPr lang="en-US"/>
          </a:p>
        </p:txBody>
      </p:sp>
    </p:spTree>
    <p:extLst>
      <p:ext uri="{BB962C8B-B14F-4D97-AF65-F5344CB8AC3E}">
        <p14:creationId xmlns:p14="http://schemas.microsoft.com/office/powerpoint/2010/main" val="34731674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Clozapine and olanzapine are the biggest culprits for metabolic effects</a:t>
            </a:r>
          </a:p>
          <a:p>
            <a:endParaRPr lang="en-US" dirty="0"/>
          </a:p>
          <a:p>
            <a:r>
              <a:rPr lang="en-US" dirty="0"/>
              <a:t>Clozapine has the most anticholinergic effects yet</a:t>
            </a:r>
            <a:r>
              <a:rPr lang="en-US" baseline="0" dirty="0"/>
              <a:t> many pts can have significant </a:t>
            </a:r>
            <a:r>
              <a:rPr lang="en-US" baseline="0" dirty="0" err="1"/>
              <a:t>sialorrhea</a:t>
            </a:r>
            <a:r>
              <a:rPr lang="en-US" baseline="0" dirty="0"/>
              <a:t>---What causes this??</a:t>
            </a:r>
          </a:p>
          <a:p>
            <a:r>
              <a:rPr lang="en-US" baseline="0" dirty="0"/>
              <a:t>   clozapine blocks muscarinic receptors M1-3 but is an M4 agonist---this agonistic effect thought to cause the drooling</a:t>
            </a:r>
          </a:p>
          <a:p>
            <a:endParaRPr lang="en-US" baseline="0" dirty="0"/>
          </a:p>
          <a:p>
            <a:r>
              <a:rPr lang="en-US" baseline="0" dirty="0"/>
              <a:t>How do u treat this? With SL atropine or </a:t>
            </a:r>
            <a:r>
              <a:rPr lang="en-US" baseline="0" dirty="0" err="1"/>
              <a:t>glycopyrollate</a:t>
            </a:r>
            <a:endParaRPr lang="en-US" baseline="0" dirty="0"/>
          </a:p>
          <a:p>
            <a:endParaRPr lang="en-US" baseline="0" dirty="0"/>
          </a:p>
          <a:p>
            <a:r>
              <a:rPr lang="en-US" b="1" baseline="0" dirty="0" err="1"/>
              <a:t>Cariprazine</a:t>
            </a:r>
            <a:r>
              <a:rPr lang="en-US" baseline="0" dirty="0"/>
              <a:t>: has not shown to increase </a:t>
            </a:r>
            <a:r>
              <a:rPr lang="en-US" baseline="0" dirty="0" err="1"/>
              <a:t>QTc</a:t>
            </a:r>
            <a:r>
              <a:rPr lang="en-US" baseline="0" dirty="0"/>
              <a:t> interval, less metabolic effects---new med! Do we have enough data? </a:t>
            </a:r>
          </a:p>
          <a:p>
            <a:endParaRPr lang="en-US" dirty="0"/>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50</a:t>
            </a:fld>
            <a:endParaRPr lang="en-US"/>
          </a:p>
        </p:txBody>
      </p:sp>
    </p:spTree>
    <p:extLst>
      <p:ext uri="{BB962C8B-B14F-4D97-AF65-F5344CB8AC3E}">
        <p14:creationId xmlns:p14="http://schemas.microsoft.com/office/powerpoint/2010/main" val="16653981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8ABB82-441F-4DCE-AF4C-B0D62B3B59E5}" type="slidenum">
              <a:rPr lang="en-US" smtClean="0"/>
              <a:pPr/>
              <a:t>51</a:t>
            </a:fld>
            <a:endParaRPr lang="en-US"/>
          </a:p>
        </p:txBody>
      </p:sp>
    </p:spTree>
    <p:extLst>
      <p:ext uri="{BB962C8B-B14F-4D97-AF65-F5344CB8AC3E}">
        <p14:creationId xmlns:p14="http://schemas.microsoft.com/office/powerpoint/2010/main" val="17675664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Can talk  briefly about DDI with clozapine and smoking—due to 1A2---- and caffeine</a:t>
            </a:r>
          </a:p>
          <a:p>
            <a:r>
              <a:rPr lang="en-US" baseline="0" dirty="0"/>
              <a:t>2D6—think about interaction w/SSRIs if on both</a:t>
            </a:r>
          </a:p>
          <a:p>
            <a:endParaRPr lang="en-US" baseline="0" dirty="0"/>
          </a:p>
          <a:p>
            <a:r>
              <a:rPr lang="en-US" baseline="0" dirty="0"/>
              <a:t>Alcohol:</a:t>
            </a:r>
          </a:p>
          <a:p>
            <a:pPr marL="171450" indent="-171450">
              <a:buFontTx/>
              <a:buChar char="-"/>
            </a:pPr>
            <a:r>
              <a:rPr lang="en-US" baseline="0" dirty="0"/>
              <a:t>Binger: inhibits enzymes</a:t>
            </a:r>
          </a:p>
          <a:p>
            <a:pPr marL="171450" indent="-171450">
              <a:buFontTx/>
              <a:buChar char="-"/>
            </a:pPr>
            <a:r>
              <a:rPr lang="en-US" baseline="0" dirty="0"/>
              <a:t>Chronic: induces enzymes</a:t>
            </a:r>
          </a:p>
          <a:p>
            <a:pPr marL="0" indent="0">
              <a:buFontTx/>
              <a:buNone/>
            </a:pPr>
            <a:endParaRPr lang="en-US" baseline="0" dirty="0"/>
          </a:p>
          <a:p>
            <a:pPr marL="0" indent="0">
              <a:buFontTx/>
              <a:buNone/>
            </a:pPr>
            <a:r>
              <a:rPr lang="en-US" baseline="0" dirty="0"/>
              <a:t>Nicotine: polycyclic aromatic hydrocarbons in cig smoke can induce CYP1A2 </a:t>
            </a:r>
          </a:p>
          <a:p>
            <a:pPr marL="171450" indent="-171450">
              <a:buFontTx/>
              <a:buChar char="-"/>
            </a:pPr>
            <a:r>
              <a:rPr lang="en-US" baseline="0" dirty="0"/>
              <a:t>Can reduce clozapine levels</a:t>
            </a:r>
          </a:p>
          <a:p>
            <a:pPr marL="171450" indent="-171450">
              <a:buFontTx/>
              <a:buChar char="-"/>
            </a:pPr>
            <a:endParaRPr lang="en-US" baseline="0" dirty="0"/>
          </a:p>
          <a:p>
            <a:pPr marL="0" indent="0">
              <a:buFontTx/>
              <a:buNone/>
            </a:pPr>
            <a:r>
              <a:rPr lang="en-US" baseline="0" dirty="0"/>
              <a:t>FYI: 2D6 is a non-inducible isoenzyme (but is very easy to inhibit)</a:t>
            </a:r>
          </a:p>
          <a:p>
            <a:pPr marL="0" indent="0">
              <a:buFontTx/>
              <a:buNone/>
            </a:pPr>
            <a:endParaRPr lang="en-US" baseline="0" dirty="0"/>
          </a:p>
          <a:p>
            <a:pPr marL="0" indent="0">
              <a:buFontTx/>
              <a:buNone/>
            </a:pPr>
            <a:r>
              <a:rPr lang="en-US" baseline="0" dirty="0"/>
              <a:t>Caffeine: weak CYP1A2 inhibitor</a:t>
            </a:r>
          </a:p>
          <a:p>
            <a:pPr marL="0" indent="0">
              <a:buFontTx/>
              <a:buNone/>
            </a:pPr>
            <a:r>
              <a:rPr lang="en-US" baseline="0" dirty="0"/>
              <a:t>- Can increase levels of clozapine</a:t>
            </a:r>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52</a:t>
            </a:fld>
            <a:endParaRPr lang="en-US"/>
          </a:p>
        </p:txBody>
      </p:sp>
    </p:spTree>
    <p:extLst>
      <p:ext uri="{BB962C8B-B14F-4D97-AF65-F5344CB8AC3E}">
        <p14:creationId xmlns:p14="http://schemas.microsoft.com/office/powerpoint/2010/main" val="33220850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8ABB82-441F-4DCE-AF4C-B0D62B3B59E5}" type="slidenum">
              <a:rPr lang="en-US" smtClean="0"/>
              <a:pPr/>
              <a:t>53</a:t>
            </a:fld>
            <a:endParaRPr lang="en-US"/>
          </a:p>
        </p:txBody>
      </p:sp>
    </p:spTree>
    <p:extLst>
      <p:ext uri="{BB962C8B-B14F-4D97-AF65-F5344CB8AC3E}">
        <p14:creationId xmlns:p14="http://schemas.microsoft.com/office/powerpoint/2010/main" val="26602836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Here we use modified Kane Criteria (allow after 2 different agents)</a:t>
            </a:r>
          </a:p>
          <a:p>
            <a:endParaRPr lang="en-US" baseline="0" dirty="0"/>
          </a:p>
          <a:p>
            <a:r>
              <a:rPr lang="en-US" b="1" baseline="0" dirty="0"/>
              <a:t>Best drug! We should go to this sooner!</a:t>
            </a:r>
          </a:p>
          <a:p>
            <a:r>
              <a:rPr lang="en-US" b="1" baseline="0" dirty="0"/>
              <a:t>If </a:t>
            </a:r>
            <a:r>
              <a:rPr lang="en-US" b="1" baseline="0" dirty="0" err="1"/>
              <a:t>pt</a:t>
            </a:r>
            <a:r>
              <a:rPr lang="en-US" b="1" baseline="0" dirty="0"/>
              <a:t> fails 1</a:t>
            </a:r>
            <a:r>
              <a:rPr lang="en-US" b="1" baseline="30000" dirty="0"/>
              <a:t>st</a:t>
            </a:r>
            <a:r>
              <a:rPr lang="en-US" b="1" baseline="0" dirty="0"/>
              <a:t> drug, likelihood for response is 5-10% with the 2</a:t>
            </a:r>
            <a:r>
              <a:rPr lang="en-US" b="1" baseline="30000" dirty="0"/>
              <a:t>nd</a:t>
            </a:r>
            <a:r>
              <a:rPr lang="en-US" b="1" baseline="0" dirty="0"/>
              <a:t> drug</a:t>
            </a:r>
          </a:p>
          <a:p>
            <a:endParaRPr lang="en-US" baseline="0" dirty="0"/>
          </a:p>
          <a:p>
            <a:r>
              <a:rPr lang="en-US" b="1" baseline="0" dirty="0"/>
              <a:t>Clozapine response rate:</a:t>
            </a:r>
          </a:p>
          <a:p>
            <a:r>
              <a:rPr lang="en-US" baseline="0" dirty="0"/>
              <a:t>30% respond at 4 months</a:t>
            </a:r>
          </a:p>
          <a:p>
            <a:r>
              <a:rPr lang="en-US" baseline="0" dirty="0"/>
              <a:t>50% respond at 12 months</a:t>
            </a:r>
          </a:p>
          <a:p>
            <a:r>
              <a:rPr lang="en-US" baseline="0" dirty="0"/>
              <a:t>Why we need a long trial of clozapine!</a:t>
            </a:r>
          </a:p>
          <a:p>
            <a:endParaRPr lang="en-US" baseline="0" dirty="0"/>
          </a:p>
          <a:p>
            <a:r>
              <a:rPr lang="en-US" baseline="0" dirty="0"/>
              <a:t>Also only AP documented to decrease risk of suicide in schizophrenia</a:t>
            </a:r>
          </a:p>
          <a:p>
            <a:r>
              <a:rPr lang="en-US" baseline="0" dirty="0"/>
              <a:t>May actually decrease TD</a:t>
            </a:r>
          </a:p>
          <a:p>
            <a:r>
              <a:rPr lang="en-US" baseline="0" dirty="0"/>
              <a:t>Greatest efficacy but most ADEs of SGAs</a:t>
            </a:r>
          </a:p>
          <a:p>
            <a:r>
              <a:rPr lang="en-US" baseline="0" dirty="0">
                <a:sym typeface="Wingdings" panose="05000000000000000000" pitchFamily="2" charset="2"/>
              </a:rPr>
              <a:t> Serotonin, adrenergic, and histaminergic blocking activity. Also potent muscarinic </a:t>
            </a:r>
            <a:r>
              <a:rPr lang="en-US" baseline="0" dirty="0" err="1">
                <a:sym typeface="Wingdings" panose="05000000000000000000" pitchFamily="2" charset="2"/>
              </a:rPr>
              <a:t>Ach</a:t>
            </a:r>
            <a:r>
              <a:rPr lang="en-US" baseline="0" dirty="0">
                <a:sym typeface="Wingdings" panose="05000000000000000000" pitchFamily="2" charset="2"/>
              </a:rPr>
              <a:t> receptor antagonist. Relatively weak binding to D1 and D2</a:t>
            </a:r>
            <a:endParaRPr lang="en-US" baseline="0"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54</a:t>
            </a:fld>
            <a:endParaRPr lang="en-US"/>
          </a:p>
        </p:txBody>
      </p:sp>
    </p:spTree>
    <p:extLst>
      <p:ext uri="{BB962C8B-B14F-4D97-AF65-F5344CB8AC3E}">
        <p14:creationId xmlns:p14="http://schemas.microsoft.com/office/powerpoint/2010/main" val="34394618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FYI:</a:t>
            </a:r>
          </a:p>
          <a:p>
            <a:r>
              <a:rPr lang="en-US" dirty="0"/>
              <a:t>Females: 15% in usual dose of clozapine have seizures</a:t>
            </a:r>
          </a:p>
          <a:p>
            <a:r>
              <a:rPr lang="en-US" dirty="0"/>
              <a:t>Mean dose in US (450mg) is much higher than in Europe (200-250mg)</a:t>
            </a:r>
          </a:p>
          <a:p>
            <a:r>
              <a:rPr lang="en-US" dirty="0"/>
              <a:t>See urinary incontinence in ~25%</a:t>
            </a:r>
          </a:p>
          <a:p>
            <a:endParaRPr lang="en-US" dirty="0"/>
          </a:p>
          <a:p>
            <a:r>
              <a:rPr lang="en-US" dirty="0"/>
              <a:t>Seizure </a:t>
            </a:r>
            <a:r>
              <a:rPr lang="en-US" dirty="0" err="1"/>
              <a:t>ppx</a:t>
            </a:r>
            <a:r>
              <a:rPr lang="en-US" dirty="0"/>
              <a:t>: provider specific if they choose to use</a:t>
            </a:r>
          </a:p>
          <a:p>
            <a:pPr marL="171450" indent="-171450">
              <a:buFont typeface="Wingdings" panose="05000000000000000000" pitchFamily="2" charset="2"/>
              <a:buChar char="à"/>
            </a:pPr>
            <a:r>
              <a:rPr lang="en-US" dirty="0">
                <a:sym typeface="Wingdings" panose="05000000000000000000" pitchFamily="2" charset="2"/>
              </a:rPr>
              <a:t>May consider </a:t>
            </a:r>
            <a:r>
              <a:rPr lang="en-US" dirty="0" err="1">
                <a:sym typeface="Wingdings" panose="05000000000000000000" pitchFamily="2" charset="2"/>
              </a:rPr>
              <a:t>ppx</a:t>
            </a:r>
            <a:r>
              <a:rPr lang="en-US" dirty="0">
                <a:sym typeface="Wingdings" panose="05000000000000000000" pitchFamily="2" charset="2"/>
              </a:rPr>
              <a:t> if see myoclonic jerks (precursor to seizures)</a:t>
            </a:r>
          </a:p>
          <a:p>
            <a:pPr marL="171450" indent="-171450">
              <a:buFont typeface="Wingdings" panose="05000000000000000000" pitchFamily="2" charset="2"/>
              <a:buChar char="à"/>
            </a:pPr>
            <a:r>
              <a:rPr lang="en-US" dirty="0">
                <a:sym typeface="Wingdings" panose="05000000000000000000" pitchFamily="2" charset="2"/>
              </a:rPr>
              <a:t>Do NOT use </a:t>
            </a:r>
            <a:r>
              <a:rPr lang="en-US" dirty="0" err="1">
                <a:sym typeface="Wingdings" panose="05000000000000000000" pitchFamily="2" charset="2"/>
              </a:rPr>
              <a:t>phenobarb</a:t>
            </a:r>
            <a:r>
              <a:rPr lang="en-US" dirty="0">
                <a:sym typeface="Wingdings" panose="05000000000000000000" pitchFamily="2" charset="2"/>
              </a:rPr>
              <a:t>, phenytoin, carb: bone marrow suppression!</a:t>
            </a:r>
            <a:endParaRPr lang="en-US" dirty="0"/>
          </a:p>
          <a:p>
            <a:endParaRPr lang="en-US" dirty="0"/>
          </a:p>
          <a:p>
            <a:r>
              <a:rPr lang="en-US" baseline="0" dirty="0"/>
              <a:t>Significant </a:t>
            </a:r>
            <a:r>
              <a:rPr lang="en-US" baseline="0" dirty="0" err="1"/>
              <a:t>sialorrhea</a:t>
            </a:r>
            <a:r>
              <a:rPr lang="en-US" baseline="0" dirty="0"/>
              <a:t>: clozapine blocks muscarinic receptors M1-3 but is an M4 agonist---this agonistic effect thought to cause the drooling</a:t>
            </a:r>
          </a:p>
          <a:p>
            <a:endParaRPr lang="en-US" baseline="0" dirty="0"/>
          </a:p>
          <a:p>
            <a:r>
              <a:rPr lang="en-US" baseline="0" dirty="0"/>
              <a:t>How do u treat this? With SL atropine or </a:t>
            </a:r>
            <a:r>
              <a:rPr lang="en-US" baseline="0" dirty="0" err="1"/>
              <a:t>glycopyrollate</a:t>
            </a:r>
            <a:endParaRPr lang="en-US" baseline="0" dirty="0"/>
          </a:p>
          <a:p>
            <a:pPr marL="0" marR="0" lvl="1" indent="0" algn="l" defTabSz="914400" rtl="0" eaLnBrk="1" fontAlgn="auto" latinLnBrk="0" hangingPunct="1">
              <a:lnSpc>
                <a:spcPct val="100000"/>
              </a:lnSpc>
              <a:spcBef>
                <a:spcPts val="0"/>
              </a:spcBef>
              <a:spcAft>
                <a:spcPts val="0"/>
              </a:spcAft>
              <a:buClrTx/>
              <a:buSzTx/>
              <a:buFontTx/>
              <a:buNone/>
              <a:tabLst/>
              <a:defRPr/>
            </a:pPr>
            <a:endParaRPr lang="en-US" sz="2800" dirty="0"/>
          </a:p>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55</a:t>
            </a:fld>
            <a:endParaRPr lang="en-US"/>
          </a:p>
        </p:txBody>
      </p:sp>
    </p:spTree>
    <p:extLst>
      <p:ext uri="{BB962C8B-B14F-4D97-AF65-F5344CB8AC3E}">
        <p14:creationId xmlns:p14="http://schemas.microsoft.com/office/powerpoint/2010/main" val="23778513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8ABB82-441F-4DCE-AF4C-B0D62B3B59E5}" type="slidenum">
              <a:rPr lang="en-US" smtClean="0"/>
              <a:pPr/>
              <a:t>56</a:t>
            </a:fld>
            <a:endParaRPr lang="en-US"/>
          </a:p>
        </p:txBody>
      </p:sp>
    </p:spTree>
    <p:extLst>
      <p:ext uri="{BB962C8B-B14F-4D97-AF65-F5344CB8AC3E}">
        <p14:creationId xmlns:p14="http://schemas.microsoft.com/office/powerpoint/2010/main" val="183819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D6DD859E-FDA4-4B5D-805A-00FAF7B27D4D}" type="datetimeFigureOut">
              <a:rPr lang="en-US" smtClean="0"/>
              <a:pPr/>
              <a:t>8/27/2020</a:t>
            </a:fld>
            <a:endParaRPr lang="en-US"/>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8EAB7059-7546-4195-82D5-3A835F162B3F}" type="slidenum">
              <a:rPr lang="en-US" smtClean="0"/>
              <a:pPr/>
              <a:t>‹#›</a:t>
            </a:fld>
            <a:endParaRPr lang="en-US"/>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07391974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D859E-FDA4-4B5D-805A-00FAF7B27D4D}" type="datetimeFigureOut">
              <a:rPr lang="en-US" smtClean="0"/>
              <a:pPr/>
              <a:t>8/27/2020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B7059-7546-4195-82D5-3A835F162B3F}" type="slidenum">
              <a:rPr lang="en-US" smtClean="0"/>
              <a:pPr/>
              <a:t>‹#›</a:t>
            </a:fld>
            <a:endParaRPr lang="en-US"/>
          </a:p>
        </p:txBody>
      </p:sp>
    </p:spTree>
    <p:extLst>
      <p:ext uri="{BB962C8B-B14F-4D97-AF65-F5344CB8AC3E}">
        <p14:creationId xmlns:p14="http://schemas.microsoft.com/office/powerpoint/2010/main" val="131678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D6DD859E-FDA4-4B5D-805A-00FAF7B27D4D}" type="datetimeFigureOut">
              <a:rPr lang="en-US" smtClean="0"/>
              <a:pPr/>
              <a:t>8/27/2020</a:t>
            </a:fld>
            <a:endParaRPr lang="en-US"/>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8EAB7059-7546-4195-82D5-3A835F162B3F}" type="slidenum">
              <a:rPr lang="en-US" smtClean="0"/>
              <a:pPr/>
              <a:t>‹#›</a:t>
            </a:fld>
            <a:endParaRPr lang="en-US"/>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2964581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DD859E-FDA4-4B5D-805A-00FAF7B27D4D}" type="datetimeFigureOut">
              <a:rPr lang="en-US" smtClean="0"/>
              <a:pPr/>
              <a:t>8/27/2020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B7059-7546-4195-82D5-3A835F162B3F}" type="slidenum">
              <a:rPr lang="en-US" smtClean="0"/>
              <a:pPr/>
              <a:t>‹#›</a:t>
            </a:fld>
            <a:endParaRPr lang="en-US"/>
          </a:p>
        </p:txBody>
      </p:sp>
    </p:spTree>
    <p:extLst>
      <p:ext uri="{BB962C8B-B14F-4D97-AF65-F5344CB8AC3E}">
        <p14:creationId xmlns:p14="http://schemas.microsoft.com/office/powerpoint/2010/main" val="298516044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DD859E-FDA4-4B5D-805A-00FAF7B27D4D}" type="datetimeFigureOut">
              <a:rPr lang="en-US" smtClean="0"/>
              <a:pPr/>
              <a:t>8/27/2020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AB7059-7546-4195-82D5-3A835F162B3F}" type="slidenum">
              <a:rPr lang="en-US" smtClean="0"/>
              <a:pPr/>
              <a:t>‹#›</a:t>
            </a:fld>
            <a:endParaRPr lang="en-US"/>
          </a:p>
        </p:txBody>
      </p:sp>
    </p:spTree>
    <p:extLst>
      <p:ext uri="{BB962C8B-B14F-4D97-AF65-F5344CB8AC3E}">
        <p14:creationId xmlns:p14="http://schemas.microsoft.com/office/powerpoint/2010/main" val="394743043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DD859E-FDA4-4B5D-805A-00FAF7B27D4D}" type="datetimeFigureOut">
              <a:rPr lang="en-US" smtClean="0"/>
              <a:pPr/>
              <a:t>8/27/2020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AB7059-7546-4195-82D5-3A835F162B3F}" type="slidenum">
              <a:rPr lang="en-US" smtClean="0"/>
              <a:pPr/>
              <a:t>‹#›</a:t>
            </a:fld>
            <a:endParaRPr lang="en-US"/>
          </a:p>
        </p:txBody>
      </p:sp>
    </p:spTree>
    <p:extLst>
      <p:ext uri="{BB962C8B-B14F-4D97-AF65-F5344CB8AC3E}">
        <p14:creationId xmlns:p14="http://schemas.microsoft.com/office/powerpoint/2010/main" val="4004651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D859E-FDA4-4B5D-805A-00FAF7B27D4D}" type="datetimeFigureOut">
              <a:rPr lang="en-US" smtClean="0"/>
              <a:pPr/>
              <a:t>8/27/2020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AB7059-7546-4195-82D5-3A835F162B3F}" type="slidenum">
              <a:rPr lang="en-US" smtClean="0"/>
              <a:pPr/>
              <a:t>‹#›</a:t>
            </a:fld>
            <a:endParaRPr lang="en-US"/>
          </a:p>
        </p:txBody>
      </p:sp>
    </p:spTree>
    <p:extLst>
      <p:ext uri="{BB962C8B-B14F-4D97-AF65-F5344CB8AC3E}">
        <p14:creationId xmlns:p14="http://schemas.microsoft.com/office/powerpoint/2010/main" val="3373812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D6DD859E-FDA4-4B5D-805A-00FAF7B27D4D}" type="datetimeFigureOut">
              <a:rPr lang="en-US" smtClean="0"/>
              <a:pPr/>
              <a:t>8/27/2020</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8EAB7059-7546-4195-82D5-3A835F162B3F}"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17090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D6DD859E-FDA4-4B5D-805A-00FAF7B27D4D}" type="datetimeFigureOut">
              <a:rPr lang="en-US" smtClean="0"/>
              <a:pPr/>
              <a:t>8/27/2020</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8EAB7059-7546-4195-82D5-3A835F162B3F}"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7077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D859E-FDA4-4B5D-805A-00FAF7B27D4D}" type="datetimeFigureOut">
              <a:rPr lang="en-US" smtClean="0"/>
              <a:pPr/>
              <a:t>8/27/2020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B7059-7546-4195-82D5-3A835F162B3F}" type="slidenum">
              <a:rPr lang="en-US" smtClean="0"/>
              <a:pPr/>
              <a:t>‹#›</a:t>
            </a:fld>
            <a:endParaRPr lang="en-US"/>
          </a:p>
        </p:txBody>
      </p:sp>
    </p:spTree>
    <p:extLst>
      <p:ext uri="{BB962C8B-B14F-4D97-AF65-F5344CB8AC3E}">
        <p14:creationId xmlns:p14="http://schemas.microsoft.com/office/powerpoint/2010/main" val="198074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D859E-FDA4-4B5D-805A-00FAF7B27D4D}" type="datetimeFigureOut">
              <a:rPr lang="en-US" smtClean="0"/>
              <a:pPr/>
              <a:t>8/27/2020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B7059-7546-4195-82D5-3A835F162B3F}" type="slidenum">
              <a:rPr lang="en-US" smtClean="0"/>
              <a:pPr/>
              <a:t>‹#›</a:t>
            </a:fld>
            <a:endParaRPr lang="en-US"/>
          </a:p>
        </p:txBody>
      </p:sp>
    </p:spTree>
    <p:extLst>
      <p:ext uri="{BB962C8B-B14F-4D97-AF65-F5344CB8AC3E}">
        <p14:creationId xmlns:p14="http://schemas.microsoft.com/office/powerpoint/2010/main" val="63654042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fld id="{D6DD859E-FDA4-4B5D-805A-00FAF7B27D4D}" type="datetimeFigureOut">
              <a:rPr lang="en-US" smtClean="0"/>
              <a:pPr/>
              <a:t>8/27/2020</a:t>
            </a:fld>
            <a:endParaRPr lang="en-US"/>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8EAB7059-7546-4195-82D5-3A835F162B3F}" type="slidenum">
              <a:rPr lang="en-US" smtClean="0"/>
              <a:pPr/>
              <a:t>‹#›</a:t>
            </a:fld>
            <a:endParaRPr lang="en-US"/>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31189181"/>
      </p:ext>
    </p:extLst>
  </p:cSld>
  <p:clrMap bg1="lt1" tx1="dk1" bg2="lt2" tx2="dk2" accent1="accent1" accent2="accent2" accent3="accent3" accent4="accent4" accent5="accent5" accent6="accent6" hlink="hlink" folHlink="folHlink"/>
  <p:sldLayoutIdLst>
    <p:sldLayoutId id="2147484425" r:id="rId1"/>
    <p:sldLayoutId id="2147484426" r:id="rId2"/>
    <p:sldLayoutId id="2147484427" r:id="rId3"/>
    <p:sldLayoutId id="2147484428" r:id="rId4"/>
    <p:sldLayoutId id="2147484429" r:id="rId5"/>
    <p:sldLayoutId id="2147484430" r:id="rId6"/>
    <p:sldLayoutId id="2147484431" r:id="rId7"/>
    <p:sldLayoutId id="2147484432" r:id="rId8"/>
    <p:sldLayoutId id="2147484433" r:id="rId9"/>
    <p:sldLayoutId id="2147484434" r:id="rId10"/>
    <p:sldLayoutId id="2147484435" r:id="rId11"/>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12">
          <p15:clr>
            <a:srgbClr val="F26B43"/>
          </p15:clr>
        </p15:guide>
        <p15:guide id="2" pos="936">
          <p15:clr>
            <a:srgbClr val="F26B43"/>
          </p15:clr>
        </p15:guide>
        <p15:guide id="3" pos="864">
          <p15:clr>
            <a:srgbClr val="F26B43"/>
          </p15:clr>
        </p15:guide>
        <p15:guide id="0" orient="horz" pos="1368">
          <p15:clr>
            <a:srgbClr val="F26B43"/>
          </p15:clr>
        </p15:guide>
        <p15:guide id="4" orient="horz" pos="1440">
          <p15:clr>
            <a:srgbClr val="F26B43"/>
          </p15:clr>
        </p15:guide>
        <p15:guide id="5" orient="horz" pos="3696">
          <p15:clr>
            <a:srgbClr val="F26B43"/>
          </p15:clr>
        </p15:guide>
        <p15:guide id="6" orient="horz" pos="432">
          <p15:clr>
            <a:srgbClr val="F26B43"/>
          </p15:clr>
        </p15:guide>
        <p15:guide id="7" orient="horz" pos="1512">
          <p15:clr>
            <a:srgbClr val="F26B43"/>
          </p15:clr>
        </p15:guide>
        <p15:guide id="8" pos="5184">
          <p15:clr>
            <a:srgbClr val="F26B43"/>
          </p15:clr>
        </p15:guide>
        <p15:guide id="9" pos="702">
          <p15:clr>
            <a:srgbClr val="F26B43"/>
          </p15:clr>
        </p15:guide>
        <p15:guide id="10"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143000" y="609600"/>
            <a:ext cx="7086600" cy="5410200"/>
          </a:xfrm>
        </p:spPr>
        <p:txBody>
          <a:bodyPr>
            <a:normAutofit/>
          </a:bodyPr>
          <a:lstStyle/>
          <a:p>
            <a:pPr algn="l"/>
            <a:r>
              <a:rPr lang="en-US" sz="6600" b="1" dirty="0"/>
              <a:t>Antipsychotic</a:t>
            </a:r>
            <a:br>
              <a:rPr lang="en-US" sz="6600" b="1" dirty="0"/>
            </a:br>
            <a:r>
              <a:rPr lang="en-US" sz="6600" b="1" dirty="0"/>
              <a:t>Medications </a:t>
            </a:r>
            <a:r>
              <a:rPr lang="en-US" sz="7000" b="1" dirty="0"/>
              <a:t/>
            </a:r>
            <a:br>
              <a:rPr lang="en-US" sz="7000" b="1" dirty="0"/>
            </a:br>
            <a:r>
              <a:rPr lang="en-US" dirty="0"/>
              <a:t/>
            </a:r>
            <a:br>
              <a:rPr lang="en-US" dirty="0"/>
            </a:br>
            <a:r>
              <a:rPr lang="en-US" sz="1800" dirty="0"/>
              <a:t/>
            </a:r>
            <a:br>
              <a:rPr lang="en-US" sz="1800" dirty="0"/>
            </a:br>
            <a:r>
              <a:rPr lang="en-US" sz="1800" dirty="0"/>
              <a:t/>
            </a:r>
            <a:br>
              <a:rPr lang="en-US" sz="1800" dirty="0"/>
            </a:br>
            <a:endParaRPr lang="en-US" sz="1800" dirty="0"/>
          </a:p>
        </p:txBody>
      </p:sp>
    </p:spTree>
    <p:extLst>
      <p:ext uri="{BB962C8B-B14F-4D97-AF65-F5344CB8AC3E}">
        <p14:creationId xmlns:p14="http://schemas.microsoft.com/office/powerpoint/2010/main" val="3295339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840" y="381000"/>
            <a:ext cx="7200900" cy="1295400"/>
          </a:xfrm>
        </p:spPr>
        <p:txBody>
          <a:bodyPr>
            <a:normAutofit/>
          </a:bodyPr>
          <a:lstStyle/>
          <a:p>
            <a:r>
              <a:rPr lang="en-US" sz="4000" b="1" dirty="0"/>
              <a:t>What is Schizophrenia?</a:t>
            </a:r>
          </a:p>
        </p:txBody>
      </p:sp>
      <p:sp>
        <p:nvSpPr>
          <p:cNvPr id="3" name="Content Placeholder 2"/>
          <p:cNvSpPr>
            <a:spLocks noGrp="1"/>
          </p:cNvSpPr>
          <p:nvPr>
            <p:ph idx="1"/>
          </p:nvPr>
        </p:nvSpPr>
        <p:spPr>
          <a:xfrm>
            <a:off x="533400" y="1524000"/>
            <a:ext cx="8458200" cy="4648200"/>
          </a:xfrm>
        </p:spPr>
        <p:txBody>
          <a:bodyPr>
            <a:normAutofit/>
          </a:bodyPr>
          <a:lstStyle/>
          <a:p>
            <a:r>
              <a:rPr lang="en-US" sz="2800" dirty="0"/>
              <a:t>Psychiatric disorder</a:t>
            </a:r>
          </a:p>
          <a:p>
            <a:pPr lvl="1"/>
            <a:r>
              <a:rPr lang="en-US" sz="2400" i="0" dirty="0"/>
              <a:t>Persistent psychosis</a:t>
            </a:r>
          </a:p>
          <a:p>
            <a:pPr lvl="1"/>
            <a:r>
              <a:rPr lang="en-US" sz="2400" i="0" dirty="0"/>
              <a:t>Impaired cognition, social &amp; occupational functioning</a:t>
            </a:r>
          </a:p>
          <a:p>
            <a:r>
              <a:rPr lang="en-US" sz="2800" dirty="0"/>
              <a:t>Typically develops in late teens through the early 30’s </a:t>
            </a:r>
          </a:p>
          <a:p>
            <a:pPr lvl="1"/>
            <a:r>
              <a:rPr lang="en-US" sz="2400" i="0" dirty="0"/>
              <a:t>Male – more often early 20’s</a:t>
            </a:r>
          </a:p>
          <a:p>
            <a:pPr lvl="1"/>
            <a:r>
              <a:rPr lang="en-US" sz="2400" i="0" dirty="0"/>
              <a:t>Female – more often late 20’s </a:t>
            </a:r>
          </a:p>
          <a:p>
            <a:r>
              <a:rPr lang="en-US" sz="2800" dirty="0"/>
              <a:t>Lifetime prevalence: 0.3% - 0.7% </a:t>
            </a:r>
          </a:p>
          <a:p>
            <a:pPr>
              <a:buNone/>
            </a:pPr>
            <a:endParaRPr lang="en-US" dirty="0"/>
          </a:p>
        </p:txBody>
      </p:sp>
      <p:sp>
        <p:nvSpPr>
          <p:cNvPr id="4" name="TextBox 3"/>
          <p:cNvSpPr txBox="1"/>
          <p:nvPr/>
        </p:nvSpPr>
        <p:spPr>
          <a:xfrm>
            <a:off x="533400" y="6324600"/>
            <a:ext cx="7315200" cy="400110"/>
          </a:xfrm>
          <a:prstGeom prst="rect">
            <a:avLst/>
          </a:prstGeom>
          <a:noFill/>
        </p:spPr>
        <p:txBody>
          <a:bodyPr wrap="square" rtlCol="0">
            <a:spAutoFit/>
          </a:bodyPr>
          <a:lstStyle/>
          <a:p>
            <a:r>
              <a:rPr lang="en-US" sz="1000" dirty="0"/>
              <a:t>American Psychiatric Association. Diagnostic and Statistical Manual of Mental Disorders, Fifth Edition (DSM-5), American Psychiatric Association, Arlington, VA 2013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840" y="381000"/>
            <a:ext cx="7200900" cy="1295400"/>
          </a:xfrm>
        </p:spPr>
        <p:txBody>
          <a:bodyPr>
            <a:normAutofit/>
          </a:bodyPr>
          <a:lstStyle/>
          <a:p>
            <a:r>
              <a:rPr lang="en-US" sz="4000" b="1" dirty="0"/>
              <a:t>Symptom Domains</a:t>
            </a:r>
          </a:p>
        </p:txBody>
      </p:sp>
      <p:sp>
        <p:nvSpPr>
          <p:cNvPr id="4" name="TextBox 3"/>
          <p:cNvSpPr txBox="1"/>
          <p:nvPr/>
        </p:nvSpPr>
        <p:spPr>
          <a:xfrm>
            <a:off x="533400" y="6324600"/>
            <a:ext cx="7315200" cy="400110"/>
          </a:xfrm>
          <a:prstGeom prst="rect">
            <a:avLst/>
          </a:prstGeom>
          <a:noFill/>
        </p:spPr>
        <p:txBody>
          <a:bodyPr wrap="square" rtlCol="0">
            <a:spAutoFit/>
          </a:bodyPr>
          <a:lstStyle/>
          <a:p>
            <a:r>
              <a:rPr lang="en-US" sz="1000" dirty="0"/>
              <a:t>American Psychiatric Association. Diagnostic and Statistical Manual of Mental Disorders, Fifth Edition (DSM-5), American Psychiatric Association, Arlington, VA 2013</a:t>
            </a:r>
          </a:p>
        </p:txBody>
      </p:sp>
      <p:sp>
        <p:nvSpPr>
          <p:cNvPr id="6" name="Title 3"/>
          <p:cNvSpPr txBox="1">
            <a:spLocks/>
          </p:cNvSpPr>
          <p:nvPr/>
        </p:nvSpPr>
        <p:spPr>
          <a:xfrm>
            <a:off x="877397" y="1295400"/>
            <a:ext cx="7885603" cy="5029200"/>
          </a:xfrm>
          <a:prstGeom prst="rect">
            <a:avLst/>
          </a:prstGeom>
        </p:spPr>
        <p:txBody>
          <a:bodyPr vert="horz" lIns="91440" tIns="45720" rIns="91440" bIns="45720" numCol="2" rtlCol="0" anchor="t">
            <a:normAutofit lnSpcReduction="10000"/>
          </a:bodyPr>
          <a:lstStyle>
            <a:lvl1pPr algn="l" defTabSz="914400" rtl="0" eaLnBrk="1" latinLnBrk="0" hangingPunct="1">
              <a:lnSpc>
                <a:spcPct val="99000"/>
              </a:lnSpc>
              <a:spcBef>
                <a:spcPct val="0"/>
              </a:spcBef>
              <a:buNone/>
              <a:defRPr sz="4400" kern="1200">
                <a:solidFill>
                  <a:schemeClr val="tx2">
                    <a:lumMod val="75000"/>
                    <a:lumOff val="25000"/>
                  </a:schemeClr>
                </a:solidFill>
                <a:latin typeface="+mj-lt"/>
                <a:ea typeface="+mj-ea"/>
                <a:cs typeface="+mj-cs"/>
              </a:defRPr>
            </a:lvl1pPr>
          </a:lstStyle>
          <a:p>
            <a:pPr marL="384048" lvl="1" indent="-384048" defTabSz="685800">
              <a:lnSpc>
                <a:spcPct val="94000"/>
              </a:lnSpc>
              <a:spcBef>
                <a:spcPts val="1000"/>
              </a:spcBef>
              <a:spcAft>
                <a:spcPts val="200"/>
              </a:spcAft>
              <a:buFont typeface="Franklin Gothic Book" panose="020B0503020102020204" pitchFamily="34" charset="0"/>
              <a:buChar char="■"/>
            </a:pPr>
            <a:r>
              <a:rPr lang="en-US" sz="2800" dirty="0"/>
              <a:t>Positive symptoms</a:t>
            </a:r>
          </a:p>
          <a:p>
            <a:pPr marL="914400" lvl="1" indent="-384048" defTabSz="685800">
              <a:lnSpc>
                <a:spcPct val="94000"/>
              </a:lnSpc>
              <a:spcBef>
                <a:spcPts val="500"/>
              </a:spcBef>
              <a:spcAft>
                <a:spcPts val="200"/>
              </a:spcAft>
              <a:buFont typeface="Franklin Gothic Book" panose="020B0503020102020204" pitchFamily="34" charset="0"/>
              <a:buChar char="–"/>
            </a:pPr>
            <a:r>
              <a:rPr lang="en-US" sz="2400" dirty="0">
                <a:solidFill>
                  <a:schemeClr val="tx2"/>
                </a:solidFill>
              </a:rPr>
              <a:t>Hallucinations</a:t>
            </a:r>
          </a:p>
          <a:p>
            <a:pPr marL="914400" lvl="1" indent="-384048" defTabSz="685800">
              <a:lnSpc>
                <a:spcPct val="94000"/>
              </a:lnSpc>
              <a:spcBef>
                <a:spcPts val="500"/>
              </a:spcBef>
              <a:spcAft>
                <a:spcPts val="200"/>
              </a:spcAft>
              <a:buFont typeface="Franklin Gothic Book" panose="020B0503020102020204" pitchFamily="34" charset="0"/>
              <a:buChar char="–"/>
            </a:pPr>
            <a:r>
              <a:rPr lang="en-US" sz="2400" dirty="0">
                <a:solidFill>
                  <a:schemeClr val="tx2"/>
                </a:solidFill>
              </a:rPr>
              <a:t>Delusions</a:t>
            </a:r>
          </a:p>
          <a:p>
            <a:pPr marL="914400" lvl="1" indent="-384048" defTabSz="685800">
              <a:lnSpc>
                <a:spcPct val="94000"/>
              </a:lnSpc>
              <a:spcBef>
                <a:spcPts val="500"/>
              </a:spcBef>
              <a:spcAft>
                <a:spcPts val="200"/>
              </a:spcAft>
              <a:buFont typeface="Franklin Gothic Book" panose="020B0503020102020204" pitchFamily="34" charset="0"/>
              <a:buChar char="–"/>
            </a:pPr>
            <a:r>
              <a:rPr lang="en-US" sz="2400" dirty="0">
                <a:solidFill>
                  <a:schemeClr val="tx2"/>
                </a:solidFill>
              </a:rPr>
              <a:t>Conceptual disorganization</a:t>
            </a:r>
          </a:p>
          <a:p>
            <a:pPr marL="457200" lvl="2" defTabSz="914400">
              <a:spcBef>
                <a:spcPts val="1200"/>
              </a:spcBef>
            </a:pPr>
            <a:endParaRPr lang="en-US" sz="2000" dirty="0">
              <a:latin typeface="+mj-lt"/>
              <a:ea typeface="+mj-ea"/>
              <a:cs typeface="+mj-cs"/>
            </a:endParaRPr>
          </a:p>
          <a:p>
            <a:pPr marL="457200" lvl="2" defTabSz="914400">
              <a:spcBef>
                <a:spcPts val="1200"/>
              </a:spcBef>
            </a:pPr>
            <a:endParaRPr lang="en-US" sz="2000" dirty="0">
              <a:latin typeface="+mj-lt"/>
              <a:ea typeface="+mj-ea"/>
              <a:cs typeface="+mj-cs"/>
            </a:endParaRPr>
          </a:p>
          <a:p>
            <a:pPr marL="384048" lvl="1" indent="-384048" defTabSz="685800">
              <a:lnSpc>
                <a:spcPct val="94000"/>
              </a:lnSpc>
              <a:spcBef>
                <a:spcPts val="1000"/>
              </a:spcBef>
              <a:spcAft>
                <a:spcPts val="200"/>
              </a:spcAft>
              <a:buFont typeface="Franklin Gothic Book" panose="020B0503020102020204" pitchFamily="34" charset="0"/>
              <a:buChar char="■"/>
            </a:pPr>
            <a:r>
              <a:rPr lang="en-US" sz="2800" dirty="0"/>
              <a:t>Mood</a:t>
            </a:r>
          </a:p>
          <a:p>
            <a:pPr marL="914400" lvl="1" indent="-384048" defTabSz="685800">
              <a:lnSpc>
                <a:spcPct val="104000"/>
              </a:lnSpc>
              <a:spcBef>
                <a:spcPts val="500"/>
              </a:spcBef>
              <a:spcAft>
                <a:spcPts val="200"/>
              </a:spcAft>
              <a:buFont typeface="Franklin Gothic Book" panose="020B0503020102020204" pitchFamily="34" charset="0"/>
              <a:buChar char="–"/>
            </a:pPr>
            <a:r>
              <a:rPr lang="en-US" sz="2400" dirty="0">
                <a:solidFill>
                  <a:schemeClr val="tx2"/>
                </a:solidFill>
              </a:rPr>
              <a:t>Cheerful or sad in a way that is difficult to understand </a:t>
            </a:r>
          </a:p>
          <a:p>
            <a:pPr marL="914400" lvl="1" indent="-384048" defTabSz="685800">
              <a:lnSpc>
                <a:spcPct val="104000"/>
              </a:lnSpc>
              <a:spcBef>
                <a:spcPts val="500"/>
              </a:spcBef>
              <a:spcAft>
                <a:spcPts val="200"/>
              </a:spcAft>
              <a:buFont typeface="Franklin Gothic Book" panose="020B0503020102020204" pitchFamily="34" charset="0"/>
              <a:buChar char="–"/>
            </a:pPr>
            <a:r>
              <a:rPr lang="en-US" sz="2400" dirty="0">
                <a:solidFill>
                  <a:schemeClr val="tx2"/>
                </a:solidFill>
              </a:rPr>
              <a:t>Often flat or blunted</a:t>
            </a:r>
          </a:p>
          <a:p>
            <a:pPr marL="384048" lvl="1" indent="-384048" defTabSz="685800">
              <a:lnSpc>
                <a:spcPct val="104000"/>
              </a:lnSpc>
              <a:spcBef>
                <a:spcPts val="1000"/>
              </a:spcBef>
              <a:spcAft>
                <a:spcPts val="200"/>
              </a:spcAft>
              <a:buFont typeface="Franklin Gothic Book" panose="020B0503020102020204" pitchFamily="34" charset="0"/>
              <a:buChar char="■"/>
            </a:pPr>
            <a:r>
              <a:rPr lang="en-US" sz="2800" dirty="0"/>
              <a:t>Negative symptoms</a:t>
            </a:r>
          </a:p>
          <a:p>
            <a:pPr marL="914400" lvl="1" indent="-384048" defTabSz="685800">
              <a:lnSpc>
                <a:spcPct val="104000"/>
              </a:lnSpc>
              <a:spcBef>
                <a:spcPts val="500"/>
              </a:spcBef>
              <a:spcAft>
                <a:spcPts val="200"/>
              </a:spcAft>
              <a:buFont typeface="Franklin Gothic Book" panose="020B0503020102020204" pitchFamily="34" charset="0"/>
              <a:buChar char="–"/>
            </a:pPr>
            <a:r>
              <a:rPr lang="en-US" sz="2400" dirty="0" err="1">
                <a:solidFill>
                  <a:schemeClr val="tx2"/>
                </a:solidFill>
              </a:rPr>
              <a:t>Alogia</a:t>
            </a:r>
            <a:endParaRPr lang="en-US" sz="2400" dirty="0">
              <a:solidFill>
                <a:schemeClr val="tx2"/>
              </a:solidFill>
            </a:endParaRPr>
          </a:p>
          <a:p>
            <a:pPr marL="914400" lvl="1" indent="-384048" defTabSz="685800">
              <a:lnSpc>
                <a:spcPct val="104000"/>
              </a:lnSpc>
              <a:spcBef>
                <a:spcPts val="500"/>
              </a:spcBef>
              <a:spcAft>
                <a:spcPts val="200"/>
              </a:spcAft>
              <a:buFont typeface="Franklin Gothic Book" panose="020B0503020102020204" pitchFamily="34" charset="0"/>
              <a:buChar char="–"/>
            </a:pPr>
            <a:r>
              <a:rPr lang="en-US" sz="2400" dirty="0">
                <a:solidFill>
                  <a:schemeClr val="tx2"/>
                </a:solidFill>
              </a:rPr>
              <a:t>Blunted affect</a:t>
            </a:r>
          </a:p>
          <a:p>
            <a:pPr marL="914400" lvl="1" indent="-384048" defTabSz="685800">
              <a:lnSpc>
                <a:spcPct val="104000"/>
              </a:lnSpc>
              <a:spcBef>
                <a:spcPts val="500"/>
              </a:spcBef>
              <a:spcAft>
                <a:spcPts val="200"/>
              </a:spcAft>
              <a:buFont typeface="Franklin Gothic Book" panose="020B0503020102020204" pitchFamily="34" charset="0"/>
              <a:buChar char="–"/>
            </a:pPr>
            <a:r>
              <a:rPr lang="en-US" sz="2400" dirty="0" err="1">
                <a:solidFill>
                  <a:schemeClr val="tx2"/>
                </a:solidFill>
              </a:rPr>
              <a:t>Asociality</a:t>
            </a:r>
            <a:endParaRPr lang="en-US" sz="2400" dirty="0">
              <a:solidFill>
                <a:schemeClr val="tx2"/>
              </a:solidFill>
            </a:endParaRPr>
          </a:p>
          <a:p>
            <a:pPr marL="914400" lvl="1" indent="-384048" defTabSz="685800">
              <a:lnSpc>
                <a:spcPct val="104000"/>
              </a:lnSpc>
              <a:spcBef>
                <a:spcPts val="500"/>
              </a:spcBef>
              <a:spcAft>
                <a:spcPts val="200"/>
              </a:spcAft>
              <a:buFont typeface="Franklin Gothic Book" panose="020B0503020102020204" pitchFamily="34" charset="0"/>
              <a:buChar char="–"/>
            </a:pPr>
            <a:r>
              <a:rPr lang="en-US" sz="2400" dirty="0">
                <a:solidFill>
                  <a:schemeClr val="tx2"/>
                </a:solidFill>
              </a:rPr>
              <a:t>Anhedonia</a:t>
            </a:r>
          </a:p>
          <a:p>
            <a:pPr marL="914400" lvl="1" indent="-384048" defTabSz="685800">
              <a:lnSpc>
                <a:spcPct val="104000"/>
              </a:lnSpc>
              <a:spcBef>
                <a:spcPts val="500"/>
              </a:spcBef>
              <a:spcAft>
                <a:spcPts val="200"/>
              </a:spcAft>
              <a:buFont typeface="Franklin Gothic Book" panose="020B0503020102020204" pitchFamily="34" charset="0"/>
              <a:buChar char="–"/>
            </a:pPr>
            <a:r>
              <a:rPr lang="en-US" sz="2400" dirty="0" err="1">
                <a:solidFill>
                  <a:schemeClr val="tx2"/>
                </a:solidFill>
              </a:rPr>
              <a:t>Avolition</a:t>
            </a:r>
            <a:endParaRPr lang="en-US" sz="2400" dirty="0">
              <a:solidFill>
                <a:schemeClr val="tx2"/>
              </a:solidFill>
            </a:endParaRPr>
          </a:p>
          <a:p>
            <a:pPr marL="457200" lvl="2" defTabSz="914400">
              <a:spcBef>
                <a:spcPts val="1200"/>
              </a:spcBef>
            </a:pPr>
            <a:endParaRPr lang="en-US" sz="2000" dirty="0">
              <a:latin typeface="+mj-lt"/>
              <a:ea typeface="+mj-ea"/>
              <a:cs typeface="+mj-cs"/>
            </a:endParaRPr>
          </a:p>
          <a:p>
            <a:pPr marL="384048" lvl="1" indent="-384048" defTabSz="685800">
              <a:lnSpc>
                <a:spcPct val="104000"/>
              </a:lnSpc>
              <a:spcBef>
                <a:spcPts val="1000"/>
              </a:spcBef>
              <a:spcAft>
                <a:spcPts val="200"/>
              </a:spcAft>
              <a:buFont typeface="Franklin Gothic Book" panose="020B0503020102020204" pitchFamily="34" charset="0"/>
              <a:buChar char="■"/>
            </a:pPr>
            <a:r>
              <a:rPr lang="en-US" sz="2800" dirty="0"/>
              <a:t>Cognition</a:t>
            </a:r>
          </a:p>
          <a:p>
            <a:pPr marL="914400" lvl="1" indent="-384048" defTabSz="685800">
              <a:lnSpc>
                <a:spcPct val="114000"/>
              </a:lnSpc>
              <a:spcBef>
                <a:spcPts val="500"/>
              </a:spcBef>
              <a:spcAft>
                <a:spcPts val="200"/>
              </a:spcAft>
              <a:buFont typeface="Franklin Gothic Book" panose="020B0503020102020204" pitchFamily="34" charset="0"/>
              <a:buChar char="–"/>
            </a:pPr>
            <a:r>
              <a:rPr lang="en-US" sz="2400" dirty="0">
                <a:solidFill>
                  <a:schemeClr val="tx2"/>
                </a:solidFill>
              </a:rPr>
              <a:t>Deficits in memory, attention, and executive functions </a:t>
            </a:r>
          </a:p>
        </p:txBody>
      </p:sp>
    </p:spTree>
    <p:extLst>
      <p:ext uri="{BB962C8B-B14F-4D97-AF65-F5344CB8AC3E}">
        <p14:creationId xmlns:p14="http://schemas.microsoft.com/office/powerpoint/2010/main" val="2655107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772" y="1371599"/>
            <a:ext cx="8229600" cy="5039795"/>
          </a:xfrm>
        </p:spPr>
        <p:txBody>
          <a:bodyPr>
            <a:normAutofit/>
          </a:bodyPr>
          <a:lstStyle/>
          <a:p>
            <a:r>
              <a:rPr lang="en-US" sz="2800" dirty="0"/>
              <a:t>Two (or more) symptoms, each present for a significant time during a </a:t>
            </a:r>
            <a:r>
              <a:rPr lang="en-US" sz="2800" i="1" u="sng" dirty="0"/>
              <a:t>1 month</a:t>
            </a:r>
            <a:r>
              <a:rPr lang="en-US" sz="2800" i="1" dirty="0"/>
              <a:t> </a:t>
            </a:r>
            <a:r>
              <a:rPr lang="en-US" sz="2800" dirty="0"/>
              <a:t>period:</a:t>
            </a:r>
          </a:p>
          <a:p>
            <a:pPr marL="0" indent="0">
              <a:buNone/>
            </a:pPr>
            <a:endParaRPr lang="en-US" sz="2800" dirty="0"/>
          </a:p>
          <a:p>
            <a:pPr marL="411480" lvl="1" indent="0">
              <a:buNone/>
            </a:pPr>
            <a:r>
              <a:rPr lang="en-US" sz="2400" i="0" dirty="0"/>
              <a:t>1.) Delusions*</a:t>
            </a:r>
          </a:p>
          <a:p>
            <a:pPr marL="411480" lvl="1" indent="0">
              <a:buNone/>
            </a:pPr>
            <a:r>
              <a:rPr lang="en-US" sz="2400" i="0" dirty="0"/>
              <a:t>2.) Hallucinations*</a:t>
            </a:r>
          </a:p>
          <a:p>
            <a:pPr marL="411480" lvl="1" indent="0">
              <a:buNone/>
            </a:pPr>
            <a:r>
              <a:rPr lang="en-US" sz="2400" i="0" dirty="0"/>
              <a:t>3.) Disorganized speech*</a:t>
            </a:r>
          </a:p>
          <a:p>
            <a:pPr marL="411480" lvl="1" indent="0">
              <a:buNone/>
            </a:pPr>
            <a:r>
              <a:rPr lang="en-US" sz="2400" i="0" dirty="0"/>
              <a:t>4.) Grossly disorganized or catatonic behavior</a:t>
            </a:r>
          </a:p>
          <a:p>
            <a:pPr marL="411480" lvl="1" indent="0">
              <a:buNone/>
            </a:pPr>
            <a:r>
              <a:rPr lang="en-US" sz="2400" i="0" dirty="0"/>
              <a:t>5.) Negative symptoms</a:t>
            </a:r>
          </a:p>
          <a:p>
            <a:pPr marL="411480" lvl="1" indent="0">
              <a:buNone/>
            </a:pPr>
            <a:endParaRPr lang="en-US" sz="2400" i="0" dirty="0"/>
          </a:p>
          <a:p>
            <a:pPr marL="411480" lvl="1" indent="0">
              <a:buNone/>
            </a:pPr>
            <a:r>
              <a:rPr lang="en-US" sz="2400" i="0" dirty="0"/>
              <a:t>					*Must have at least one of these</a:t>
            </a:r>
          </a:p>
          <a:p>
            <a:pPr marL="411480" lvl="1" indent="0">
              <a:buNone/>
            </a:pPr>
            <a:endParaRPr lang="en-US" dirty="0"/>
          </a:p>
        </p:txBody>
      </p:sp>
      <p:sp>
        <p:nvSpPr>
          <p:cNvPr id="8" name="Title 1"/>
          <p:cNvSpPr txBox="1">
            <a:spLocks/>
          </p:cNvSpPr>
          <p:nvPr/>
        </p:nvSpPr>
        <p:spPr>
          <a:xfrm>
            <a:off x="706272" y="267269"/>
            <a:ext cx="8915400" cy="685800"/>
          </a:xfrm>
          <a:prstGeom prst="rect">
            <a:avLst/>
          </a:prstGeom>
        </p:spPr>
        <p:txBody>
          <a:bodyPr vert="horz" anchor="b" anchorCtr="0">
            <a:noAutofit/>
          </a:bodyPr>
          <a:lstStyle>
            <a:lvl1pPr algn="l" rtl="0" eaLnBrk="1" latinLnBrk="0" hangingPunct="1">
              <a:spcBef>
                <a:spcPct val="0"/>
              </a:spcBef>
              <a:buNone/>
              <a:defRPr kumimoji="0" sz="3200" kern="1200">
                <a:solidFill>
                  <a:schemeClr val="tx2"/>
                </a:solidFill>
                <a:latin typeface="+mj-lt"/>
                <a:ea typeface="+mj-ea"/>
                <a:cs typeface="+mj-cs"/>
              </a:defRPr>
            </a:lvl1pPr>
          </a:lstStyle>
          <a:p>
            <a:r>
              <a:rPr lang="en-US" sz="4000" b="1" dirty="0">
                <a:solidFill>
                  <a:schemeClr val="tx1"/>
                </a:solidFill>
              </a:rPr>
              <a:t>DSM-5 Diagnostic Criteria</a:t>
            </a:r>
          </a:p>
        </p:txBody>
      </p:sp>
      <p:sp>
        <p:nvSpPr>
          <p:cNvPr id="6" name="TextBox 5"/>
          <p:cNvSpPr txBox="1"/>
          <p:nvPr/>
        </p:nvSpPr>
        <p:spPr>
          <a:xfrm>
            <a:off x="535650" y="6411395"/>
            <a:ext cx="7315200" cy="400110"/>
          </a:xfrm>
          <a:prstGeom prst="rect">
            <a:avLst/>
          </a:prstGeom>
          <a:noFill/>
        </p:spPr>
        <p:txBody>
          <a:bodyPr wrap="square" rtlCol="0">
            <a:spAutoFit/>
          </a:bodyPr>
          <a:lstStyle/>
          <a:p>
            <a:r>
              <a:rPr lang="en-US" sz="1000" dirty="0"/>
              <a:t>American Psychiatric Association. Diagnostic and Statistical Manual of Mental Disorders, Fifth Edition (DSM-5), American Psychiatric Association, Arlington, VA 2013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772" y="1371599"/>
            <a:ext cx="8475828" cy="5039795"/>
          </a:xfrm>
        </p:spPr>
        <p:txBody>
          <a:bodyPr>
            <a:normAutofit/>
          </a:bodyPr>
          <a:lstStyle/>
          <a:p>
            <a:pPr marL="384048" lvl="1">
              <a:spcBef>
                <a:spcPts val="1000"/>
              </a:spcBef>
              <a:buFont typeface="Franklin Gothic Book" panose="020B0503020102020204" pitchFamily="34" charset="0"/>
              <a:buChar char="■"/>
            </a:pPr>
            <a:r>
              <a:rPr lang="en-US" sz="2800" i="0" dirty="0"/>
              <a:t>Presentation must also include:</a:t>
            </a:r>
          </a:p>
          <a:p>
            <a:pPr lvl="1"/>
            <a:r>
              <a:rPr lang="en-US" sz="2400" i="0" dirty="0"/>
              <a:t>Social/occupational dysfunction</a:t>
            </a:r>
          </a:p>
          <a:p>
            <a:pPr lvl="2"/>
            <a:r>
              <a:rPr lang="en-US" sz="2000" i="0" dirty="0"/>
              <a:t>Work, interpersonal relationships, and self-care below “baseline”</a:t>
            </a:r>
          </a:p>
          <a:p>
            <a:pPr marL="987552" lvl="2" indent="0">
              <a:buNone/>
            </a:pPr>
            <a:endParaRPr lang="en-US" sz="2000" i="0" dirty="0"/>
          </a:p>
          <a:p>
            <a:pPr marL="384048" lvl="1">
              <a:spcBef>
                <a:spcPts val="1000"/>
              </a:spcBef>
              <a:buFont typeface="Franklin Gothic Book" panose="020B0503020102020204" pitchFamily="34" charset="0"/>
              <a:buChar char="■"/>
            </a:pPr>
            <a:r>
              <a:rPr lang="en-US" sz="2800" i="0" dirty="0"/>
              <a:t>Required duration:</a:t>
            </a:r>
          </a:p>
          <a:p>
            <a:pPr lvl="1"/>
            <a:r>
              <a:rPr lang="en-US" sz="2400" i="0" dirty="0"/>
              <a:t>Continuous signs for ≥6 months</a:t>
            </a:r>
          </a:p>
          <a:p>
            <a:pPr lvl="2"/>
            <a:r>
              <a:rPr lang="en-US" sz="2000" dirty="0"/>
              <a:t>With one month meeting symptoms previously described</a:t>
            </a:r>
          </a:p>
          <a:p>
            <a:pPr lvl="2"/>
            <a:r>
              <a:rPr lang="en-US" sz="2000" dirty="0"/>
              <a:t>Prodromal/residual signs may include: negative symptoms, odd beliefs, etc.</a:t>
            </a:r>
          </a:p>
          <a:p>
            <a:pPr marL="411480" lvl="1" indent="0">
              <a:buNone/>
            </a:pPr>
            <a:endParaRPr lang="en-US" i="0" dirty="0"/>
          </a:p>
        </p:txBody>
      </p:sp>
      <p:sp>
        <p:nvSpPr>
          <p:cNvPr id="8" name="Title 1"/>
          <p:cNvSpPr txBox="1">
            <a:spLocks/>
          </p:cNvSpPr>
          <p:nvPr/>
        </p:nvSpPr>
        <p:spPr>
          <a:xfrm>
            <a:off x="706272" y="267269"/>
            <a:ext cx="8915400" cy="685800"/>
          </a:xfrm>
          <a:prstGeom prst="rect">
            <a:avLst/>
          </a:prstGeom>
        </p:spPr>
        <p:txBody>
          <a:bodyPr vert="horz" anchor="b" anchorCtr="0">
            <a:noAutofit/>
          </a:bodyPr>
          <a:lstStyle>
            <a:lvl1pPr algn="l" rtl="0" eaLnBrk="1" latinLnBrk="0" hangingPunct="1">
              <a:spcBef>
                <a:spcPct val="0"/>
              </a:spcBef>
              <a:buNone/>
              <a:defRPr kumimoji="0" sz="3200" kern="1200">
                <a:solidFill>
                  <a:schemeClr val="tx2"/>
                </a:solidFill>
                <a:latin typeface="+mj-lt"/>
                <a:ea typeface="+mj-ea"/>
                <a:cs typeface="+mj-cs"/>
              </a:defRPr>
            </a:lvl1pPr>
          </a:lstStyle>
          <a:p>
            <a:r>
              <a:rPr lang="en-US" sz="4000" b="1" dirty="0">
                <a:solidFill>
                  <a:schemeClr val="tx1"/>
                </a:solidFill>
              </a:rPr>
              <a:t>DSM-5 Diagnostic Criteria</a:t>
            </a:r>
          </a:p>
        </p:txBody>
      </p:sp>
      <p:sp>
        <p:nvSpPr>
          <p:cNvPr id="6" name="TextBox 5"/>
          <p:cNvSpPr txBox="1"/>
          <p:nvPr/>
        </p:nvSpPr>
        <p:spPr>
          <a:xfrm>
            <a:off x="535650" y="6411395"/>
            <a:ext cx="7315200" cy="400110"/>
          </a:xfrm>
          <a:prstGeom prst="rect">
            <a:avLst/>
          </a:prstGeom>
          <a:noFill/>
        </p:spPr>
        <p:txBody>
          <a:bodyPr wrap="square" rtlCol="0">
            <a:spAutoFit/>
          </a:bodyPr>
          <a:lstStyle/>
          <a:p>
            <a:r>
              <a:rPr lang="en-US" sz="1000" dirty="0"/>
              <a:t>American Psychiatric Association. Diagnostic and Statistical Manual of Mental Disorders, Fifth Edition (DSM-5), American Psychiatric Association, Arlington, VA 2013</a:t>
            </a:r>
          </a:p>
        </p:txBody>
      </p:sp>
    </p:spTree>
    <p:extLst>
      <p:ext uri="{BB962C8B-B14F-4D97-AF65-F5344CB8AC3E}">
        <p14:creationId xmlns:p14="http://schemas.microsoft.com/office/powerpoint/2010/main" val="280578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772" y="1371599"/>
            <a:ext cx="8628228" cy="5039795"/>
          </a:xfrm>
        </p:spPr>
        <p:txBody>
          <a:bodyPr>
            <a:normAutofit/>
          </a:bodyPr>
          <a:lstStyle/>
          <a:p>
            <a:pPr marL="384048" lvl="1">
              <a:spcBef>
                <a:spcPts val="1000"/>
              </a:spcBef>
              <a:buFont typeface="Franklin Gothic Book" panose="020B0503020102020204" pitchFamily="34" charset="0"/>
              <a:buChar char="■"/>
            </a:pPr>
            <a:r>
              <a:rPr lang="en-US" sz="2800" i="0" dirty="0"/>
              <a:t>Exclusion of mood disorder</a:t>
            </a:r>
          </a:p>
          <a:p>
            <a:pPr marL="384048" lvl="1">
              <a:spcBef>
                <a:spcPts val="1000"/>
              </a:spcBef>
              <a:buFont typeface="Franklin Gothic Book" panose="020B0503020102020204" pitchFamily="34" charset="0"/>
              <a:buChar char="■"/>
            </a:pPr>
            <a:r>
              <a:rPr lang="en-US" sz="2800" i="0" dirty="0"/>
              <a:t>Exclusion of substance abuse or other medical etiology</a:t>
            </a:r>
          </a:p>
          <a:p>
            <a:pPr lvl="1"/>
            <a:r>
              <a:rPr lang="en-US" sz="2400" i="0" dirty="0"/>
              <a:t>Medications</a:t>
            </a:r>
          </a:p>
          <a:p>
            <a:pPr lvl="1"/>
            <a:r>
              <a:rPr lang="en-US" sz="2400" i="0" dirty="0"/>
              <a:t>Illicit substances of abuse</a:t>
            </a:r>
          </a:p>
          <a:p>
            <a:pPr lvl="1"/>
            <a:r>
              <a:rPr lang="en-US" sz="2400" i="0" dirty="0"/>
              <a:t>Medical conditions</a:t>
            </a:r>
          </a:p>
          <a:p>
            <a:pPr marL="411480" lvl="1" indent="0">
              <a:buNone/>
            </a:pPr>
            <a:endParaRPr lang="en-US" dirty="0"/>
          </a:p>
        </p:txBody>
      </p:sp>
      <p:sp>
        <p:nvSpPr>
          <p:cNvPr id="8" name="Title 1"/>
          <p:cNvSpPr txBox="1">
            <a:spLocks/>
          </p:cNvSpPr>
          <p:nvPr/>
        </p:nvSpPr>
        <p:spPr>
          <a:xfrm>
            <a:off x="706272" y="267269"/>
            <a:ext cx="8915400" cy="685800"/>
          </a:xfrm>
          <a:prstGeom prst="rect">
            <a:avLst/>
          </a:prstGeom>
        </p:spPr>
        <p:txBody>
          <a:bodyPr vert="horz" anchor="b" anchorCtr="0">
            <a:noAutofit/>
          </a:bodyPr>
          <a:lstStyle>
            <a:lvl1pPr algn="l" rtl="0" eaLnBrk="1" latinLnBrk="0" hangingPunct="1">
              <a:spcBef>
                <a:spcPct val="0"/>
              </a:spcBef>
              <a:buNone/>
              <a:defRPr kumimoji="0" sz="3200" kern="1200">
                <a:solidFill>
                  <a:schemeClr val="tx2"/>
                </a:solidFill>
                <a:latin typeface="+mj-lt"/>
                <a:ea typeface="+mj-ea"/>
                <a:cs typeface="+mj-cs"/>
              </a:defRPr>
            </a:lvl1pPr>
          </a:lstStyle>
          <a:p>
            <a:r>
              <a:rPr lang="en-US" sz="4000" b="1" dirty="0">
                <a:solidFill>
                  <a:schemeClr val="tx1"/>
                </a:solidFill>
              </a:rPr>
              <a:t>DSM-5 Diagnostic Criteria</a:t>
            </a:r>
          </a:p>
        </p:txBody>
      </p:sp>
      <p:sp>
        <p:nvSpPr>
          <p:cNvPr id="6" name="TextBox 5"/>
          <p:cNvSpPr txBox="1"/>
          <p:nvPr/>
        </p:nvSpPr>
        <p:spPr>
          <a:xfrm>
            <a:off x="535650" y="6411395"/>
            <a:ext cx="7315200" cy="400110"/>
          </a:xfrm>
          <a:prstGeom prst="rect">
            <a:avLst/>
          </a:prstGeom>
          <a:noFill/>
        </p:spPr>
        <p:txBody>
          <a:bodyPr wrap="square" rtlCol="0">
            <a:spAutoFit/>
          </a:bodyPr>
          <a:lstStyle/>
          <a:p>
            <a:r>
              <a:rPr lang="en-US" sz="1000" dirty="0"/>
              <a:t>American Psychiatric Association. Diagnostic and Statistical Manual of Mental Disorders, Fifth Edition (DSM-5), American Psychiatric Association, Arlington, VA 2013</a:t>
            </a:r>
          </a:p>
        </p:txBody>
      </p:sp>
    </p:spTree>
    <p:extLst>
      <p:ext uri="{BB962C8B-B14F-4D97-AF65-F5344CB8AC3E}">
        <p14:creationId xmlns:p14="http://schemas.microsoft.com/office/powerpoint/2010/main" val="3667116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04800"/>
            <a:ext cx="7200900" cy="1485900"/>
          </a:xfrm>
        </p:spPr>
        <p:txBody>
          <a:bodyPr/>
          <a:lstStyle/>
          <a:p>
            <a:r>
              <a:rPr lang="en-US" sz="4000" b="1" dirty="0"/>
              <a:t>Schizophrenia Hypotheses</a:t>
            </a:r>
            <a:r>
              <a:rPr lang="en-US" dirty="0"/>
              <a:t> </a:t>
            </a:r>
          </a:p>
        </p:txBody>
      </p:sp>
      <p:sp>
        <p:nvSpPr>
          <p:cNvPr id="2" name="Content Placeholder 1"/>
          <p:cNvSpPr>
            <a:spLocks noGrp="1"/>
          </p:cNvSpPr>
          <p:nvPr>
            <p:ph idx="1"/>
          </p:nvPr>
        </p:nvSpPr>
        <p:spPr>
          <a:xfrm>
            <a:off x="762000" y="1200881"/>
            <a:ext cx="7962900" cy="4800600"/>
          </a:xfrm>
        </p:spPr>
        <p:txBody>
          <a:bodyPr>
            <a:normAutofit/>
          </a:bodyPr>
          <a:lstStyle/>
          <a:p>
            <a:r>
              <a:rPr lang="en-US" sz="2800" dirty="0"/>
              <a:t>Glutamate: major excitatory neurotransmitter </a:t>
            </a:r>
          </a:p>
          <a:p>
            <a:pPr lvl="1"/>
            <a:r>
              <a:rPr lang="en-US" sz="2400" i="0" dirty="0" smtClean="0"/>
              <a:t>↓ Glutamate = ↑ Dopamine </a:t>
            </a:r>
            <a:r>
              <a:rPr lang="en-US" sz="2400" i="0" dirty="0" smtClean="0">
                <a:sym typeface="Wingdings" panose="05000000000000000000" pitchFamily="2" charset="2"/>
              </a:rPr>
              <a:t> Psychosis </a:t>
            </a:r>
          </a:p>
          <a:p>
            <a:r>
              <a:rPr lang="en-US" sz="2800" dirty="0" smtClean="0"/>
              <a:t>NMDA: a major glutamate receptor </a:t>
            </a:r>
          </a:p>
          <a:p>
            <a:pPr lvl="1"/>
            <a:r>
              <a:rPr lang="en-US" sz="2400" i="0" dirty="0" smtClean="0"/>
              <a:t>Antagonism </a:t>
            </a:r>
            <a:r>
              <a:rPr lang="en-US" sz="2400" i="0" dirty="0"/>
              <a:t>will ↓ Glutamate  and  ↑ Dopamine </a:t>
            </a:r>
            <a:r>
              <a:rPr lang="en-US" sz="2400" i="0" dirty="0">
                <a:sym typeface="Wingdings" panose="05000000000000000000" pitchFamily="2" charset="2"/>
              </a:rPr>
              <a:t> Psychosis</a:t>
            </a:r>
          </a:p>
          <a:p>
            <a:pPr lvl="2"/>
            <a:r>
              <a:rPr lang="en-US" sz="2000" dirty="0">
                <a:sym typeface="Wingdings" panose="05000000000000000000" pitchFamily="2" charset="2"/>
              </a:rPr>
              <a:t>PCP, Ketamine  </a:t>
            </a:r>
          </a:p>
          <a:p>
            <a:r>
              <a:rPr lang="en-US" sz="2800" dirty="0"/>
              <a:t>Serotonin </a:t>
            </a:r>
          </a:p>
          <a:p>
            <a:pPr lvl="1"/>
            <a:r>
              <a:rPr lang="en-US" sz="2400" i="0" dirty="0"/>
              <a:t>LSD is a 5-HT agonist </a:t>
            </a:r>
          </a:p>
          <a:p>
            <a:r>
              <a:rPr lang="en-US" sz="2800" dirty="0"/>
              <a:t>Dopamine</a:t>
            </a:r>
          </a:p>
          <a:p>
            <a:pPr lvl="1"/>
            <a:r>
              <a:rPr lang="en-US" sz="2400" i="0" dirty="0"/>
              <a:t>Foundation for medications!</a:t>
            </a:r>
          </a:p>
        </p:txBody>
      </p:sp>
      <p:sp>
        <p:nvSpPr>
          <p:cNvPr id="4" name="TextBox 3"/>
          <p:cNvSpPr txBox="1"/>
          <p:nvPr/>
        </p:nvSpPr>
        <p:spPr>
          <a:xfrm>
            <a:off x="609600" y="6012979"/>
            <a:ext cx="8534400" cy="861774"/>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a:p>
            <a:r>
              <a:rPr lang="en-US" sz="1000" dirty="0" err="1"/>
              <a:t>Ishimaru</a:t>
            </a:r>
            <a:r>
              <a:rPr lang="en-US" sz="1000" dirty="0"/>
              <a:t>, Masahiko J., and </a:t>
            </a:r>
            <a:r>
              <a:rPr lang="en-US" sz="1000" dirty="0" err="1"/>
              <a:t>Michio</a:t>
            </a:r>
            <a:r>
              <a:rPr lang="en-US" sz="1000" dirty="0"/>
              <a:t> Toru. "The glutamate hypothesis of schizophrenia." </a:t>
            </a:r>
            <a:r>
              <a:rPr lang="en-US" sz="1000" i="1" dirty="0"/>
              <a:t>CNS Drugs</a:t>
            </a:r>
            <a:r>
              <a:rPr lang="en-US" sz="1000" dirty="0"/>
              <a:t> 7.1 (1997): 47-67.</a:t>
            </a:r>
          </a:p>
          <a:p>
            <a:r>
              <a:rPr lang="en-US" sz="1000" dirty="0" err="1"/>
              <a:t>Quednow</a:t>
            </a:r>
            <a:r>
              <a:rPr lang="en-US" sz="1000" dirty="0"/>
              <a:t>, B. B., M. A. Geyer, and A. L. </a:t>
            </a:r>
            <a:r>
              <a:rPr lang="en-US" sz="1000" dirty="0" err="1"/>
              <a:t>Halberstadt</a:t>
            </a:r>
            <a:r>
              <a:rPr lang="en-US" sz="1000" dirty="0"/>
              <a:t>. "Serotonin and schizophrenia." </a:t>
            </a:r>
            <a:r>
              <a:rPr lang="en-US" sz="1000" i="1" dirty="0"/>
              <a:t>Handbook of the Behavioral Neurobiology of Serotonin. Academic, London</a:t>
            </a:r>
            <a:r>
              <a:rPr lang="en-US" sz="1000" dirty="0"/>
              <a:t> (2009).</a:t>
            </a:r>
            <a:endParaRPr lang="en-US" dirty="0"/>
          </a:p>
        </p:txBody>
      </p:sp>
    </p:spTree>
    <p:extLst>
      <p:ext uri="{BB962C8B-B14F-4D97-AF65-F5344CB8AC3E}">
        <p14:creationId xmlns:p14="http://schemas.microsoft.com/office/powerpoint/2010/main" val="3809029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229600" cy="1066800"/>
          </a:xfrm>
        </p:spPr>
        <p:txBody>
          <a:bodyPr>
            <a:normAutofit/>
          </a:bodyPr>
          <a:lstStyle/>
          <a:p>
            <a:r>
              <a:rPr lang="en-US" sz="4000" b="1" dirty="0"/>
              <a:t>Dopamine Hypothesis</a:t>
            </a:r>
          </a:p>
        </p:txBody>
      </p:sp>
      <p:graphicFrame>
        <p:nvGraphicFramePr>
          <p:cNvPr id="6" name="Table 5"/>
          <p:cNvGraphicFramePr>
            <a:graphicFrameLocks noGrp="1"/>
          </p:cNvGraphicFramePr>
          <p:nvPr>
            <p:extLst>
              <p:ext uri="{D42A27DB-BD31-4B8C-83A1-F6EECF244321}">
                <p14:modId xmlns:p14="http://schemas.microsoft.com/office/powerpoint/2010/main" val="2038244093"/>
              </p:ext>
            </p:extLst>
          </p:nvPr>
        </p:nvGraphicFramePr>
        <p:xfrm>
          <a:off x="685800" y="1348740"/>
          <a:ext cx="8382001" cy="4136136"/>
        </p:xfrm>
        <a:graphic>
          <a:graphicData uri="http://schemas.openxmlformats.org/drawingml/2006/table">
            <a:tbl>
              <a:tblPr firstRow="1" firstCol="1">
                <a:tableStyleId>{16D9F66E-5EB9-4882-86FB-DCBF35E3C3E4}</a:tableStyleId>
              </a:tblPr>
              <a:tblGrid>
                <a:gridCol w="2209800">
                  <a:extLst>
                    <a:ext uri="{9D8B030D-6E8A-4147-A177-3AD203B41FA5}">
                      <a16:colId xmlns:a16="http://schemas.microsoft.com/office/drawing/2014/main" xmlns="" val="20000"/>
                    </a:ext>
                  </a:extLst>
                </a:gridCol>
                <a:gridCol w="1828800">
                  <a:extLst>
                    <a:ext uri="{9D8B030D-6E8A-4147-A177-3AD203B41FA5}">
                      <a16:colId xmlns:a16="http://schemas.microsoft.com/office/drawing/2014/main" xmlns="" val="20001"/>
                    </a:ext>
                  </a:extLst>
                </a:gridCol>
                <a:gridCol w="1894115">
                  <a:extLst>
                    <a:ext uri="{9D8B030D-6E8A-4147-A177-3AD203B41FA5}">
                      <a16:colId xmlns:a16="http://schemas.microsoft.com/office/drawing/2014/main" xmlns="" val="2316201070"/>
                    </a:ext>
                  </a:extLst>
                </a:gridCol>
                <a:gridCol w="2449286">
                  <a:extLst>
                    <a:ext uri="{9D8B030D-6E8A-4147-A177-3AD203B41FA5}">
                      <a16:colId xmlns:a16="http://schemas.microsoft.com/office/drawing/2014/main" xmlns="" val="20002"/>
                    </a:ext>
                  </a:extLst>
                </a:gridCol>
              </a:tblGrid>
              <a:tr h="451392">
                <a:tc>
                  <a:txBody>
                    <a:bodyPr/>
                    <a:lstStyle/>
                    <a:p>
                      <a:pPr marL="0" marR="0" algn="ctr">
                        <a:lnSpc>
                          <a:spcPct val="115000"/>
                        </a:lnSpc>
                        <a:spcBef>
                          <a:spcPts val="0"/>
                        </a:spcBef>
                        <a:spcAft>
                          <a:spcPts val="0"/>
                        </a:spcAft>
                      </a:pPr>
                      <a:r>
                        <a:rPr lang="en-US" sz="1800" dirty="0">
                          <a:solidFill>
                            <a:schemeClr val="bg1"/>
                          </a:solidFill>
                        </a:rPr>
                        <a:t>Tract</a:t>
                      </a:r>
                      <a:endParaRPr lang="en-US" sz="1800" b="1" i="0" dirty="0">
                        <a:solidFill>
                          <a:schemeClr val="bg1"/>
                        </a:solidFill>
                        <a:latin typeface="Calibri"/>
                        <a:ea typeface="Calibri"/>
                        <a:cs typeface="Times New Roman"/>
                      </a:endParaRPr>
                    </a:p>
                  </a:txBody>
                  <a:tcPr marL="68580" marR="68580" marT="0" marB="0">
                    <a:solidFill>
                      <a:schemeClr val="accent6">
                        <a:lumMod val="50000"/>
                      </a:schemeClr>
                    </a:solidFill>
                  </a:tcPr>
                </a:tc>
                <a:tc>
                  <a:txBody>
                    <a:bodyPr/>
                    <a:lstStyle/>
                    <a:p>
                      <a:pPr marL="0" marR="0" algn="ctr">
                        <a:lnSpc>
                          <a:spcPct val="115000"/>
                        </a:lnSpc>
                        <a:spcBef>
                          <a:spcPts val="0"/>
                        </a:spcBef>
                        <a:spcAft>
                          <a:spcPts val="0"/>
                        </a:spcAft>
                      </a:pPr>
                      <a:r>
                        <a:rPr lang="en-US" sz="1800" dirty="0">
                          <a:solidFill>
                            <a:schemeClr val="bg1"/>
                          </a:solidFill>
                        </a:rPr>
                        <a:t>Ending Region</a:t>
                      </a:r>
                      <a:endParaRPr lang="en-US" sz="1800" b="1" i="0" dirty="0">
                        <a:solidFill>
                          <a:schemeClr val="bg1"/>
                        </a:solidFill>
                        <a:latin typeface="Calibri"/>
                        <a:ea typeface="Calibri"/>
                        <a:cs typeface="Times New Roman"/>
                      </a:endParaRPr>
                    </a:p>
                  </a:txBody>
                  <a:tcPr marL="68580" marR="68580" marT="0" marB="0">
                    <a:solidFill>
                      <a:schemeClr val="accent6">
                        <a:lumMod val="50000"/>
                      </a:schemeClr>
                    </a:solidFill>
                  </a:tcPr>
                </a:tc>
                <a:tc>
                  <a:txBody>
                    <a:bodyPr/>
                    <a:lstStyle/>
                    <a:p>
                      <a:pPr marL="0" marR="0" algn="ctr">
                        <a:lnSpc>
                          <a:spcPct val="115000"/>
                        </a:lnSpc>
                        <a:spcBef>
                          <a:spcPts val="0"/>
                        </a:spcBef>
                        <a:spcAft>
                          <a:spcPts val="0"/>
                        </a:spcAft>
                      </a:pPr>
                      <a:r>
                        <a:rPr lang="en-US" sz="1800" dirty="0">
                          <a:solidFill>
                            <a:schemeClr val="bg1"/>
                          </a:solidFill>
                        </a:rPr>
                        <a:t>Role in schizophrenia</a:t>
                      </a:r>
                      <a:endParaRPr lang="en-US" sz="1800" b="1" i="0" dirty="0">
                        <a:solidFill>
                          <a:schemeClr val="bg1"/>
                        </a:solidFill>
                        <a:latin typeface="Calibri"/>
                        <a:ea typeface="Calibri"/>
                        <a:cs typeface="Times New Roman"/>
                      </a:endParaRPr>
                    </a:p>
                  </a:txBody>
                  <a:tcPr marL="68580" marR="68580" marT="0" marB="0">
                    <a:solidFill>
                      <a:schemeClr val="accent6">
                        <a:lumMod val="50000"/>
                      </a:schemeClr>
                    </a:solidFill>
                  </a:tcPr>
                </a:tc>
                <a:tc>
                  <a:txBody>
                    <a:bodyPr/>
                    <a:lstStyle/>
                    <a:p>
                      <a:pPr marL="0" marR="0" algn="ctr">
                        <a:lnSpc>
                          <a:spcPct val="115000"/>
                        </a:lnSpc>
                        <a:spcBef>
                          <a:spcPts val="0"/>
                        </a:spcBef>
                        <a:spcAft>
                          <a:spcPts val="0"/>
                        </a:spcAft>
                      </a:pPr>
                      <a:r>
                        <a:rPr lang="en-US" sz="1800" dirty="0">
                          <a:solidFill>
                            <a:schemeClr val="bg1"/>
                          </a:solidFill>
                        </a:rPr>
                        <a:t>Effects</a:t>
                      </a:r>
                      <a:endParaRPr lang="en-US" sz="1800" b="1" i="0" dirty="0">
                        <a:solidFill>
                          <a:schemeClr val="bg1"/>
                        </a:solidFill>
                        <a:latin typeface="Calibri"/>
                        <a:ea typeface="Calibri"/>
                        <a:cs typeface="Times New Roman"/>
                      </a:endParaRPr>
                    </a:p>
                  </a:txBody>
                  <a:tcPr marL="68580" marR="68580" marT="0" marB="0">
                    <a:solidFill>
                      <a:schemeClr val="accent6">
                        <a:lumMod val="50000"/>
                      </a:schemeClr>
                    </a:solidFill>
                  </a:tcPr>
                </a:tc>
                <a:extLst>
                  <a:ext uri="{0D108BD9-81ED-4DB2-BD59-A6C34878D82A}">
                    <a16:rowId xmlns:a16="http://schemas.microsoft.com/office/drawing/2014/main" xmlns="" val="10000"/>
                  </a:ext>
                </a:extLst>
              </a:tr>
              <a:tr h="838200">
                <a:tc>
                  <a:txBody>
                    <a:bodyPr/>
                    <a:lstStyle/>
                    <a:p>
                      <a:pPr marL="0" marR="0" algn="l">
                        <a:lnSpc>
                          <a:spcPct val="100000"/>
                        </a:lnSpc>
                        <a:spcBef>
                          <a:spcPts val="0"/>
                        </a:spcBef>
                        <a:spcAft>
                          <a:spcPts val="0"/>
                        </a:spcAft>
                      </a:pPr>
                      <a:r>
                        <a:rPr lang="en-US" sz="2000" dirty="0" err="1"/>
                        <a:t>Mesocortical</a:t>
                      </a:r>
                      <a:endParaRPr lang="en-US" sz="2000" dirty="0">
                        <a:latin typeface="Calibri"/>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Frontal cortex</a:t>
                      </a:r>
                      <a:endParaRPr lang="en-US" sz="2000" dirty="0">
                        <a:latin typeface="Calibri"/>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Dopamine deficiency</a:t>
                      </a:r>
                      <a:endParaRPr lang="en-US" sz="2000" dirty="0">
                        <a:latin typeface="Calibri"/>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a:t>
                      </a:r>
                      <a:r>
                        <a:rPr lang="en-US" sz="2000" baseline="0" dirty="0"/>
                        <a:t> Negative symptoms</a:t>
                      </a:r>
                      <a:r>
                        <a:rPr lang="en-US" sz="2000" dirty="0"/>
                        <a:t>, cognition</a:t>
                      </a:r>
                      <a:endParaRPr lang="en-US" sz="2000" dirty="0">
                        <a:latin typeface="Calibri"/>
                        <a:ea typeface="Calibri"/>
                        <a:cs typeface="Times New Roman"/>
                      </a:endParaRPr>
                    </a:p>
                  </a:txBody>
                  <a:tcPr marL="68580" marR="68580" marT="0" marB="0"/>
                </a:tc>
                <a:extLst>
                  <a:ext uri="{0D108BD9-81ED-4DB2-BD59-A6C34878D82A}">
                    <a16:rowId xmlns:a16="http://schemas.microsoft.com/office/drawing/2014/main" xmlns="" val="10002"/>
                  </a:ext>
                </a:extLst>
              </a:tr>
              <a:tr h="838200">
                <a:tc>
                  <a:txBody>
                    <a:bodyPr/>
                    <a:lstStyle/>
                    <a:p>
                      <a:pPr marL="0" marR="0" algn="l">
                        <a:lnSpc>
                          <a:spcPct val="100000"/>
                        </a:lnSpc>
                        <a:spcBef>
                          <a:spcPts val="0"/>
                        </a:spcBef>
                        <a:spcAft>
                          <a:spcPts val="0"/>
                        </a:spcAft>
                      </a:pPr>
                      <a:r>
                        <a:rPr lang="en-US" sz="2000" dirty="0"/>
                        <a:t>Mesolimbic</a:t>
                      </a:r>
                      <a:endParaRPr lang="en-US" sz="2000" b="0" i="0" dirty="0">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Nucleus </a:t>
                      </a:r>
                      <a:r>
                        <a:rPr lang="en-US" sz="2000" dirty="0" err="1"/>
                        <a:t>accumbens</a:t>
                      </a:r>
                      <a:endParaRPr lang="en-US" sz="2000" b="0" i="0" dirty="0">
                        <a:latin typeface="Calibri"/>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Compensatory ↑ in dopamine</a:t>
                      </a:r>
                      <a:endParaRPr lang="en-US" sz="2000" b="0" i="0" dirty="0">
                        <a:latin typeface="Calibri"/>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 Positive</a:t>
                      </a:r>
                      <a:r>
                        <a:rPr lang="en-US" sz="2000" baseline="0" dirty="0"/>
                        <a:t> symptoms</a:t>
                      </a:r>
                      <a:endParaRPr lang="en-US" sz="2000" b="0" i="0" dirty="0">
                        <a:latin typeface="Calibri"/>
                        <a:ea typeface="Calibri"/>
                        <a:cs typeface="Times New Roman"/>
                      </a:endParaRPr>
                    </a:p>
                  </a:txBody>
                  <a:tcPr marL="68580" marR="68580" marT="0" marB="0"/>
                </a:tc>
                <a:extLst>
                  <a:ext uri="{0D108BD9-81ED-4DB2-BD59-A6C34878D82A}">
                    <a16:rowId xmlns:a16="http://schemas.microsoft.com/office/drawing/2014/main" xmlns="" val="10003"/>
                  </a:ext>
                </a:extLst>
              </a:tr>
              <a:tr h="653160">
                <a:tc>
                  <a:txBody>
                    <a:bodyPr/>
                    <a:lstStyle/>
                    <a:p>
                      <a:pPr marL="0" marR="0" algn="l">
                        <a:lnSpc>
                          <a:spcPct val="100000"/>
                        </a:lnSpc>
                        <a:spcBef>
                          <a:spcPts val="0"/>
                        </a:spcBef>
                        <a:spcAft>
                          <a:spcPts val="0"/>
                        </a:spcAft>
                      </a:pPr>
                      <a:r>
                        <a:rPr lang="en-US" sz="2000" dirty="0" err="1"/>
                        <a:t>Nigrostriatal</a:t>
                      </a:r>
                      <a:endParaRPr lang="en-US" sz="2000" dirty="0">
                        <a:latin typeface="Calibri"/>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Basal ganglia</a:t>
                      </a:r>
                      <a:endParaRPr lang="en-US" sz="2000" dirty="0">
                        <a:latin typeface="Calibri"/>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From treatment:</a:t>
                      </a:r>
                    </a:p>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t>Block or ↓Dopamine</a:t>
                      </a:r>
                      <a:endParaRPr lang="en-US" sz="2000" dirty="0">
                        <a:latin typeface="+mn-lt"/>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-Extrapyramidal side effects</a:t>
                      </a:r>
                      <a:r>
                        <a:rPr lang="en-US" sz="2000" baseline="0" dirty="0"/>
                        <a:t> </a:t>
                      </a:r>
                      <a:r>
                        <a:rPr lang="en-US" sz="2000" dirty="0"/>
                        <a:t>(EPS)</a:t>
                      </a:r>
                      <a:endParaRPr lang="en-US" sz="2000" dirty="0">
                        <a:latin typeface="Calibri"/>
                        <a:ea typeface="Calibri"/>
                        <a:cs typeface="Times New Roman"/>
                      </a:endParaRPr>
                    </a:p>
                  </a:txBody>
                  <a:tcPr marL="68580" marR="68580" marT="0" marB="0"/>
                </a:tc>
                <a:extLst>
                  <a:ext uri="{0D108BD9-81ED-4DB2-BD59-A6C34878D82A}">
                    <a16:rowId xmlns:a16="http://schemas.microsoft.com/office/drawing/2014/main" xmlns="" val="3835261785"/>
                  </a:ext>
                </a:extLst>
              </a:tr>
              <a:tr h="653160">
                <a:tc>
                  <a:txBody>
                    <a:bodyPr/>
                    <a:lstStyle/>
                    <a:p>
                      <a:pPr marL="0" marR="0" algn="l">
                        <a:lnSpc>
                          <a:spcPct val="100000"/>
                        </a:lnSpc>
                        <a:spcBef>
                          <a:spcPts val="0"/>
                        </a:spcBef>
                        <a:spcAft>
                          <a:spcPts val="0"/>
                        </a:spcAft>
                      </a:pPr>
                      <a:r>
                        <a:rPr lang="en-US" sz="2000" dirty="0"/>
                        <a:t>Tuberoinfundibular</a:t>
                      </a:r>
                      <a:endParaRPr lang="en-US" sz="2000" dirty="0">
                        <a:latin typeface="Calibri"/>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Hypothalamus</a:t>
                      </a:r>
                      <a:endParaRPr lang="en-US" sz="2000" dirty="0">
                        <a:latin typeface="Calibri"/>
                        <a:ea typeface="Calibri"/>
                        <a:cs typeface="Times New Roman"/>
                      </a:endParaRPr>
                    </a:p>
                  </a:txBody>
                  <a:tcPr marL="68580" marR="68580" marT="0" marB="0"/>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t>From treatment: Block or ↓Dopamine</a:t>
                      </a:r>
                      <a:endParaRPr lang="en-US" sz="2000" dirty="0">
                        <a:latin typeface="+mn-lt"/>
                        <a:ea typeface="Calibri"/>
                        <a:cs typeface="Times New Roman"/>
                      </a:endParaRPr>
                    </a:p>
                  </a:txBody>
                  <a:tcPr marL="68580" marR="68580" marT="0" marB="0"/>
                </a:tc>
                <a:tc>
                  <a:txBody>
                    <a:bodyPr/>
                    <a:lstStyle/>
                    <a:p>
                      <a:pPr marL="0" marR="0" algn="l">
                        <a:lnSpc>
                          <a:spcPct val="100000"/>
                        </a:lnSpc>
                        <a:spcBef>
                          <a:spcPts val="0"/>
                        </a:spcBef>
                        <a:spcAft>
                          <a:spcPts val="0"/>
                        </a:spcAft>
                      </a:pPr>
                      <a:r>
                        <a:rPr lang="en-US" sz="2000" dirty="0"/>
                        <a:t>- ↑ prolactin release</a:t>
                      </a:r>
                      <a:endParaRPr lang="en-US" sz="2000" dirty="0">
                        <a:latin typeface="Calibri"/>
                        <a:ea typeface="Calibri"/>
                        <a:cs typeface="Times New Roman"/>
                      </a:endParaRPr>
                    </a:p>
                  </a:txBody>
                  <a:tcPr marL="68580" marR="68580" marT="0" marB="0"/>
                </a:tc>
                <a:extLst>
                  <a:ext uri="{0D108BD9-81ED-4DB2-BD59-A6C34878D82A}">
                    <a16:rowId xmlns:a16="http://schemas.microsoft.com/office/drawing/2014/main" xmlns="" val="10004"/>
                  </a:ext>
                </a:extLst>
              </a:tr>
            </a:tbl>
          </a:graphicData>
        </a:graphic>
      </p:graphicFrame>
      <p:sp>
        <p:nvSpPr>
          <p:cNvPr id="7" name="TextBox 6"/>
          <p:cNvSpPr txBox="1"/>
          <p:nvPr/>
        </p:nvSpPr>
        <p:spPr>
          <a:xfrm>
            <a:off x="609600" y="6304002"/>
            <a:ext cx="8382000" cy="553998"/>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a:p>
            <a:endParaRPr lang="en-US" sz="1000" dirty="0"/>
          </a:p>
        </p:txBody>
      </p:sp>
      <p:sp>
        <p:nvSpPr>
          <p:cNvPr id="3" name="Star: 5 Points 2">
            <a:extLst>
              <a:ext uri="{FF2B5EF4-FFF2-40B4-BE49-F238E27FC236}">
                <a16:creationId xmlns:a16="http://schemas.microsoft.com/office/drawing/2014/main" xmlns="" id="{E45C6594-535D-41D0-B673-9AC48F828F9E}"/>
              </a:ext>
            </a:extLst>
          </p:cNvPr>
          <p:cNvSpPr/>
          <p:nvPr/>
        </p:nvSpPr>
        <p:spPr>
          <a:xfrm>
            <a:off x="2209800" y="2059814"/>
            <a:ext cx="457200" cy="529104"/>
          </a:xfrm>
          <a:prstGeom prst="star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 name="Star: 5 Points 7">
            <a:extLst>
              <a:ext uri="{FF2B5EF4-FFF2-40B4-BE49-F238E27FC236}">
                <a16:creationId xmlns:a16="http://schemas.microsoft.com/office/drawing/2014/main" xmlns="" id="{24F5C047-317D-4C59-985E-7A4E6F8FD1A0}"/>
              </a:ext>
            </a:extLst>
          </p:cNvPr>
          <p:cNvSpPr/>
          <p:nvPr/>
        </p:nvSpPr>
        <p:spPr>
          <a:xfrm>
            <a:off x="2167890" y="2905102"/>
            <a:ext cx="457200" cy="473859"/>
          </a:xfrm>
          <a:prstGeom prst="star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53731"/>
            <a:ext cx="8229600" cy="1066800"/>
          </a:xfrm>
        </p:spPr>
        <p:txBody>
          <a:bodyPr>
            <a:normAutofit/>
          </a:bodyPr>
          <a:lstStyle/>
          <a:p>
            <a:r>
              <a:rPr lang="en-US" sz="4000" b="1" dirty="0"/>
              <a:t>Dopamine Thresholds for Effects</a:t>
            </a:r>
          </a:p>
        </p:txBody>
      </p:sp>
      <p:sp>
        <p:nvSpPr>
          <p:cNvPr id="3" name="Content Placeholder 2"/>
          <p:cNvSpPr>
            <a:spLocks noGrp="1"/>
          </p:cNvSpPr>
          <p:nvPr>
            <p:ph idx="1"/>
          </p:nvPr>
        </p:nvSpPr>
        <p:spPr>
          <a:xfrm>
            <a:off x="800100" y="1447800"/>
            <a:ext cx="7848600" cy="4151376"/>
          </a:xfrm>
        </p:spPr>
        <p:txBody>
          <a:bodyPr>
            <a:normAutofit/>
          </a:bodyPr>
          <a:lstStyle/>
          <a:p>
            <a:r>
              <a:rPr lang="en-US" sz="2800" dirty="0"/>
              <a:t>65-80% receptor occupancy</a:t>
            </a:r>
          </a:p>
          <a:p>
            <a:pPr lvl="1"/>
            <a:r>
              <a:rPr lang="en-US" sz="2400" i="0" dirty="0"/>
              <a:t>Therapeutic response seen</a:t>
            </a:r>
          </a:p>
          <a:p>
            <a:pPr lvl="1"/>
            <a:endParaRPr lang="en-US" i="0" dirty="0"/>
          </a:p>
          <a:p>
            <a:r>
              <a:rPr lang="en-US" sz="2800" dirty="0"/>
              <a:t>70% or more</a:t>
            </a:r>
          </a:p>
          <a:p>
            <a:pPr lvl="1"/>
            <a:r>
              <a:rPr lang="en-US" sz="2400" i="0" dirty="0"/>
              <a:t>Prolactin threshold</a:t>
            </a:r>
          </a:p>
          <a:p>
            <a:pPr lvl="1"/>
            <a:endParaRPr lang="en-US" i="0" dirty="0"/>
          </a:p>
          <a:p>
            <a:r>
              <a:rPr lang="en-US" sz="2800" dirty="0"/>
              <a:t>80% or more</a:t>
            </a:r>
          </a:p>
          <a:p>
            <a:pPr lvl="1"/>
            <a:r>
              <a:rPr lang="en-US" sz="2400" i="0" dirty="0"/>
              <a:t>EPS threshold</a:t>
            </a:r>
          </a:p>
        </p:txBody>
      </p:sp>
      <p:sp>
        <p:nvSpPr>
          <p:cNvPr id="4" name="TextBox 3"/>
          <p:cNvSpPr txBox="1"/>
          <p:nvPr/>
        </p:nvSpPr>
        <p:spPr>
          <a:xfrm>
            <a:off x="609600" y="6400800"/>
            <a:ext cx="7772400" cy="246221"/>
          </a:xfrm>
          <a:prstGeom prst="rect">
            <a:avLst/>
          </a:prstGeom>
          <a:noFill/>
        </p:spPr>
        <p:txBody>
          <a:bodyPr wrap="square" rtlCol="0">
            <a:spAutoFit/>
          </a:bodyPr>
          <a:lstStyle/>
          <a:p>
            <a:r>
              <a:rPr lang="en-US" sz="1000" dirty="0" err="1"/>
              <a:t>Pani</a:t>
            </a:r>
            <a:r>
              <a:rPr lang="en-US" sz="1000" dirty="0"/>
              <a:t> L, </a:t>
            </a:r>
            <a:r>
              <a:rPr lang="en-US" sz="1000" dirty="0" err="1"/>
              <a:t>Pira</a:t>
            </a:r>
            <a:r>
              <a:rPr lang="en-US" sz="1000" dirty="0"/>
              <a:t> L, </a:t>
            </a:r>
            <a:r>
              <a:rPr lang="en-US" sz="1000" dirty="0" err="1"/>
              <a:t>Marchese</a:t>
            </a:r>
            <a:r>
              <a:rPr lang="en-US" sz="1000" dirty="0"/>
              <a:t> G. Antipsychotic efficacy: relationship to optimal D2-receptor occupancy. </a:t>
            </a:r>
            <a:r>
              <a:rPr lang="en-US" sz="1000" dirty="0" err="1"/>
              <a:t>Eur</a:t>
            </a:r>
            <a:r>
              <a:rPr lang="en-US" sz="1000" dirty="0"/>
              <a:t> Psychiatry. 2007 Jul;22(5):267-75.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4" name="Rectangle 6"/>
          <p:cNvSpPr>
            <a:spLocks noGrp="1" noChangeArrowheads="1"/>
          </p:cNvSpPr>
          <p:nvPr>
            <p:ph type="title"/>
          </p:nvPr>
        </p:nvSpPr>
        <p:spPr>
          <a:xfrm>
            <a:off x="723899" y="207081"/>
            <a:ext cx="8153401" cy="1069848"/>
          </a:xfrm>
        </p:spPr>
        <p:txBody>
          <a:bodyPr>
            <a:normAutofit/>
          </a:bodyPr>
          <a:lstStyle/>
          <a:p>
            <a:r>
              <a:rPr lang="en-US" sz="4000" b="1" dirty="0"/>
              <a:t>Dopamine Thresholds for Effects</a:t>
            </a:r>
          </a:p>
        </p:txBody>
      </p:sp>
      <p:grpSp>
        <p:nvGrpSpPr>
          <p:cNvPr id="4" name="Group 3"/>
          <p:cNvGrpSpPr/>
          <p:nvPr/>
        </p:nvGrpSpPr>
        <p:grpSpPr>
          <a:xfrm>
            <a:off x="675246" y="1255145"/>
            <a:ext cx="7943290" cy="5028315"/>
            <a:chOff x="560947" y="1392237"/>
            <a:chExt cx="7943290" cy="5028315"/>
          </a:xfrm>
        </p:grpSpPr>
        <p:grpSp>
          <p:nvGrpSpPr>
            <p:cNvPr id="3" name="Group 2"/>
            <p:cNvGrpSpPr/>
            <p:nvPr/>
          </p:nvGrpSpPr>
          <p:grpSpPr>
            <a:xfrm>
              <a:off x="560947" y="1392237"/>
              <a:ext cx="7943290" cy="5028315"/>
              <a:chOff x="560947" y="1392237"/>
              <a:chExt cx="7943290" cy="5028315"/>
            </a:xfrm>
          </p:grpSpPr>
          <p:grpSp>
            <p:nvGrpSpPr>
              <p:cNvPr id="2" name="Group 2"/>
              <p:cNvGrpSpPr>
                <a:grpSpLocks/>
              </p:cNvGrpSpPr>
              <p:nvPr/>
            </p:nvGrpSpPr>
            <p:grpSpPr bwMode="auto">
              <a:xfrm>
                <a:off x="1676400" y="2438400"/>
                <a:ext cx="3581400" cy="3505200"/>
                <a:chOff x="1056" y="1536"/>
                <a:chExt cx="2256" cy="2208"/>
              </a:xfrm>
            </p:grpSpPr>
            <p:sp>
              <p:nvSpPr>
                <p:cNvPr id="94211" name="Rectangle 3"/>
                <p:cNvSpPr>
                  <a:spLocks noChangeArrowheads="1"/>
                </p:cNvSpPr>
                <p:nvPr/>
              </p:nvSpPr>
              <p:spPr bwMode="auto">
                <a:xfrm>
                  <a:off x="2064" y="1536"/>
                  <a:ext cx="1248" cy="2208"/>
                </a:xfrm>
                <a:prstGeom prst="rect">
                  <a:avLst/>
                </a:prstGeom>
                <a:solidFill>
                  <a:schemeClr val="accent2"/>
                </a:solidFill>
                <a:ln w="9525">
                  <a:solidFill>
                    <a:schemeClr val="tx1"/>
                  </a:solidFill>
                  <a:miter lim="800000"/>
                  <a:headEnd/>
                  <a:tailEnd/>
                </a:ln>
                <a:effectLst/>
              </p:spPr>
              <p:txBody>
                <a:bodyPr wrap="none" anchor="ctr"/>
                <a:lstStyle/>
                <a:p>
                  <a:endParaRPr lang="en-US"/>
                </a:p>
              </p:txBody>
            </p:sp>
            <p:sp>
              <p:nvSpPr>
                <p:cNvPr id="94212" name="Rectangle 4"/>
                <p:cNvSpPr>
                  <a:spLocks noChangeArrowheads="1"/>
                </p:cNvSpPr>
                <p:nvPr/>
              </p:nvSpPr>
              <p:spPr bwMode="auto">
                <a:xfrm>
                  <a:off x="1056" y="1536"/>
                  <a:ext cx="2256" cy="576"/>
                </a:xfrm>
                <a:prstGeom prst="rect">
                  <a:avLst/>
                </a:prstGeom>
                <a:solidFill>
                  <a:schemeClr val="accent2"/>
                </a:solidFill>
                <a:ln w="9525">
                  <a:noFill/>
                  <a:miter lim="800000"/>
                  <a:headEnd/>
                  <a:tailEnd/>
                </a:ln>
                <a:effectLst/>
              </p:spPr>
              <p:txBody>
                <a:bodyPr wrap="none" anchor="ctr"/>
                <a:lstStyle/>
                <a:p>
                  <a:endParaRPr lang="en-US"/>
                </a:p>
              </p:txBody>
            </p:sp>
          </p:grpSp>
          <p:sp>
            <p:nvSpPr>
              <p:cNvPr id="94213" name="Rectangle 5"/>
              <p:cNvSpPr>
                <a:spLocks noChangeArrowheads="1"/>
              </p:cNvSpPr>
              <p:nvPr/>
            </p:nvSpPr>
            <p:spPr bwMode="auto">
              <a:xfrm>
                <a:off x="1676400" y="2438400"/>
                <a:ext cx="3581400" cy="9144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94216" name="Line 8"/>
              <p:cNvSpPr>
                <a:spLocks noChangeShapeType="1"/>
              </p:cNvSpPr>
              <p:nvPr/>
            </p:nvSpPr>
            <p:spPr bwMode="auto">
              <a:xfrm>
                <a:off x="1676400" y="5943600"/>
                <a:ext cx="5867400" cy="0"/>
              </a:xfrm>
              <a:prstGeom prst="line">
                <a:avLst/>
              </a:prstGeom>
              <a:noFill/>
              <a:ln w="28575">
                <a:solidFill>
                  <a:schemeClr val="tx1"/>
                </a:solidFill>
                <a:round/>
                <a:headEnd/>
                <a:tailEnd/>
              </a:ln>
              <a:effectLst/>
            </p:spPr>
            <p:txBody>
              <a:bodyPr wrap="none" anchor="ctr"/>
              <a:lstStyle/>
              <a:p>
                <a:endParaRPr lang="en-US"/>
              </a:p>
            </p:txBody>
          </p:sp>
          <p:sp>
            <p:nvSpPr>
              <p:cNvPr id="94217" name="Rectangle 9"/>
              <p:cNvSpPr>
                <a:spLocks noChangeArrowheads="1"/>
              </p:cNvSpPr>
              <p:nvPr/>
            </p:nvSpPr>
            <p:spPr bwMode="auto">
              <a:xfrm rot="16200000">
                <a:off x="-1012709" y="3312535"/>
                <a:ext cx="3548063" cy="400752"/>
              </a:xfrm>
              <a:prstGeom prst="rect">
                <a:avLst/>
              </a:prstGeom>
              <a:noFill/>
              <a:ln w="9525">
                <a:noFill/>
                <a:miter lim="800000"/>
                <a:headEnd/>
                <a:tailEnd/>
              </a:ln>
              <a:effectLst/>
            </p:spPr>
            <p:txBody>
              <a:bodyPr lIns="92075" tIns="46038" rIns="92075" bIns="46038">
                <a:spAutoFit/>
              </a:bodyPr>
              <a:lstStyle/>
              <a:p>
                <a:pPr algn="ctr"/>
                <a:r>
                  <a:rPr lang="en-GB" sz="2000" b="1" dirty="0">
                    <a:latin typeface="Arial" pitchFamily="34" charset="0"/>
                  </a:rPr>
                  <a:t>D</a:t>
                </a:r>
                <a:r>
                  <a:rPr lang="en-GB" sz="2000" b="1" baseline="-25000" dirty="0">
                    <a:latin typeface="Arial" pitchFamily="34" charset="0"/>
                  </a:rPr>
                  <a:t>2</a:t>
                </a:r>
                <a:r>
                  <a:rPr lang="en-GB" sz="2000" b="1" dirty="0">
                    <a:latin typeface="Arial" pitchFamily="34" charset="0"/>
                  </a:rPr>
                  <a:t> receptor blockade (%)</a:t>
                </a:r>
              </a:p>
            </p:txBody>
          </p:sp>
          <p:sp>
            <p:nvSpPr>
              <p:cNvPr id="94218" name="Rectangle 10"/>
              <p:cNvSpPr>
                <a:spLocks noChangeArrowheads="1"/>
              </p:cNvSpPr>
              <p:nvPr/>
            </p:nvSpPr>
            <p:spPr bwMode="auto">
              <a:xfrm>
                <a:off x="3352800" y="6019800"/>
                <a:ext cx="3592330" cy="400752"/>
              </a:xfrm>
              <a:prstGeom prst="rect">
                <a:avLst/>
              </a:prstGeom>
              <a:noFill/>
              <a:ln w="9525">
                <a:noFill/>
                <a:miter lim="800000"/>
                <a:headEnd/>
                <a:tailEnd/>
              </a:ln>
              <a:effectLst/>
            </p:spPr>
            <p:txBody>
              <a:bodyPr wrap="none" lIns="92075" tIns="46038" rIns="92075" bIns="46038">
                <a:spAutoFit/>
              </a:bodyPr>
              <a:lstStyle/>
              <a:p>
                <a:r>
                  <a:rPr lang="en-GB" sz="2000" b="1" dirty="0">
                    <a:latin typeface="Arial" pitchFamily="34" charset="0"/>
                  </a:rPr>
                  <a:t>Dose/Plasma Concentration</a:t>
                </a:r>
              </a:p>
            </p:txBody>
          </p:sp>
          <p:sp>
            <p:nvSpPr>
              <p:cNvPr id="94220" name="Text Box 12"/>
              <p:cNvSpPr txBox="1">
                <a:spLocks noChangeArrowheads="1"/>
              </p:cNvSpPr>
              <p:nvPr/>
            </p:nvSpPr>
            <p:spPr bwMode="auto">
              <a:xfrm>
                <a:off x="972901" y="1392237"/>
                <a:ext cx="894000" cy="4770537"/>
              </a:xfrm>
              <a:prstGeom prst="rect">
                <a:avLst/>
              </a:prstGeom>
              <a:noFill/>
              <a:ln w="9525">
                <a:noFill/>
                <a:miter lim="800000"/>
                <a:headEnd/>
                <a:tailEnd/>
              </a:ln>
              <a:effectLst/>
            </p:spPr>
            <p:txBody>
              <a:bodyPr wrap="square">
                <a:spAutoFit/>
              </a:bodyPr>
              <a:lstStyle/>
              <a:p>
                <a:pPr>
                  <a:lnSpc>
                    <a:spcPct val="95000"/>
                  </a:lnSpc>
                </a:pPr>
                <a:r>
                  <a:rPr lang="en-US" sz="2000" b="1" dirty="0">
                    <a:latin typeface="Arial" pitchFamily="34" charset="0"/>
                  </a:rPr>
                  <a:t>100 -</a:t>
                </a:r>
              </a:p>
              <a:p>
                <a:pPr>
                  <a:lnSpc>
                    <a:spcPct val="95000"/>
                  </a:lnSpc>
                </a:pPr>
                <a:endParaRPr lang="en-US" sz="2000" b="1" dirty="0">
                  <a:latin typeface="Arial" pitchFamily="34" charset="0"/>
                </a:endParaRPr>
              </a:p>
              <a:p>
                <a:pPr>
                  <a:lnSpc>
                    <a:spcPct val="95000"/>
                  </a:lnSpc>
                </a:pPr>
                <a:endParaRPr lang="en-US" sz="2000" b="1" dirty="0">
                  <a:latin typeface="Arial" pitchFamily="34" charset="0"/>
                </a:endParaRPr>
              </a:p>
              <a:p>
                <a:pPr>
                  <a:lnSpc>
                    <a:spcPct val="95000"/>
                  </a:lnSpc>
                </a:pPr>
                <a:r>
                  <a:rPr lang="en-US" sz="2000" b="1" dirty="0">
                    <a:latin typeface="Arial" pitchFamily="34" charset="0"/>
                  </a:rPr>
                  <a:t>80   -</a:t>
                </a:r>
              </a:p>
              <a:p>
                <a:pPr>
                  <a:lnSpc>
                    <a:spcPct val="95000"/>
                  </a:lnSpc>
                </a:pPr>
                <a:endParaRPr lang="en-US" sz="2000" b="1" dirty="0">
                  <a:latin typeface="Arial" pitchFamily="34" charset="0"/>
                </a:endParaRPr>
              </a:p>
              <a:p>
                <a:pPr>
                  <a:lnSpc>
                    <a:spcPct val="95000"/>
                  </a:lnSpc>
                </a:pPr>
                <a:endParaRPr lang="en-US" sz="2000" b="1" dirty="0">
                  <a:latin typeface="Arial" pitchFamily="34" charset="0"/>
                </a:endParaRPr>
              </a:p>
              <a:p>
                <a:pPr>
                  <a:lnSpc>
                    <a:spcPct val="95000"/>
                  </a:lnSpc>
                </a:pPr>
                <a:r>
                  <a:rPr lang="en-US" sz="2000" b="1" dirty="0">
                    <a:latin typeface="Arial" pitchFamily="34" charset="0"/>
                  </a:rPr>
                  <a:t>60   -</a:t>
                </a:r>
              </a:p>
              <a:p>
                <a:pPr>
                  <a:lnSpc>
                    <a:spcPct val="95000"/>
                  </a:lnSpc>
                </a:pPr>
                <a:endParaRPr lang="en-US" sz="2000" b="1" dirty="0">
                  <a:latin typeface="Arial" pitchFamily="34" charset="0"/>
                </a:endParaRPr>
              </a:p>
              <a:p>
                <a:pPr>
                  <a:lnSpc>
                    <a:spcPct val="95000"/>
                  </a:lnSpc>
                </a:pPr>
                <a:endParaRPr lang="en-US" sz="2000" b="1" dirty="0">
                  <a:latin typeface="Arial" pitchFamily="34" charset="0"/>
                </a:endParaRPr>
              </a:p>
              <a:p>
                <a:pPr>
                  <a:lnSpc>
                    <a:spcPct val="95000"/>
                  </a:lnSpc>
                </a:pPr>
                <a:r>
                  <a:rPr lang="en-US" sz="2000" b="1" dirty="0">
                    <a:latin typeface="Arial" pitchFamily="34" charset="0"/>
                  </a:rPr>
                  <a:t>40   -</a:t>
                </a:r>
              </a:p>
              <a:p>
                <a:pPr>
                  <a:lnSpc>
                    <a:spcPct val="95000"/>
                  </a:lnSpc>
                </a:pPr>
                <a:endParaRPr lang="en-US" sz="2000" b="1" dirty="0">
                  <a:latin typeface="Arial" pitchFamily="34" charset="0"/>
                </a:endParaRPr>
              </a:p>
              <a:p>
                <a:pPr>
                  <a:lnSpc>
                    <a:spcPct val="95000"/>
                  </a:lnSpc>
                </a:pPr>
                <a:endParaRPr lang="en-US" sz="2000" b="1" dirty="0">
                  <a:latin typeface="Arial" pitchFamily="34" charset="0"/>
                </a:endParaRPr>
              </a:p>
              <a:p>
                <a:pPr>
                  <a:lnSpc>
                    <a:spcPct val="95000"/>
                  </a:lnSpc>
                </a:pPr>
                <a:r>
                  <a:rPr lang="en-US" sz="2000" b="1" dirty="0">
                    <a:latin typeface="Arial" pitchFamily="34" charset="0"/>
                  </a:rPr>
                  <a:t>20   -</a:t>
                </a:r>
              </a:p>
              <a:p>
                <a:pPr>
                  <a:lnSpc>
                    <a:spcPct val="95000"/>
                  </a:lnSpc>
                </a:pPr>
                <a:endParaRPr lang="en-US" sz="2000" b="1" dirty="0">
                  <a:latin typeface="Arial" pitchFamily="34" charset="0"/>
                </a:endParaRPr>
              </a:p>
              <a:p>
                <a:pPr>
                  <a:lnSpc>
                    <a:spcPct val="95000"/>
                  </a:lnSpc>
                </a:pPr>
                <a:endParaRPr lang="en-US" sz="2000" b="1" dirty="0">
                  <a:latin typeface="Arial" pitchFamily="34" charset="0"/>
                </a:endParaRPr>
              </a:p>
              <a:p>
                <a:pPr>
                  <a:lnSpc>
                    <a:spcPct val="95000"/>
                  </a:lnSpc>
                </a:pPr>
                <a:r>
                  <a:rPr lang="en-US" sz="2000" b="1" dirty="0">
                    <a:latin typeface="Arial" pitchFamily="34" charset="0"/>
                  </a:rPr>
                  <a:t>0     -</a:t>
                </a:r>
              </a:p>
            </p:txBody>
          </p:sp>
          <p:sp>
            <p:nvSpPr>
              <p:cNvPr id="94221" name="Line 13"/>
              <p:cNvSpPr>
                <a:spLocks noChangeShapeType="1"/>
              </p:cNvSpPr>
              <p:nvPr/>
            </p:nvSpPr>
            <p:spPr bwMode="auto">
              <a:xfrm>
                <a:off x="1676400" y="3352800"/>
                <a:ext cx="6248400" cy="0"/>
              </a:xfrm>
              <a:prstGeom prst="line">
                <a:avLst/>
              </a:prstGeom>
              <a:noFill/>
              <a:ln w="28575">
                <a:solidFill>
                  <a:srgbClr val="66FF33"/>
                </a:solidFill>
                <a:round/>
                <a:headEnd type="triangle" w="med" len="med"/>
                <a:tailEnd/>
              </a:ln>
              <a:effectLst/>
            </p:spPr>
            <p:txBody>
              <a:bodyPr wrap="none" anchor="ctr"/>
              <a:lstStyle/>
              <a:p>
                <a:endParaRPr lang="en-US"/>
              </a:p>
            </p:txBody>
          </p:sp>
          <p:sp>
            <p:nvSpPr>
              <p:cNvPr id="94222" name="Line 14"/>
              <p:cNvSpPr>
                <a:spLocks noChangeShapeType="1"/>
              </p:cNvSpPr>
              <p:nvPr/>
            </p:nvSpPr>
            <p:spPr bwMode="auto">
              <a:xfrm>
                <a:off x="1676400" y="2895600"/>
                <a:ext cx="6248400" cy="0"/>
              </a:xfrm>
              <a:prstGeom prst="line">
                <a:avLst/>
              </a:prstGeom>
              <a:noFill/>
              <a:ln w="28575">
                <a:solidFill>
                  <a:schemeClr val="hlink"/>
                </a:solidFill>
                <a:round/>
                <a:headEnd type="triangle" w="med" len="med"/>
                <a:tailEnd/>
              </a:ln>
              <a:effectLst/>
            </p:spPr>
            <p:txBody>
              <a:bodyPr wrap="none" anchor="ctr"/>
              <a:lstStyle/>
              <a:p>
                <a:endParaRPr lang="en-US"/>
              </a:p>
            </p:txBody>
          </p:sp>
          <p:sp>
            <p:nvSpPr>
              <p:cNvPr id="94223" name="Line 15"/>
              <p:cNvSpPr>
                <a:spLocks noChangeShapeType="1"/>
              </p:cNvSpPr>
              <p:nvPr/>
            </p:nvSpPr>
            <p:spPr bwMode="auto">
              <a:xfrm>
                <a:off x="1676400" y="2438400"/>
                <a:ext cx="6248400" cy="0"/>
              </a:xfrm>
              <a:prstGeom prst="line">
                <a:avLst/>
              </a:prstGeom>
              <a:noFill/>
              <a:ln w="28575">
                <a:solidFill>
                  <a:srgbClr val="FF1F1C"/>
                </a:solidFill>
                <a:round/>
                <a:headEnd type="triangle" w="med" len="med"/>
                <a:tailEnd/>
              </a:ln>
              <a:effectLst/>
            </p:spPr>
            <p:txBody>
              <a:bodyPr wrap="none" anchor="ctr"/>
              <a:lstStyle/>
              <a:p>
                <a:endParaRPr lang="en-US"/>
              </a:p>
            </p:txBody>
          </p:sp>
          <p:sp>
            <p:nvSpPr>
              <p:cNvPr id="94224" name="Rectangle 16"/>
              <p:cNvSpPr>
                <a:spLocks noChangeArrowheads="1"/>
              </p:cNvSpPr>
              <p:nvPr/>
            </p:nvSpPr>
            <p:spPr bwMode="auto">
              <a:xfrm>
                <a:off x="5334000" y="3352800"/>
                <a:ext cx="3170237" cy="707886"/>
              </a:xfrm>
              <a:prstGeom prst="rect">
                <a:avLst/>
              </a:prstGeom>
              <a:noFill/>
              <a:ln w="9525">
                <a:noFill/>
                <a:miter lim="800000"/>
                <a:headEnd/>
                <a:tailEnd/>
              </a:ln>
              <a:effectLst/>
            </p:spPr>
            <p:txBody>
              <a:bodyPr wrap="square">
                <a:spAutoFit/>
              </a:bodyPr>
              <a:lstStyle/>
              <a:p>
                <a:pPr algn="ctr"/>
                <a:r>
                  <a:rPr lang="en-GB" sz="2000" b="1" dirty="0">
                    <a:latin typeface="Arial" pitchFamily="34" charset="0"/>
                  </a:rPr>
                  <a:t>Antipsychotic effect threshold</a:t>
                </a:r>
                <a:endParaRPr lang="en-US" sz="2000" b="1" dirty="0">
                  <a:latin typeface="Arial" pitchFamily="34" charset="0"/>
                </a:endParaRPr>
              </a:p>
            </p:txBody>
          </p:sp>
          <p:sp>
            <p:nvSpPr>
              <p:cNvPr id="94225" name="Rectangle 17"/>
              <p:cNvSpPr>
                <a:spLocks noChangeArrowheads="1"/>
              </p:cNvSpPr>
              <p:nvPr/>
            </p:nvSpPr>
            <p:spPr bwMode="auto">
              <a:xfrm>
                <a:off x="5669755" y="2895599"/>
                <a:ext cx="2498725" cy="396875"/>
              </a:xfrm>
              <a:prstGeom prst="rect">
                <a:avLst/>
              </a:prstGeom>
              <a:noFill/>
              <a:ln w="9525">
                <a:noFill/>
                <a:miter lim="800000"/>
                <a:headEnd/>
                <a:tailEnd/>
              </a:ln>
              <a:effectLst/>
            </p:spPr>
            <p:txBody>
              <a:bodyPr wrap="none">
                <a:spAutoFit/>
              </a:bodyPr>
              <a:lstStyle/>
              <a:p>
                <a:r>
                  <a:rPr lang="en-GB" sz="2000" b="1" dirty="0" err="1">
                    <a:latin typeface="Arial" pitchFamily="34" charset="0"/>
                  </a:rPr>
                  <a:t>Prolactin</a:t>
                </a:r>
                <a:r>
                  <a:rPr lang="en-GB" sz="2000" b="1" dirty="0">
                    <a:latin typeface="Arial" pitchFamily="34" charset="0"/>
                  </a:rPr>
                  <a:t> threshold</a:t>
                </a:r>
                <a:endParaRPr lang="en-US" sz="2000" b="1" dirty="0">
                  <a:latin typeface="Arial" pitchFamily="34" charset="0"/>
                </a:endParaRPr>
              </a:p>
            </p:txBody>
          </p:sp>
          <p:sp>
            <p:nvSpPr>
              <p:cNvPr id="94226" name="Rectangle 18"/>
              <p:cNvSpPr>
                <a:spLocks noChangeArrowheads="1"/>
              </p:cNvSpPr>
              <p:nvPr/>
            </p:nvSpPr>
            <p:spPr bwMode="auto">
              <a:xfrm>
                <a:off x="5949300" y="2447384"/>
                <a:ext cx="1939634" cy="400752"/>
              </a:xfrm>
              <a:prstGeom prst="rect">
                <a:avLst/>
              </a:prstGeom>
              <a:noFill/>
              <a:ln w="9525">
                <a:noFill/>
                <a:miter lim="800000"/>
                <a:headEnd/>
                <a:tailEnd/>
              </a:ln>
              <a:effectLst/>
            </p:spPr>
            <p:txBody>
              <a:bodyPr wrap="none" lIns="92075" tIns="46038" rIns="92075" bIns="46038">
                <a:spAutoFit/>
              </a:bodyPr>
              <a:lstStyle/>
              <a:p>
                <a:r>
                  <a:rPr lang="en-GB" sz="2000" b="1" dirty="0">
                    <a:latin typeface="Arial" pitchFamily="34" charset="0"/>
                  </a:rPr>
                  <a:t>EPS threshold</a:t>
                </a:r>
              </a:p>
            </p:txBody>
          </p:sp>
        </p:grpSp>
        <p:sp>
          <p:nvSpPr>
            <p:cNvPr id="94215" name="Line 7"/>
            <p:cNvSpPr>
              <a:spLocks noChangeShapeType="1"/>
            </p:cNvSpPr>
            <p:nvPr/>
          </p:nvSpPr>
          <p:spPr bwMode="auto">
            <a:xfrm>
              <a:off x="1676400" y="1524000"/>
              <a:ext cx="0" cy="4419600"/>
            </a:xfrm>
            <a:prstGeom prst="line">
              <a:avLst/>
            </a:prstGeom>
            <a:noFill/>
            <a:ln w="28575">
              <a:solidFill>
                <a:schemeClr val="tx1"/>
              </a:solidFill>
              <a:round/>
              <a:headEnd/>
              <a:tailEnd/>
            </a:ln>
            <a:effectLst/>
          </p:spPr>
          <p:txBody>
            <a:bodyPr wrap="none" anchor="ctr"/>
            <a:lstStyle/>
            <a:p>
              <a:endParaRPr lang="en-US"/>
            </a:p>
          </p:txBody>
        </p:sp>
      </p:grpSp>
      <p:sp>
        <p:nvSpPr>
          <p:cNvPr id="19" name="TextBox 18"/>
          <p:cNvSpPr txBox="1"/>
          <p:nvPr/>
        </p:nvSpPr>
        <p:spPr>
          <a:xfrm>
            <a:off x="609599" y="6385934"/>
            <a:ext cx="7954963" cy="400110"/>
          </a:xfrm>
          <a:prstGeom prst="rect">
            <a:avLst/>
          </a:prstGeom>
          <a:noFill/>
        </p:spPr>
        <p:txBody>
          <a:bodyPr wrap="square" rtlCol="0">
            <a:spAutoFit/>
          </a:bodyPr>
          <a:lstStyle/>
          <a:p>
            <a:r>
              <a:rPr lang="en-US" sz="1000" dirty="0" err="1"/>
              <a:t>Farde</a:t>
            </a:r>
            <a:r>
              <a:rPr lang="en-US" sz="1000" dirty="0"/>
              <a:t> L, </a:t>
            </a:r>
            <a:r>
              <a:rPr lang="en-US" sz="1000" dirty="0" err="1"/>
              <a:t>Nordström</a:t>
            </a:r>
            <a:r>
              <a:rPr lang="en-US" sz="1000" dirty="0"/>
              <a:t> AL, Wiesel FA, et al. Positron emission tomographic analysis of central D1 and D2 dopamine receptor occupancy in patients treated with classical neuroleptics and clozapine. Relation to extrapyramidal side effects.  Arch Gen Psychiatry. 1992 Jul;49(7):538-44</a:t>
            </a:r>
          </a:p>
        </p:txBody>
      </p:sp>
      <p:sp>
        <p:nvSpPr>
          <p:cNvPr id="94227" name="Freeform 19"/>
          <p:cNvSpPr>
            <a:spLocks/>
          </p:cNvSpPr>
          <p:nvPr/>
        </p:nvSpPr>
        <p:spPr bwMode="auto">
          <a:xfrm>
            <a:off x="1676400" y="2057400"/>
            <a:ext cx="5943600" cy="3886200"/>
          </a:xfrm>
          <a:custGeom>
            <a:avLst/>
            <a:gdLst/>
            <a:ahLst/>
            <a:cxnLst>
              <a:cxn ang="0">
                <a:pos x="0" y="2448"/>
              </a:cxn>
              <a:cxn ang="0">
                <a:pos x="240" y="1872"/>
              </a:cxn>
              <a:cxn ang="0">
                <a:pos x="480" y="1440"/>
              </a:cxn>
              <a:cxn ang="0">
                <a:pos x="768" y="1056"/>
              </a:cxn>
              <a:cxn ang="0">
                <a:pos x="1152" y="720"/>
              </a:cxn>
              <a:cxn ang="0">
                <a:pos x="1536" y="507"/>
              </a:cxn>
              <a:cxn ang="0">
                <a:pos x="1792" y="415"/>
              </a:cxn>
              <a:cxn ang="0">
                <a:pos x="2005" y="325"/>
              </a:cxn>
              <a:cxn ang="0">
                <a:pos x="2251" y="251"/>
              </a:cxn>
              <a:cxn ang="0">
                <a:pos x="2544" y="192"/>
              </a:cxn>
              <a:cxn ang="0">
                <a:pos x="3120" y="96"/>
              </a:cxn>
              <a:cxn ang="0">
                <a:pos x="3744" y="0"/>
              </a:cxn>
            </a:cxnLst>
            <a:rect l="0" t="0" r="r" b="b"/>
            <a:pathLst>
              <a:path w="3744" h="2448">
                <a:moveTo>
                  <a:pt x="0" y="2448"/>
                </a:moveTo>
                <a:cubicBezTo>
                  <a:pt x="80" y="2244"/>
                  <a:pt x="160" y="2040"/>
                  <a:pt x="240" y="1872"/>
                </a:cubicBezTo>
                <a:cubicBezTo>
                  <a:pt x="320" y="1704"/>
                  <a:pt x="392" y="1576"/>
                  <a:pt x="480" y="1440"/>
                </a:cubicBezTo>
                <a:cubicBezTo>
                  <a:pt x="568" y="1304"/>
                  <a:pt x="656" y="1176"/>
                  <a:pt x="768" y="1056"/>
                </a:cubicBezTo>
                <a:cubicBezTo>
                  <a:pt x="880" y="936"/>
                  <a:pt x="1024" y="812"/>
                  <a:pt x="1152" y="720"/>
                </a:cubicBezTo>
                <a:cubicBezTo>
                  <a:pt x="1280" y="628"/>
                  <a:pt x="1429" y="558"/>
                  <a:pt x="1536" y="507"/>
                </a:cubicBezTo>
                <a:cubicBezTo>
                  <a:pt x="1643" y="456"/>
                  <a:pt x="1714" y="445"/>
                  <a:pt x="1792" y="415"/>
                </a:cubicBezTo>
                <a:cubicBezTo>
                  <a:pt x="1870" y="385"/>
                  <a:pt x="1929" y="352"/>
                  <a:pt x="2005" y="325"/>
                </a:cubicBezTo>
                <a:cubicBezTo>
                  <a:pt x="2081" y="298"/>
                  <a:pt x="2161" y="273"/>
                  <a:pt x="2251" y="251"/>
                </a:cubicBezTo>
                <a:cubicBezTo>
                  <a:pt x="2341" y="229"/>
                  <a:pt x="2399" y="218"/>
                  <a:pt x="2544" y="192"/>
                </a:cubicBezTo>
                <a:cubicBezTo>
                  <a:pt x="2689" y="166"/>
                  <a:pt x="2920" y="128"/>
                  <a:pt x="3120" y="96"/>
                </a:cubicBezTo>
                <a:cubicBezTo>
                  <a:pt x="3320" y="64"/>
                  <a:pt x="3640" y="16"/>
                  <a:pt x="3744" y="0"/>
                </a:cubicBezTo>
              </a:path>
            </a:pathLst>
          </a:custGeom>
          <a:noFill/>
          <a:ln w="60325" cmpd="sng">
            <a:solidFill>
              <a:srgbClr val="FFFF00"/>
            </a:solidFill>
            <a:round/>
            <a:headEnd/>
            <a:tailEnd/>
          </a:ln>
          <a:effectLst/>
        </p:spPr>
        <p:txBody>
          <a:bodyPr wrap="none" anchor="ctr"/>
          <a:lstStyle/>
          <a:p>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18146" y="228600"/>
            <a:ext cx="8173453" cy="1210688"/>
          </a:xfrm>
        </p:spPr>
        <p:txBody>
          <a:bodyPr>
            <a:noAutofit/>
          </a:bodyPr>
          <a:lstStyle/>
          <a:p>
            <a:r>
              <a:rPr lang="en-US" sz="3600" b="1" dirty="0"/>
              <a:t>Clinical Antipsychotic Trials of Intervention Effectiveness (CATIE) </a:t>
            </a:r>
            <a:endParaRPr lang="en-US" sz="4000" b="1" dirty="0"/>
          </a:p>
        </p:txBody>
      </p:sp>
      <p:pic>
        <p:nvPicPr>
          <p:cNvPr id="65538" name="Picture 2" descr="http://www.catie.unc.edu/images/SZtrialdesign.gif"/>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rightnessContrast bright="-21000" contrast="38000"/>
                    </a14:imgEffect>
                  </a14:imgLayer>
                </a14:imgProps>
              </a:ext>
            </a:extLst>
          </a:blip>
          <a:srcRect t="8162" r="549" b="15572"/>
          <a:stretch/>
        </p:blipFill>
        <p:spPr bwMode="auto">
          <a:xfrm>
            <a:off x="825618" y="1439288"/>
            <a:ext cx="7768940" cy="4378615"/>
          </a:xfrm>
          <a:prstGeom prst="rect">
            <a:avLst/>
          </a:prstGeom>
          <a:noFill/>
          <a:ln>
            <a:solidFill>
              <a:schemeClr val="tx1"/>
            </a:solidFill>
          </a:ln>
        </p:spPr>
      </p:pic>
      <p:sp>
        <p:nvSpPr>
          <p:cNvPr id="7" name="Rectangle 6"/>
          <p:cNvSpPr/>
          <p:nvPr/>
        </p:nvSpPr>
        <p:spPr>
          <a:xfrm>
            <a:off x="6400800" y="6292833"/>
            <a:ext cx="2454352" cy="461665"/>
          </a:xfrm>
          <a:prstGeom prst="rect">
            <a:avLst/>
          </a:prstGeom>
        </p:spPr>
        <p:txBody>
          <a:bodyPr wrap="square">
            <a:spAutoFit/>
          </a:bodyPr>
          <a:lstStyle/>
          <a:p>
            <a:pPr algn="ctr"/>
            <a:r>
              <a:rPr lang="en-US" sz="1200" dirty="0"/>
              <a:t>http://www.catie.unc.edu/images/SZtrialdesign.gif</a:t>
            </a:r>
          </a:p>
        </p:txBody>
      </p:sp>
      <p:pic>
        <p:nvPicPr>
          <p:cNvPr id="5" name="Picture 2" descr="http://www.catie.unc.edu/images/SZtrialdesign.gif"/>
          <p:cNvPicPr>
            <a:picLocks noChangeAspect="1" noChangeArrowheads="1"/>
          </p:cNvPicPr>
          <p:nvPr/>
        </p:nvPicPr>
        <p:blipFill rotWithShape="1">
          <a:blip r:embed="rId5" cstate="print">
            <a:extLst>
              <a:ext uri="{BEBA8EAE-BF5A-486C-A8C5-ECC9F3942E4B}">
                <a14:imgProps xmlns:a14="http://schemas.microsoft.com/office/drawing/2010/main">
                  <a14:imgLayer r:embed="rId4">
                    <a14:imgEffect>
                      <a14:brightnessContrast bright="-21000" contrast="38000"/>
                    </a14:imgEffect>
                  </a14:imgLayer>
                </a14:imgProps>
              </a:ext>
            </a:extLst>
          </a:blip>
          <a:srcRect l="11601" t="84429" r="24263" b="905"/>
          <a:stretch/>
        </p:blipFill>
        <p:spPr bwMode="auto">
          <a:xfrm>
            <a:off x="814225" y="5881300"/>
            <a:ext cx="5357975" cy="900500"/>
          </a:xfrm>
          <a:prstGeom prst="rect">
            <a:avLst/>
          </a:prstGeom>
          <a:noFill/>
          <a:ln>
            <a:solidFill>
              <a:schemeClr val="tx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8229600" cy="1066800"/>
          </a:xfrm>
        </p:spPr>
        <p:txBody>
          <a:bodyPr>
            <a:normAutofit fontScale="90000"/>
          </a:bodyPr>
          <a:lstStyle/>
          <a:p>
            <a:r>
              <a:rPr lang="en-US" b="1" dirty="0"/>
              <a:t>How Do We Choose a Medication?</a:t>
            </a:r>
          </a:p>
        </p:txBody>
      </p:sp>
      <p:sp>
        <p:nvSpPr>
          <p:cNvPr id="3" name="Content Placeholder 2"/>
          <p:cNvSpPr>
            <a:spLocks noGrp="1"/>
          </p:cNvSpPr>
          <p:nvPr>
            <p:ph idx="1"/>
          </p:nvPr>
        </p:nvSpPr>
        <p:spPr>
          <a:xfrm>
            <a:off x="762000" y="1371600"/>
            <a:ext cx="8229600" cy="4953000"/>
          </a:xfrm>
        </p:spPr>
        <p:txBody>
          <a:bodyPr>
            <a:normAutofit/>
          </a:bodyPr>
          <a:lstStyle/>
          <a:p>
            <a:r>
              <a:rPr lang="en-US" sz="2800" dirty="0"/>
              <a:t>What has the patient trialed/responded to before?</a:t>
            </a:r>
          </a:p>
          <a:p>
            <a:pPr lvl="1"/>
            <a:r>
              <a:rPr lang="en-US" sz="2600" i="0" dirty="0"/>
              <a:t>Was this an adequate trial?</a:t>
            </a:r>
          </a:p>
          <a:p>
            <a:r>
              <a:rPr lang="en-US" sz="2800" dirty="0"/>
              <a:t>What have family members responded to?</a:t>
            </a:r>
          </a:p>
          <a:p>
            <a:r>
              <a:rPr lang="en-US" sz="2800" dirty="0"/>
              <a:t>Side effects</a:t>
            </a:r>
          </a:p>
          <a:p>
            <a:r>
              <a:rPr lang="en-US" sz="2800" dirty="0"/>
              <a:t>Co-morbidities </a:t>
            </a:r>
          </a:p>
          <a:p>
            <a:r>
              <a:rPr lang="en-US" sz="2800" dirty="0"/>
              <a:t>Drug interactions</a:t>
            </a:r>
          </a:p>
          <a:p>
            <a:r>
              <a:rPr lang="en-US" sz="2800" dirty="0"/>
              <a:t>Medication cost</a:t>
            </a:r>
          </a:p>
          <a:p>
            <a:r>
              <a:rPr lang="en-US" sz="2800" dirty="0"/>
              <a:t>Formulations</a:t>
            </a:r>
          </a:p>
        </p:txBody>
      </p:sp>
      <p:sp>
        <p:nvSpPr>
          <p:cNvPr id="4" name="TextBox 3"/>
          <p:cNvSpPr txBox="1"/>
          <p:nvPr/>
        </p:nvSpPr>
        <p:spPr>
          <a:xfrm>
            <a:off x="535650" y="6411395"/>
            <a:ext cx="7315200" cy="400110"/>
          </a:xfrm>
          <a:prstGeom prst="rect">
            <a:avLst/>
          </a:prstGeom>
          <a:noFill/>
        </p:spPr>
        <p:txBody>
          <a:bodyPr wrap="square" rtlCol="0">
            <a:spAutoFit/>
          </a:bodyPr>
          <a:lstStyle/>
          <a:p>
            <a:r>
              <a:rPr lang="en-US" sz="1000" dirty="0"/>
              <a:t>American Psychiatric Association. Diagnostic and Statistical Manual of Mental Disorders, Fifth Edition (DSM-5), American Psychiatric Association, Arlington, VA 2013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769" y="1301361"/>
            <a:ext cx="7274831" cy="2584839"/>
          </a:xfrm>
        </p:spPr>
        <p:txBody>
          <a:bodyPr>
            <a:normAutofit/>
          </a:bodyPr>
          <a:lstStyle/>
          <a:p>
            <a:r>
              <a:rPr lang="en-US" sz="7000" dirty="0"/>
              <a:t>antipsychotics</a:t>
            </a:r>
          </a:p>
        </p:txBody>
      </p:sp>
      <p:sp>
        <p:nvSpPr>
          <p:cNvPr id="5" name="Text Placeholder 4">
            <a:extLst>
              <a:ext uri="{FF2B5EF4-FFF2-40B4-BE49-F238E27FC236}">
                <a16:creationId xmlns:a16="http://schemas.microsoft.com/office/drawing/2014/main" xmlns="" id="{E5AB014B-E9E7-4D10-A7D2-651218724AE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1363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161" y="152400"/>
            <a:ext cx="8229600" cy="838200"/>
          </a:xfrm>
        </p:spPr>
        <p:txBody>
          <a:bodyPr>
            <a:noAutofit/>
          </a:bodyPr>
          <a:lstStyle/>
          <a:p>
            <a:r>
              <a:rPr lang="en-US" sz="3600" b="1" dirty="0"/>
              <a:t>1</a:t>
            </a:r>
            <a:r>
              <a:rPr lang="en-US" sz="3600" b="1" baseline="30000" dirty="0"/>
              <a:t>st</a:t>
            </a:r>
            <a:r>
              <a:rPr lang="en-US" sz="3600" b="1" dirty="0"/>
              <a:t> Generation/Typical Antipsychotics</a:t>
            </a:r>
          </a:p>
        </p:txBody>
      </p:sp>
      <p:sp>
        <p:nvSpPr>
          <p:cNvPr id="5" name="TextBox 4"/>
          <p:cNvSpPr txBox="1"/>
          <p:nvPr/>
        </p:nvSpPr>
        <p:spPr>
          <a:xfrm>
            <a:off x="790161" y="6400800"/>
            <a:ext cx="7515639" cy="400110"/>
          </a:xfrm>
          <a:prstGeom prst="rect">
            <a:avLst/>
          </a:prstGeom>
          <a:noFill/>
        </p:spPr>
        <p:txBody>
          <a:bodyPr wrap="square" rtlCol="0">
            <a:spAutoFit/>
          </a:bodyPr>
          <a:lstStyle/>
          <a:p>
            <a:r>
              <a:rPr lang="en-US" sz="1000" dirty="0"/>
              <a:t>Stahl, SM &amp; Grady, MM. </a:t>
            </a:r>
            <a:r>
              <a:rPr lang="en-US" sz="1000" i="1" dirty="0"/>
              <a:t>Stahl's essential psychopharmacology: The prescriber's guide</a:t>
            </a:r>
            <a:r>
              <a:rPr lang="en-US" sz="1000" dirty="0"/>
              <a:t> (4th ed.). Cambridge, UK ; New York: Cambridge University Press. 2011</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161" y="1411861"/>
            <a:ext cx="4229254" cy="4419600"/>
          </a:xfrm>
          <a:prstGeom prst="rect">
            <a:avLst/>
          </a:prstGeom>
          <a:ln>
            <a:solidFill>
              <a:schemeClr val="tx1"/>
            </a:solidFill>
          </a:ln>
        </p:spPr>
      </p:pic>
      <p:sp>
        <p:nvSpPr>
          <p:cNvPr id="7" name="TextBox 6"/>
          <p:cNvSpPr txBox="1"/>
          <p:nvPr/>
        </p:nvSpPr>
        <p:spPr>
          <a:xfrm>
            <a:off x="5257800" y="1752600"/>
            <a:ext cx="3657600" cy="17113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D</a:t>
            </a:r>
            <a:r>
              <a:rPr lang="en-US" baseline="-25000" dirty="0"/>
              <a:t>2</a:t>
            </a:r>
            <a:r>
              <a:rPr lang="en-US" dirty="0"/>
              <a:t>= Dopamine</a:t>
            </a:r>
          </a:p>
          <a:p>
            <a:pPr marL="285750" indent="-285750">
              <a:lnSpc>
                <a:spcPct val="150000"/>
              </a:lnSpc>
              <a:buFont typeface="Arial" panose="020B0604020202020204" pitchFamily="34" charset="0"/>
              <a:buChar char="•"/>
            </a:pPr>
            <a:r>
              <a:rPr lang="en-US" dirty="0"/>
              <a:t>M</a:t>
            </a:r>
            <a:r>
              <a:rPr lang="en-US" baseline="-25000" dirty="0"/>
              <a:t>1</a:t>
            </a:r>
            <a:r>
              <a:rPr lang="en-US" dirty="0"/>
              <a:t>= Muscarinic Acetylcholine </a:t>
            </a:r>
          </a:p>
          <a:p>
            <a:pPr marL="285750" indent="-285750">
              <a:lnSpc>
                <a:spcPct val="150000"/>
              </a:lnSpc>
              <a:buFont typeface="Arial" panose="020B0604020202020204" pitchFamily="34" charset="0"/>
              <a:buChar char="•"/>
            </a:pPr>
            <a:r>
              <a:rPr lang="en-US" dirty="0"/>
              <a:t>H</a:t>
            </a:r>
            <a:r>
              <a:rPr lang="en-US" baseline="-25000" dirty="0"/>
              <a:t>1</a:t>
            </a:r>
            <a:r>
              <a:rPr lang="en-US" dirty="0"/>
              <a:t>= Histamine</a:t>
            </a:r>
          </a:p>
          <a:p>
            <a:pPr marL="285750" indent="-285750">
              <a:lnSpc>
                <a:spcPct val="150000"/>
              </a:lnSpc>
              <a:buFont typeface="Arial" panose="020B0604020202020204" pitchFamily="34" charset="0"/>
              <a:buChar char="•"/>
            </a:pPr>
            <a:r>
              <a:rPr lang="en-US" dirty="0"/>
              <a:t>α</a:t>
            </a:r>
            <a:r>
              <a:rPr lang="en-US" baseline="-25000" dirty="0"/>
              <a:t>1</a:t>
            </a:r>
            <a:r>
              <a:rPr lang="en-US" dirty="0"/>
              <a:t>= Adrenergic Alpha</a:t>
            </a:r>
          </a:p>
        </p:txBody>
      </p:sp>
      <p:sp>
        <p:nvSpPr>
          <p:cNvPr id="3" name="TextBox 2">
            <a:extLst>
              <a:ext uri="{FF2B5EF4-FFF2-40B4-BE49-F238E27FC236}">
                <a16:creationId xmlns:a16="http://schemas.microsoft.com/office/drawing/2014/main" xmlns="" id="{375740B6-7A55-420C-9899-FE9734183603}"/>
              </a:ext>
            </a:extLst>
          </p:cNvPr>
          <p:cNvSpPr txBox="1"/>
          <p:nvPr/>
        </p:nvSpPr>
        <p:spPr>
          <a:xfrm>
            <a:off x="5257800" y="1290935"/>
            <a:ext cx="4050196" cy="461665"/>
          </a:xfrm>
          <a:prstGeom prst="rect">
            <a:avLst/>
          </a:prstGeom>
          <a:noFill/>
        </p:spPr>
        <p:txBody>
          <a:bodyPr wrap="square" rtlCol="0">
            <a:spAutoFit/>
          </a:bodyPr>
          <a:lstStyle/>
          <a:p>
            <a:r>
              <a:rPr lang="en-US" sz="2400" b="1" dirty="0"/>
              <a:t>Relevant receptors</a:t>
            </a:r>
          </a:p>
        </p:txBody>
      </p:sp>
    </p:spTree>
    <p:extLst>
      <p:ext uri="{BB962C8B-B14F-4D97-AF65-F5344CB8AC3E}">
        <p14:creationId xmlns:p14="http://schemas.microsoft.com/office/powerpoint/2010/main" val="3896945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410161" cy="836504"/>
          </a:xfrm>
        </p:spPr>
        <p:txBody>
          <a:bodyPr>
            <a:noAutofit/>
          </a:bodyPr>
          <a:lstStyle/>
          <a:p>
            <a:r>
              <a:rPr lang="en-US" sz="3600" b="1" dirty="0"/>
              <a:t>1</a:t>
            </a:r>
            <a:r>
              <a:rPr lang="en-US" sz="3600" b="1" baseline="30000" dirty="0"/>
              <a:t>st</a:t>
            </a:r>
            <a:r>
              <a:rPr lang="en-US" sz="3600" b="1" dirty="0"/>
              <a:t> Generation/Typical Antipsychotics</a:t>
            </a:r>
          </a:p>
        </p:txBody>
      </p:sp>
      <p:sp>
        <p:nvSpPr>
          <p:cNvPr id="3" name="Content Placeholder 2"/>
          <p:cNvSpPr>
            <a:spLocks noGrp="1"/>
          </p:cNvSpPr>
          <p:nvPr>
            <p:ph idx="1"/>
          </p:nvPr>
        </p:nvSpPr>
        <p:spPr>
          <a:xfrm>
            <a:off x="790161" y="1106204"/>
            <a:ext cx="8229600" cy="4517136"/>
          </a:xfrm>
        </p:spPr>
        <p:txBody>
          <a:bodyPr>
            <a:normAutofit/>
          </a:bodyPr>
          <a:lstStyle/>
          <a:p>
            <a:pPr marL="987552" lvl="2" indent="0">
              <a:buNone/>
            </a:pPr>
            <a:endParaRPr lang="en-US" sz="2400" dirty="0"/>
          </a:p>
          <a:p>
            <a:pPr lvl="2">
              <a:buNone/>
            </a:pPr>
            <a:endParaRPr lang="en-US" dirty="0"/>
          </a:p>
          <a:p>
            <a:pPr lvl="2">
              <a:buNone/>
            </a:pPr>
            <a:endParaRPr lang="en-US" dirty="0"/>
          </a:p>
          <a:p>
            <a:pPr lvl="2">
              <a:buNone/>
            </a:pPr>
            <a:endParaRPr lang="en-US" dirty="0"/>
          </a:p>
          <a:p>
            <a:pPr lvl="2">
              <a:buNone/>
            </a:pPr>
            <a:endParaRPr lang="en-US" dirty="0"/>
          </a:p>
          <a:p>
            <a:pPr lvl="2">
              <a:buNone/>
            </a:pPr>
            <a:endParaRPr lang="en-US" dirty="0"/>
          </a:p>
          <a:p>
            <a:pPr lvl="2">
              <a:buNone/>
            </a:pPr>
            <a:endParaRPr lang="en-US" dirty="0"/>
          </a:p>
          <a:p>
            <a:pPr lvl="2">
              <a:buNone/>
            </a:pPr>
            <a:endParaRPr lang="en-US" dirty="0"/>
          </a:p>
          <a:p>
            <a:pPr lvl="2">
              <a:buNone/>
            </a:pPr>
            <a:endParaRPr lang="en-US" dirty="0"/>
          </a:p>
          <a:p>
            <a:pPr lvl="2">
              <a:buNone/>
            </a:pPr>
            <a:endParaRPr lang="en-US" dirty="0"/>
          </a:p>
          <a:p>
            <a:pPr lvl="2">
              <a:buNone/>
            </a:pPr>
            <a:endParaRPr lang="en-US" dirty="0"/>
          </a:p>
        </p:txBody>
      </p:sp>
      <p:graphicFrame>
        <p:nvGraphicFramePr>
          <p:cNvPr id="4" name="Diagram 3"/>
          <p:cNvGraphicFramePr/>
          <p:nvPr>
            <p:extLst>
              <p:ext uri="{D42A27DB-BD31-4B8C-83A1-F6EECF244321}">
                <p14:modId xmlns:p14="http://schemas.microsoft.com/office/powerpoint/2010/main" val="123283925"/>
              </p:ext>
            </p:extLst>
          </p:nvPr>
        </p:nvGraphicFramePr>
        <p:xfrm>
          <a:off x="942560" y="1463598"/>
          <a:ext cx="7924801" cy="4708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790162" y="6295458"/>
            <a:ext cx="8229600" cy="400110"/>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p:txBody>
      </p:sp>
      <p:sp>
        <p:nvSpPr>
          <p:cNvPr id="6" name="TextBox 5">
            <a:extLst>
              <a:ext uri="{FF2B5EF4-FFF2-40B4-BE49-F238E27FC236}">
                <a16:creationId xmlns:a16="http://schemas.microsoft.com/office/drawing/2014/main" xmlns="" id="{B4CA2F2D-1A05-4344-BE70-0D9BD228DFB0}"/>
              </a:ext>
            </a:extLst>
          </p:cNvPr>
          <p:cNvSpPr txBox="1"/>
          <p:nvPr/>
        </p:nvSpPr>
        <p:spPr>
          <a:xfrm>
            <a:off x="609600" y="865929"/>
            <a:ext cx="1882247" cy="523220"/>
          </a:xfrm>
          <a:prstGeom prst="rect">
            <a:avLst/>
          </a:prstGeom>
          <a:noFill/>
        </p:spPr>
        <p:txBody>
          <a:bodyPr wrap="none" rtlCol="0">
            <a:spAutoFit/>
          </a:bodyPr>
          <a:lstStyle/>
          <a:p>
            <a:r>
              <a:rPr lang="en-US" sz="2800" dirty="0"/>
              <a:t>Mechanism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445690" cy="762000"/>
          </a:xfrm>
        </p:spPr>
        <p:txBody>
          <a:bodyPr>
            <a:noAutofit/>
          </a:bodyPr>
          <a:lstStyle/>
          <a:p>
            <a:r>
              <a:rPr lang="en-US" sz="3600" b="1" dirty="0"/>
              <a:t>1</a:t>
            </a:r>
            <a:r>
              <a:rPr lang="en-US" sz="3600" b="1" baseline="30000" dirty="0"/>
              <a:t>st</a:t>
            </a:r>
            <a:r>
              <a:rPr lang="en-US" sz="3600" b="1" dirty="0"/>
              <a:t> Generation/Typical Antipsychotics*</a:t>
            </a:r>
          </a:p>
        </p:txBody>
      </p:sp>
      <p:graphicFrame>
        <p:nvGraphicFramePr>
          <p:cNvPr id="4" name="Diagram 3"/>
          <p:cNvGraphicFramePr/>
          <p:nvPr>
            <p:extLst>
              <p:ext uri="{D42A27DB-BD31-4B8C-83A1-F6EECF244321}">
                <p14:modId xmlns:p14="http://schemas.microsoft.com/office/powerpoint/2010/main" val="3286949147"/>
              </p:ext>
            </p:extLst>
          </p:nvPr>
        </p:nvGraphicFramePr>
        <p:xfrm>
          <a:off x="603738" y="781878"/>
          <a:ext cx="8445690" cy="5101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p:cNvSpPr txBox="1"/>
          <p:nvPr/>
        </p:nvSpPr>
        <p:spPr>
          <a:xfrm>
            <a:off x="981414" y="5770528"/>
            <a:ext cx="7690338" cy="646331"/>
          </a:xfrm>
          <a:prstGeom prst="rect">
            <a:avLst/>
          </a:prstGeom>
          <a:noFill/>
        </p:spPr>
        <p:txBody>
          <a:bodyPr wrap="square" rtlCol="0">
            <a:spAutoFit/>
          </a:bodyPr>
          <a:lstStyle/>
          <a:p>
            <a:r>
              <a:rPr lang="en-US" i="1" dirty="0"/>
              <a:t>* Brands listed for older agents, but only available as generic product</a:t>
            </a:r>
          </a:p>
          <a:p>
            <a:r>
              <a:rPr lang="en-US" i="1" dirty="0"/>
              <a:t>** Moderate potency</a:t>
            </a:r>
          </a:p>
        </p:txBody>
      </p:sp>
      <p:sp>
        <p:nvSpPr>
          <p:cNvPr id="5" name="TextBox 4"/>
          <p:cNvSpPr txBox="1"/>
          <p:nvPr/>
        </p:nvSpPr>
        <p:spPr>
          <a:xfrm>
            <a:off x="603738" y="6416859"/>
            <a:ext cx="8077200" cy="400110"/>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71977"/>
            <a:ext cx="8229600" cy="1066800"/>
          </a:xfrm>
        </p:spPr>
        <p:txBody>
          <a:bodyPr>
            <a:noAutofit/>
          </a:bodyPr>
          <a:lstStyle/>
          <a:p>
            <a:r>
              <a:rPr lang="en-US" sz="4000" b="1" dirty="0"/>
              <a:t>1</a:t>
            </a:r>
            <a:r>
              <a:rPr lang="en-US" sz="4000" b="1" baseline="30000" dirty="0"/>
              <a:t>st</a:t>
            </a:r>
            <a:r>
              <a:rPr lang="en-US" sz="4000" b="1" dirty="0"/>
              <a:t> Generation Antipsychotics:</a:t>
            </a:r>
            <a:br>
              <a:rPr lang="en-US" sz="4000" b="1" dirty="0"/>
            </a:br>
            <a:r>
              <a:rPr lang="en-US" sz="4000" b="1" dirty="0"/>
              <a:t>High Potency Agents</a:t>
            </a:r>
          </a:p>
        </p:txBody>
      </p:sp>
      <p:graphicFrame>
        <p:nvGraphicFramePr>
          <p:cNvPr id="6" name="Table 5"/>
          <p:cNvGraphicFramePr>
            <a:graphicFrameLocks noGrp="1"/>
          </p:cNvGraphicFramePr>
          <p:nvPr>
            <p:extLst>
              <p:ext uri="{D42A27DB-BD31-4B8C-83A1-F6EECF244321}">
                <p14:modId xmlns:p14="http://schemas.microsoft.com/office/powerpoint/2010/main" val="2669765488"/>
              </p:ext>
            </p:extLst>
          </p:nvPr>
        </p:nvGraphicFramePr>
        <p:xfrm>
          <a:off x="761999" y="1444666"/>
          <a:ext cx="8229600" cy="4134377"/>
        </p:xfrm>
        <a:graphic>
          <a:graphicData uri="http://schemas.openxmlformats.org/drawingml/2006/table">
            <a:tbl>
              <a:tblPr/>
              <a:tblGrid>
                <a:gridCol w="2057401">
                  <a:extLst>
                    <a:ext uri="{9D8B030D-6E8A-4147-A177-3AD203B41FA5}">
                      <a16:colId xmlns:a16="http://schemas.microsoft.com/office/drawing/2014/main" xmlns="" val="20000"/>
                    </a:ext>
                  </a:extLst>
                </a:gridCol>
                <a:gridCol w="2057398">
                  <a:extLst>
                    <a:ext uri="{9D8B030D-6E8A-4147-A177-3AD203B41FA5}">
                      <a16:colId xmlns:a16="http://schemas.microsoft.com/office/drawing/2014/main" xmlns="" val="20001"/>
                    </a:ext>
                  </a:extLst>
                </a:gridCol>
                <a:gridCol w="914400">
                  <a:extLst>
                    <a:ext uri="{9D8B030D-6E8A-4147-A177-3AD203B41FA5}">
                      <a16:colId xmlns:a16="http://schemas.microsoft.com/office/drawing/2014/main" xmlns="" val="20002"/>
                    </a:ext>
                  </a:extLst>
                </a:gridCol>
                <a:gridCol w="990600">
                  <a:extLst>
                    <a:ext uri="{9D8B030D-6E8A-4147-A177-3AD203B41FA5}">
                      <a16:colId xmlns:a16="http://schemas.microsoft.com/office/drawing/2014/main" xmlns="" val="20003"/>
                    </a:ext>
                  </a:extLst>
                </a:gridCol>
                <a:gridCol w="1143000">
                  <a:extLst>
                    <a:ext uri="{9D8B030D-6E8A-4147-A177-3AD203B41FA5}">
                      <a16:colId xmlns:a16="http://schemas.microsoft.com/office/drawing/2014/main" xmlns="" val="20004"/>
                    </a:ext>
                  </a:extLst>
                </a:gridCol>
                <a:gridCol w="1066801">
                  <a:extLst>
                    <a:ext uri="{9D8B030D-6E8A-4147-A177-3AD203B41FA5}">
                      <a16:colId xmlns:a16="http://schemas.microsoft.com/office/drawing/2014/main" xmlns="" val="20005"/>
                    </a:ext>
                  </a:extLst>
                </a:gridCol>
              </a:tblGrid>
              <a:tr h="546865">
                <a:tc>
                  <a:txBody>
                    <a:bodyPr/>
                    <a:lstStyle/>
                    <a:p>
                      <a:pPr marL="0" marR="0" algn="l">
                        <a:lnSpc>
                          <a:spcPct val="115000"/>
                        </a:lnSpc>
                        <a:spcBef>
                          <a:spcPts val="0"/>
                        </a:spcBef>
                        <a:spcAft>
                          <a:spcPts val="0"/>
                        </a:spcAft>
                      </a:pPr>
                      <a:r>
                        <a:rPr lang="en-US" sz="2400" b="1" i="0" dirty="0">
                          <a:solidFill>
                            <a:schemeClr val="bg1"/>
                          </a:solidFill>
                          <a:latin typeface="Calibri"/>
                          <a:ea typeface="Calibri"/>
                          <a:cs typeface="Times New Roman"/>
                        </a:rPr>
                        <a:t>Drug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2400" b="1" i="0" dirty="0">
                          <a:solidFill>
                            <a:schemeClr val="bg1"/>
                          </a:solidFill>
                          <a:latin typeface="Calibri"/>
                          <a:ea typeface="Calibri"/>
                          <a:cs typeface="Times New Roman"/>
                        </a:rPr>
                        <a:t>Potency* (mg)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ctr">
                        <a:lnSpc>
                          <a:spcPct val="115000"/>
                        </a:lnSpc>
                        <a:spcBef>
                          <a:spcPts val="0"/>
                        </a:spcBef>
                        <a:spcAft>
                          <a:spcPts val="0"/>
                        </a:spcAft>
                      </a:pPr>
                      <a:r>
                        <a:rPr lang="en-US" sz="2400" b="1" i="0" dirty="0">
                          <a:solidFill>
                            <a:schemeClr val="bg1"/>
                          </a:solidFill>
                          <a:latin typeface="Calibri"/>
                          <a:ea typeface="Calibri"/>
                          <a:cs typeface="Times New Roman"/>
                        </a:rPr>
                        <a:t>H1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ctr">
                        <a:lnSpc>
                          <a:spcPct val="115000"/>
                        </a:lnSpc>
                        <a:spcBef>
                          <a:spcPts val="0"/>
                        </a:spcBef>
                        <a:spcAft>
                          <a:spcPts val="0"/>
                        </a:spcAft>
                      </a:pPr>
                      <a:r>
                        <a:rPr lang="en-US" sz="2400" b="1" i="0" dirty="0">
                          <a:solidFill>
                            <a:schemeClr val="bg1"/>
                          </a:solidFill>
                          <a:latin typeface="Calibri"/>
                          <a:ea typeface="Calibri"/>
                          <a:cs typeface="Times New Roman"/>
                        </a:rPr>
                        <a:t>M1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ctr">
                        <a:lnSpc>
                          <a:spcPct val="115000"/>
                        </a:lnSpc>
                        <a:spcBef>
                          <a:spcPts val="0"/>
                        </a:spcBef>
                        <a:spcAft>
                          <a:spcPts val="0"/>
                        </a:spcAft>
                      </a:pPr>
                      <a:r>
                        <a:rPr lang="en-US" sz="2400" b="1" i="0" dirty="0">
                          <a:solidFill>
                            <a:schemeClr val="bg1"/>
                          </a:solidFill>
                          <a:latin typeface="Calibri"/>
                          <a:ea typeface="Calibri"/>
                          <a:cs typeface="Times New Roman"/>
                        </a:rPr>
                        <a:t>DA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ctr">
                        <a:lnSpc>
                          <a:spcPct val="115000"/>
                        </a:lnSpc>
                        <a:spcBef>
                          <a:spcPts val="0"/>
                        </a:spcBef>
                        <a:spcAft>
                          <a:spcPts val="0"/>
                        </a:spcAft>
                      </a:pPr>
                      <a:r>
                        <a:rPr lang="en-US" sz="2400" b="1" i="0" dirty="0">
                          <a:solidFill>
                            <a:schemeClr val="bg1"/>
                          </a:solidFill>
                          <a:latin typeface="Calibri"/>
                          <a:ea typeface="Calibri"/>
                          <a:cs typeface="Times New Roman"/>
                        </a:rPr>
                        <a:t>Alpha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xmlns="" val="10000"/>
                  </a:ext>
                </a:extLst>
              </a:tr>
              <a:tr h="821672">
                <a:tc>
                  <a:txBody>
                    <a:bodyPr/>
                    <a:lstStyle/>
                    <a:p>
                      <a:pPr marL="0" marR="0" algn="l">
                        <a:lnSpc>
                          <a:spcPct val="115000"/>
                        </a:lnSpc>
                        <a:spcBef>
                          <a:spcPts val="0"/>
                        </a:spcBef>
                        <a:spcAft>
                          <a:spcPts val="0"/>
                        </a:spcAft>
                      </a:pPr>
                      <a:r>
                        <a:rPr lang="en-US" sz="2400" b="1" dirty="0">
                          <a:latin typeface="Calibri"/>
                          <a:ea typeface="Calibri"/>
                          <a:cs typeface="Times New Roman"/>
                        </a:rPr>
                        <a:t>Haloperidol</a:t>
                      </a:r>
                    </a:p>
                    <a:p>
                      <a:pPr marL="0" marR="0" algn="l">
                        <a:lnSpc>
                          <a:spcPct val="115000"/>
                        </a:lnSpc>
                        <a:spcBef>
                          <a:spcPts val="0"/>
                        </a:spcBef>
                        <a:spcAft>
                          <a:spcPts val="0"/>
                        </a:spcAft>
                      </a:pPr>
                      <a:r>
                        <a:rPr lang="en-US" sz="2200" dirty="0">
                          <a:latin typeface="Calibri"/>
                          <a:ea typeface="Calibri"/>
                          <a:cs typeface="Times New Roman"/>
                        </a:rPr>
                        <a:t>1-100</a:t>
                      </a:r>
                      <a:r>
                        <a:rPr lang="en-US" sz="2200" baseline="0" dirty="0">
                          <a:latin typeface="Calibri"/>
                          <a:ea typeface="Calibri"/>
                          <a:cs typeface="Times New Roman"/>
                        </a:rPr>
                        <a:t> mg/day</a:t>
                      </a:r>
                      <a:endParaRPr lang="en-US" sz="22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906954">
                <a:tc>
                  <a:txBody>
                    <a:bodyPr/>
                    <a:lstStyle/>
                    <a:p>
                      <a:pPr marL="0" marR="0" algn="l">
                        <a:lnSpc>
                          <a:spcPct val="115000"/>
                        </a:lnSpc>
                        <a:spcBef>
                          <a:spcPts val="0"/>
                        </a:spcBef>
                        <a:spcAft>
                          <a:spcPts val="0"/>
                        </a:spcAft>
                      </a:pPr>
                      <a:r>
                        <a:rPr lang="en-US" sz="2400" b="1" dirty="0" err="1">
                          <a:latin typeface="Calibri"/>
                          <a:ea typeface="Calibri"/>
                          <a:cs typeface="Times New Roman"/>
                        </a:rPr>
                        <a:t>Fluphenazine</a:t>
                      </a:r>
                      <a:endParaRPr lang="en-US" sz="2400" b="1" dirty="0">
                        <a:latin typeface="Calibri"/>
                        <a:ea typeface="Calibri"/>
                        <a:cs typeface="Times New Roman"/>
                      </a:endParaRPr>
                    </a:p>
                    <a:p>
                      <a:pPr marL="0" marR="0" algn="l">
                        <a:lnSpc>
                          <a:spcPct val="115000"/>
                        </a:lnSpc>
                        <a:spcBef>
                          <a:spcPts val="0"/>
                        </a:spcBef>
                        <a:spcAft>
                          <a:spcPts val="0"/>
                        </a:spcAft>
                      </a:pPr>
                      <a:r>
                        <a:rPr lang="en-US" sz="2200" dirty="0">
                          <a:latin typeface="Calibri"/>
                          <a:ea typeface="Calibri"/>
                          <a:cs typeface="Times New Roman"/>
                        </a:rPr>
                        <a:t>1-50 mg/day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2"/>
                  </a:ext>
                </a:extLst>
              </a:tr>
              <a:tr h="876919">
                <a:tc>
                  <a:txBody>
                    <a:bodyPr/>
                    <a:lstStyle/>
                    <a:p>
                      <a:pPr marL="0" marR="0" algn="l">
                        <a:lnSpc>
                          <a:spcPct val="115000"/>
                        </a:lnSpc>
                        <a:spcBef>
                          <a:spcPts val="0"/>
                        </a:spcBef>
                        <a:spcAft>
                          <a:spcPts val="0"/>
                        </a:spcAft>
                      </a:pPr>
                      <a:r>
                        <a:rPr lang="en-US" sz="2400" b="1" dirty="0" err="1">
                          <a:latin typeface="Calibri"/>
                          <a:ea typeface="Calibri"/>
                          <a:cs typeface="Times New Roman"/>
                        </a:rPr>
                        <a:t>Thiothixene</a:t>
                      </a:r>
                      <a:endParaRPr lang="en-US" sz="2400" b="1" dirty="0">
                        <a:latin typeface="Calibri"/>
                        <a:ea typeface="Calibri"/>
                        <a:cs typeface="Times New Roman"/>
                      </a:endParaRPr>
                    </a:p>
                    <a:p>
                      <a:pPr marL="0" marR="0" algn="l">
                        <a:lnSpc>
                          <a:spcPct val="115000"/>
                        </a:lnSpc>
                        <a:spcBef>
                          <a:spcPts val="0"/>
                        </a:spcBef>
                        <a:spcAft>
                          <a:spcPts val="0"/>
                        </a:spcAft>
                      </a:pPr>
                      <a:r>
                        <a:rPr lang="en-US" sz="2200" dirty="0">
                          <a:latin typeface="Calibri"/>
                          <a:ea typeface="Calibri"/>
                          <a:cs typeface="Times New Roman"/>
                        </a:rPr>
                        <a:t>5-60 mg/day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962391">
                <a:tc>
                  <a:txBody>
                    <a:bodyPr/>
                    <a:lstStyle/>
                    <a:p>
                      <a:pPr marL="0" marR="0" algn="l">
                        <a:lnSpc>
                          <a:spcPct val="115000"/>
                        </a:lnSpc>
                        <a:spcBef>
                          <a:spcPts val="0"/>
                        </a:spcBef>
                        <a:spcAft>
                          <a:spcPts val="0"/>
                        </a:spcAft>
                      </a:pPr>
                      <a:r>
                        <a:rPr lang="en-US" sz="2400" b="1" dirty="0" err="1">
                          <a:latin typeface="Calibri"/>
                          <a:ea typeface="Calibri"/>
                          <a:cs typeface="Times New Roman"/>
                        </a:rPr>
                        <a:t>Trifluoperazine</a:t>
                      </a:r>
                      <a:endParaRPr lang="en-US" sz="2400" b="1" dirty="0">
                        <a:latin typeface="Calibri"/>
                        <a:ea typeface="Calibri"/>
                        <a:cs typeface="Times New Roman"/>
                      </a:endParaRPr>
                    </a:p>
                    <a:p>
                      <a:pPr marL="0" marR="0" algn="l">
                        <a:lnSpc>
                          <a:spcPct val="115000"/>
                        </a:lnSpc>
                        <a:spcBef>
                          <a:spcPts val="0"/>
                        </a:spcBef>
                        <a:spcAft>
                          <a:spcPts val="0"/>
                        </a:spcAft>
                      </a:pPr>
                      <a:r>
                        <a:rPr lang="en-US" sz="2200" dirty="0">
                          <a:latin typeface="Calibri"/>
                          <a:ea typeface="Calibri"/>
                          <a:cs typeface="Times New Roman"/>
                        </a:rPr>
                        <a:t>2-80 mg/</a:t>
                      </a:r>
                      <a:r>
                        <a:rPr lang="en-US" sz="2200" baseline="0" dirty="0">
                          <a:latin typeface="Calibri"/>
                          <a:ea typeface="Calibri"/>
                          <a:cs typeface="Times New Roman"/>
                        </a:rPr>
                        <a:t> day</a:t>
                      </a:r>
                      <a:endParaRPr lang="en-US" sz="22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4"/>
                  </a:ext>
                </a:extLst>
              </a:tr>
            </a:tbl>
          </a:graphicData>
        </a:graphic>
      </p:graphicFrame>
      <p:sp>
        <p:nvSpPr>
          <p:cNvPr id="8" name="TextBox 7"/>
          <p:cNvSpPr txBox="1"/>
          <p:nvPr/>
        </p:nvSpPr>
        <p:spPr>
          <a:xfrm>
            <a:off x="914400" y="5579043"/>
            <a:ext cx="8382000" cy="738664"/>
          </a:xfrm>
          <a:prstGeom prst="rect">
            <a:avLst/>
          </a:prstGeom>
          <a:noFill/>
        </p:spPr>
        <p:txBody>
          <a:bodyPr wrap="square" rtlCol="0">
            <a:spAutoFit/>
          </a:bodyPr>
          <a:lstStyle/>
          <a:p>
            <a:r>
              <a:rPr lang="en-US" sz="2200" dirty="0"/>
              <a:t>*</a:t>
            </a:r>
            <a:r>
              <a:rPr lang="en-US" sz="2000" dirty="0"/>
              <a:t>Minimal effective dose: 300mg chlorpromazine equivalents</a:t>
            </a:r>
          </a:p>
          <a:p>
            <a:r>
              <a:rPr lang="en-US" sz="2000" dirty="0"/>
              <a:t> Usual dose = 400-600mg</a:t>
            </a:r>
          </a:p>
        </p:txBody>
      </p:sp>
      <p:sp>
        <p:nvSpPr>
          <p:cNvPr id="5" name="TextBox 4"/>
          <p:cNvSpPr txBox="1"/>
          <p:nvPr/>
        </p:nvSpPr>
        <p:spPr>
          <a:xfrm>
            <a:off x="609598" y="6304002"/>
            <a:ext cx="8382001" cy="553998"/>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a:p>
            <a:r>
              <a:rPr lang="en-US" sz="1000" dirty="0"/>
              <a:t>Hahn, Albers and </a:t>
            </a:r>
            <a:r>
              <a:rPr lang="en-US" sz="1000" dirty="0" err="1"/>
              <a:t>Reist</a:t>
            </a:r>
            <a:r>
              <a:rPr lang="en-US" sz="1000" dirty="0"/>
              <a:t>. Psychiatry, 2008 Edition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93642"/>
            <a:ext cx="8991600" cy="1143000"/>
          </a:xfrm>
        </p:spPr>
        <p:txBody>
          <a:bodyPr>
            <a:normAutofit fontScale="90000"/>
          </a:bodyPr>
          <a:lstStyle/>
          <a:p>
            <a:r>
              <a:rPr lang="en-US" b="1" dirty="0"/>
              <a:t>1</a:t>
            </a:r>
            <a:r>
              <a:rPr lang="en-US" b="1" baseline="30000" dirty="0"/>
              <a:t>st</a:t>
            </a:r>
            <a:r>
              <a:rPr lang="en-US" b="1" dirty="0"/>
              <a:t> Generation Antipsychotics:                          Mid-Low Potency Agents</a:t>
            </a:r>
          </a:p>
        </p:txBody>
      </p:sp>
      <p:graphicFrame>
        <p:nvGraphicFramePr>
          <p:cNvPr id="6" name="Table 5"/>
          <p:cNvGraphicFramePr>
            <a:graphicFrameLocks noGrp="1"/>
          </p:cNvGraphicFramePr>
          <p:nvPr>
            <p:extLst>
              <p:ext uri="{D42A27DB-BD31-4B8C-83A1-F6EECF244321}">
                <p14:modId xmlns:p14="http://schemas.microsoft.com/office/powerpoint/2010/main" val="1850847112"/>
              </p:ext>
            </p:extLst>
          </p:nvPr>
        </p:nvGraphicFramePr>
        <p:xfrm>
          <a:off x="838199" y="1524000"/>
          <a:ext cx="8179904" cy="4293272"/>
        </p:xfrm>
        <a:graphic>
          <a:graphicData uri="http://schemas.openxmlformats.org/drawingml/2006/table">
            <a:tbl>
              <a:tblPr/>
              <a:tblGrid>
                <a:gridCol w="2171657">
                  <a:extLst>
                    <a:ext uri="{9D8B030D-6E8A-4147-A177-3AD203B41FA5}">
                      <a16:colId xmlns:a16="http://schemas.microsoft.com/office/drawing/2014/main" xmlns="" val="20000"/>
                    </a:ext>
                  </a:extLst>
                </a:gridCol>
                <a:gridCol w="1809713">
                  <a:extLst>
                    <a:ext uri="{9D8B030D-6E8A-4147-A177-3AD203B41FA5}">
                      <a16:colId xmlns:a16="http://schemas.microsoft.com/office/drawing/2014/main" xmlns="" val="20001"/>
                    </a:ext>
                  </a:extLst>
                </a:gridCol>
                <a:gridCol w="1013439">
                  <a:extLst>
                    <a:ext uri="{9D8B030D-6E8A-4147-A177-3AD203B41FA5}">
                      <a16:colId xmlns:a16="http://schemas.microsoft.com/office/drawing/2014/main" xmlns="" val="20002"/>
                    </a:ext>
                  </a:extLst>
                </a:gridCol>
                <a:gridCol w="1158216">
                  <a:extLst>
                    <a:ext uri="{9D8B030D-6E8A-4147-A177-3AD203B41FA5}">
                      <a16:colId xmlns:a16="http://schemas.microsoft.com/office/drawing/2014/main" xmlns="" val="20003"/>
                    </a:ext>
                  </a:extLst>
                </a:gridCol>
                <a:gridCol w="1013439">
                  <a:extLst>
                    <a:ext uri="{9D8B030D-6E8A-4147-A177-3AD203B41FA5}">
                      <a16:colId xmlns:a16="http://schemas.microsoft.com/office/drawing/2014/main" xmlns="" val="20004"/>
                    </a:ext>
                  </a:extLst>
                </a:gridCol>
                <a:gridCol w="1013440">
                  <a:extLst>
                    <a:ext uri="{9D8B030D-6E8A-4147-A177-3AD203B41FA5}">
                      <a16:colId xmlns:a16="http://schemas.microsoft.com/office/drawing/2014/main" xmlns="" val="20005"/>
                    </a:ext>
                  </a:extLst>
                </a:gridCol>
              </a:tblGrid>
              <a:tr h="533400">
                <a:tc>
                  <a:txBody>
                    <a:bodyPr/>
                    <a:lstStyle/>
                    <a:p>
                      <a:pPr marL="0" marR="0" algn="l">
                        <a:lnSpc>
                          <a:spcPct val="115000"/>
                        </a:lnSpc>
                        <a:spcBef>
                          <a:spcPts val="0"/>
                        </a:spcBef>
                        <a:spcAft>
                          <a:spcPts val="0"/>
                        </a:spcAft>
                      </a:pPr>
                      <a:r>
                        <a:rPr lang="en-US" sz="2400" b="1" i="0" dirty="0">
                          <a:solidFill>
                            <a:schemeClr val="bg1"/>
                          </a:solidFill>
                          <a:latin typeface="Calibri"/>
                          <a:ea typeface="Calibri"/>
                          <a:cs typeface="Times New Roman"/>
                        </a:rPr>
                        <a:t>Drug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2400" b="1" i="0" dirty="0">
                          <a:solidFill>
                            <a:schemeClr val="bg1"/>
                          </a:solidFill>
                          <a:latin typeface="Calibri"/>
                          <a:ea typeface="Calibri"/>
                          <a:cs typeface="Times New Roman"/>
                        </a:rPr>
                        <a:t>Potency (mg)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ctr">
                        <a:lnSpc>
                          <a:spcPct val="115000"/>
                        </a:lnSpc>
                        <a:spcBef>
                          <a:spcPts val="0"/>
                        </a:spcBef>
                        <a:spcAft>
                          <a:spcPts val="0"/>
                        </a:spcAft>
                      </a:pPr>
                      <a:r>
                        <a:rPr lang="en-US" sz="2400" b="1" i="0" dirty="0">
                          <a:solidFill>
                            <a:schemeClr val="bg1"/>
                          </a:solidFill>
                          <a:latin typeface="Calibri"/>
                          <a:ea typeface="Calibri"/>
                          <a:cs typeface="Times New Roman"/>
                        </a:rPr>
                        <a:t>H1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ctr">
                        <a:lnSpc>
                          <a:spcPct val="115000"/>
                        </a:lnSpc>
                        <a:spcBef>
                          <a:spcPts val="0"/>
                        </a:spcBef>
                        <a:spcAft>
                          <a:spcPts val="0"/>
                        </a:spcAft>
                      </a:pPr>
                      <a:r>
                        <a:rPr lang="en-US" sz="2400" b="1" i="0" dirty="0">
                          <a:solidFill>
                            <a:schemeClr val="bg1"/>
                          </a:solidFill>
                          <a:latin typeface="Calibri"/>
                          <a:ea typeface="Calibri"/>
                          <a:cs typeface="Times New Roman"/>
                        </a:rPr>
                        <a:t>M1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ctr">
                        <a:lnSpc>
                          <a:spcPct val="115000"/>
                        </a:lnSpc>
                        <a:spcBef>
                          <a:spcPts val="0"/>
                        </a:spcBef>
                        <a:spcAft>
                          <a:spcPts val="0"/>
                        </a:spcAft>
                      </a:pPr>
                      <a:r>
                        <a:rPr lang="en-US" sz="2400" b="1" i="0" dirty="0">
                          <a:solidFill>
                            <a:schemeClr val="bg1"/>
                          </a:solidFill>
                          <a:latin typeface="Calibri"/>
                          <a:ea typeface="Calibri"/>
                          <a:cs typeface="Times New Roman"/>
                        </a:rPr>
                        <a:t>DA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ctr">
                        <a:lnSpc>
                          <a:spcPct val="115000"/>
                        </a:lnSpc>
                        <a:spcBef>
                          <a:spcPts val="0"/>
                        </a:spcBef>
                        <a:spcAft>
                          <a:spcPts val="0"/>
                        </a:spcAft>
                      </a:pPr>
                      <a:r>
                        <a:rPr lang="en-US" sz="2400" b="1" i="0" dirty="0">
                          <a:solidFill>
                            <a:schemeClr val="bg1"/>
                          </a:solidFill>
                          <a:latin typeface="Calibri"/>
                          <a:ea typeface="Calibri"/>
                          <a:cs typeface="Times New Roman"/>
                        </a:rPr>
                        <a:t>Alpha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xmlns="" val="10000"/>
                  </a:ext>
                </a:extLst>
              </a:tr>
              <a:tr h="974724">
                <a:tc>
                  <a:txBody>
                    <a:bodyPr/>
                    <a:lstStyle/>
                    <a:p>
                      <a:pPr marL="0" marR="0" algn="l">
                        <a:lnSpc>
                          <a:spcPct val="115000"/>
                        </a:lnSpc>
                        <a:spcBef>
                          <a:spcPts val="0"/>
                        </a:spcBef>
                        <a:spcAft>
                          <a:spcPts val="0"/>
                        </a:spcAft>
                      </a:pPr>
                      <a:r>
                        <a:rPr lang="en-US" sz="2400" b="1" dirty="0">
                          <a:latin typeface="Calibri"/>
                          <a:ea typeface="Calibri"/>
                          <a:cs typeface="Times New Roman"/>
                        </a:rPr>
                        <a:t>Perphenazine</a:t>
                      </a:r>
                    </a:p>
                    <a:p>
                      <a:pPr marL="0" marR="0" algn="l">
                        <a:lnSpc>
                          <a:spcPct val="115000"/>
                        </a:lnSpc>
                        <a:spcBef>
                          <a:spcPts val="0"/>
                        </a:spcBef>
                        <a:spcAft>
                          <a:spcPts val="0"/>
                        </a:spcAft>
                      </a:pPr>
                      <a:r>
                        <a:rPr lang="en-US" sz="2000" baseline="0" dirty="0">
                          <a:latin typeface="Calibri"/>
                          <a:ea typeface="Calibri"/>
                          <a:cs typeface="Times New Roman"/>
                        </a:rPr>
                        <a:t>6-64 mg/day</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8-10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015337">
                <a:tc>
                  <a:txBody>
                    <a:bodyPr/>
                    <a:lstStyle/>
                    <a:p>
                      <a:pPr marL="0" marR="0" algn="l">
                        <a:lnSpc>
                          <a:spcPct val="115000"/>
                        </a:lnSpc>
                        <a:spcBef>
                          <a:spcPts val="0"/>
                        </a:spcBef>
                        <a:spcAft>
                          <a:spcPts val="0"/>
                        </a:spcAft>
                      </a:pPr>
                      <a:r>
                        <a:rPr lang="en-US" sz="2400" b="1" dirty="0" err="1">
                          <a:latin typeface="Calibri"/>
                          <a:ea typeface="Calibri"/>
                          <a:cs typeface="Times New Roman"/>
                        </a:rPr>
                        <a:t>Loxapine</a:t>
                      </a:r>
                      <a:endParaRPr lang="en-US" sz="2400" b="1" dirty="0">
                        <a:latin typeface="Calibri"/>
                        <a:ea typeface="Calibri"/>
                        <a:cs typeface="Times New Roman"/>
                      </a:endParaRPr>
                    </a:p>
                    <a:p>
                      <a:pPr marL="0" marR="0" algn="l">
                        <a:lnSpc>
                          <a:spcPct val="115000"/>
                        </a:lnSpc>
                        <a:spcBef>
                          <a:spcPts val="0"/>
                        </a:spcBef>
                        <a:spcAft>
                          <a:spcPts val="0"/>
                        </a:spcAft>
                      </a:pPr>
                      <a:r>
                        <a:rPr lang="en-US" sz="2000" dirty="0">
                          <a:latin typeface="Calibri"/>
                          <a:ea typeface="Calibri"/>
                          <a:cs typeface="Times New Roman"/>
                        </a:rPr>
                        <a:t>20-250 mg/day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libri"/>
                          <a:ea typeface="Calibri"/>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xmlns="" val="10002"/>
                  </a:ext>
                </a:extLst>
              </a:tr>
              <a:tr h="1015337">
                <a:tc>
                  <a:txBody>
                    <a:bodyPr/>
                    <a:lstStyle/>
                    <a:p>
                      <a:pPr marL="0" marR="0" algn="l">
                        <a:lnSpc>
                          <a:spcPct val="115000"/>
                        </a:lnSpc>
                        <a:spcBef>
                          <a:spcPts val="0"/>
                        </a:spcBef>
                        <a:spcAft>
                          <a:spcPts val="0"/>
                        </a:spcAft>
                      </a:pPr>
                      <a:r>
                        <a:rPr lang="en-US" sz="2200" b="1" dirty="0">
                          <a:latin typeface="Calibri"/>
                          <a:ea typeface="Calibri"/>
                          <a:cs typeface="Times New Roman"/>
                        </a:rPr>
                        <a:t>Chlorpromazine</a:t>
                      </a:r>
                    </a:p>
                    <a:p>
                      <a:pPr marL="0" marR="0" algn="l">
                        <a:lnSpc>
                          <a:spcPct val="115000"/>
                        </a:lnSpc>
                        <a:spcBef>
                          <a:spcPts val="0"/>
                        </a:spcBef>
                        <a:spcAft>
                          <a:spcPts val="0"/>
                        </a:spcAft>
                      </a:pPr>
                      <a:r>
                        <a:rPr lang="en-US" sz="2000" dirty="0">
                          <a:latin typeface="Calibri"/>
                          <a:ea typeface="Calibri"/>
                          <a:cs typeface="Times New Roman"/>
                        </a:rPr>
                        <a:t>60-2000 mg/</a:t>
                      </a:r>
                      <a:r>
                        <a:rPr lang="en-US" sz="2000" baseline="0" dirty="0">
                          <a:latin typeface="Calibri"/>
                          <a:ea typeface="Calibri"/>
                          <a:cs typeface="Times New Roman"/>
                        </a:rPr>
                        <a:t>day</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p>
                      <a:pPr marL="0" marR="0" algn="ctr">
                        <a:lnSpc>
                          <a:spcPct val="115000"/>
                        </a:lnSpc>
                        <a:spcBef>
                          <a:spcPts val="0"/>
                        </a:spcBef>
                        <a:spcAft>
                          <a:spcPts val="0"/>
                        </a:spcAft>
                      </a:pP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xmlns="" val="10003"/>
                  </a:ext>
                </a:extLst>
              </a:tr>
              <a:tr h="754474">
                <a:tc>
                  <a:txBody>
                    <a:bodyPr/>
                    <a:lstStyle/>
                    <a:p>
                      <a:pPr marL="0" marR="0" algn="l">
                        <a:lnSpc>
                          <a:spcPct val="115000"/>
                        </a:lnSpc>
                        <a:spcBef>
                          <a:spcPts val="0"/>
                        </a:spcBef>
                        <a:spcAft>
                          <a:spcPts val="0"/>
                        </a:spcAft>
                      </a:pPr>
                      <a:r>
                        <a:rPr lang="en-US" sz="2200" b="1" dirty="0" err="1">
                          <a:latin typeface="Calibri"/>
                          <a:ea typeface="Calibri"/>
                          <a:cs typeface="Times New Roman"/>
                        </a:rPr>
                        <a:t>Thioridazine</a:t>
                      </a:r>
                      <a:endParaRPr lang="en-US" sz="2200" b="1" dirty="0">
                        <a:latin typeface="Calibri"/>
                        <a:ea typeface="Calibri"/>
                        <a:cs typeface="Times New Roman"/>
                      </a:endParaRPr>
                    </a:p>
                    <a:p>
                      <a:pPr marL="0" marR="0" algn="l">
                        <a:lnSpc>
                          <a:spcPct val="115000"/>
                        </a:lnSpc>
                        <a:spcBef>
                          <a:spcPts val="0"/>
                        </a:spcBef>
                        <a:spcAft>
                          <a:spcPts val="0"/>
                        </a:spcAft>
                      </a:pPr>
                      <a:r>
                        <a:rPr lang="en-US" sz="2000" dirty="0">
                          <a:latin typeface="Calibri"/>
                          <a:ea typeface="Calibri"/>
                          <a:cs typeface="Times New Roman"/>
                        </a:rPr>
                        <a:t>50-800 mg/day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4"/>
                  </a:ext>
                </a:extLst>
              </a:tr>
            </a:tbl>
          </a:graphicData>
        </a:graphic>
      </p:graphicFrame>
      <p:sp>
        <p:nvSpPr>
          <p:cNvPr id="4" name="TextBox 3"/>
          <p:cNvSpPr txBox="1"/>
          <p:nvPr/>
        </p:nvSpPr>
        <p:spPr>
          <a:xfrm>
            <a:off x="738809" y="6324600"/>
            <a:ext cx="8087139" cy="400110"/>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8229600" cy="1066800"/>
          </a:xfrm>
        </p:spPr>
        <p:txBody>
          <a:bodyPr>
            <a:noAutofit/>
          </a:bodyPr>
          <a:lstStyle/>
          <a:p>
            <a:r>
              <a:rPr lang="en-US" sz="3200" b="1" dirty="0"/>
              <a:t>1</a:t>
            </a:r>
            <a:r>
              <a:rPr lang="en-US" sz="3200" b="1" baseline="30000" dirty="0"/>
              <a:t>st</a:t>
            </a:r>
            <a:r>
              <a:rPr lang="en-US" sz="3200" b="1" dirty="0"/>
              <a:t> Generation Antipsychotic Formulations</a:t>
            </a:r>
          </a:p>
        </p:txBody>
      </p:sp>
      <p:sp>
        <p:nvSpPr>
          <p:cNvPr id="3" name="Content Placeholder 2"/>
          <p:cNvSpPr>
            <a:spLocks noGrp="1"/>
          </p:cNvSpPr>
          <p:nvPr>
            <p:ph idx="1"/>
          </p:nvPr>
        </p:nvSpPr>
        <p:spPr>
          <a:xfrm>
            <a:off x="685800" y="1447800"/>
            <a:ext cx="8229600" cy="5105400"/>
          </a:xfrm>
        </p:spPr>
        <p:txBody>
          <a:bodyPr>
            <a:normAutofit lnSpcReduction="10000"/>
          </a:bodyPr>
          <a:lstStyle/>
          <a:p>
            <a:r>
              <a:rPr lang="en-US" sz="2800" b="1" dirty="0"/>
              <a:t>Chlorpromazine</a:t>
            </a:r>
            <a:r>
              <a:rPr lang="en-US" sz="2800" dirty="0"/>
              <a:t>:  Tablet, short-acting injection</a:t>
            </a:r>
          </a:p>
          <a:p>
            <a:r>
              <a:rPr lang="en-US" sz="2800" b="1" dirty="0" err="1"/>
              <a:t>Fluphenazine</a:t>
            </a:r>
            <a:r>
              <a:rPr lang="en-US" sz="2800" dirty="0"/>
              <a:t>:  Tablet, elixir, solution, LA-I (</a:t>
            </a:r>
            <a:r>
              <a:rPr lang="en-US" sz="2800" dirty="0" err="1"/>
              <a:t>decanoate</a:t>
            </a:r>
            <a:r>
              <a:rPr lang="en-US" sz="2800" dirty="0"/>
              <a:t>), short-acting injection</a:t>
            </a:r>
          </a:p>
          <a:p>
            <a:r>
              <a:rPr lang="en-US" sz="2800" b="1" dirty="0"/>
              <a:t>Haloperidol</a:t>
            </a:r>
            <a:r>
              <a:rPr lang="en-US" sz="2800" dirty="0"/>
              <a:t>:  Tablet, solution, LA-I (</a:t>
            </a:r>
            <a:r>
              <a:rPr lang="en-US" sz="2800" dirty="0" err="1"/>
              <a:t>decanoate</a:t>
            </a:r>
            <a:r>
              <a:rPr lang="en-US" sz="2800" dirty="0"/>
              <a:t>), short-acting injection</a:t>
            </a:r>
          </a:p>
          <a:p>
            <a:r>
              <a:rPr lang="en-US" sz="2800" dirty="0" err="1"/>
              <a:t>L</a:t>
            </a:r>
            <a:r>
              <a:rPr lang="en-US" sz="2800" b="1" dirty="0" err="1"/>
              <a:t>oxapine</a:t>
            </a:r>
            <a:r>
              <a:rPr lang="en-US" sz="2800" dirty="0"/>
              <a:t>:  Capsule, inhaled</a:t>
            </a:r>
          </a:p>
          <a:p>
            <a:r>
              <a:rPr lang="en-US" sz="2800" b="1" dirty="0"/>
              <a:t>Perphenazine:  </a:t>
            </a:r>
            <a:r>
              <a:rPr lang="en-US" sz="2800" dirty="0"/>
              <a:t>Tablet</a:t>
            </a:r>
          </a:p>
          <a:p>
            <a:r>
              <a:rPr lang="en-US" sz="2800" b="1" dirty="0" err="1"/>
              <a:t>Trifluoperazine</a:t>
            </a:r>
            <a:r>
              <a:rPr lang="en-US" sz="2800" dirty="0"/>
              <a:t>:  Tablet</a:t>
            </a:r>
          </a:p>
          <a:p>
            <a:r>
              <a:rPr lang="en-US" sz="2800" b="1" dirty="0" err="1"/>
              <a:t>Thioridazine</a:t>
            </a:r>
            <a:r>
              <a:rPr lang="en-US" sz="2800" dirty="0"/>
              <a:t>:  Tablet</a:t>
            </a:r>
          </a:p>
          <a:p>
            <a:r>
              <a:rPr lang="en-US" sz="2800" b="1" dirty="0" err="1"/>
              <a:t>Thiothixene</a:t>
            </a:r>
            <a:r>
              <a:rPr lang="en-US" sz="2800" dirty="0"/>
              <a:t>:  Capsule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457" y="163613"/>
            <a:ext cx="8763000" cy="1066800"/>
          </a:xfrm>
        </p:spPr>
        <p:txBody>
          <a:bodyPr>
            <a:noAutofit/>
          </a:bodyPr>
          <a:lstStyle/>
          <a:p>
            <a:r>
              <a:rPr lang="en-US" sz="3600" b="1" dirty="0"/>
              <a:t>2</a:t>
            </a:r>
            <a:r>
              <a:rPr lang="en-US" sz="3600" b="1" baseline="30000" dirty="0"/>
              <a:t>nd</a:t>
            </a:r>
            <a:r>
              <a:rPr lang="en-US" sz="3600" b="1" dirty="0"/>
              <a:t> Generation/Atypical Antipsychotics</a:t>
            </a:r>
          </a:p>
        </p:txBody>
      </p:sp>
      <p:graphicFrame>
        <p:nvGraphicFramePr>
          <p:cNvPr id="5" name="Diagram 4"/>
          <p:cNvGraphicFramePr/>
          <p:nvPr>
            <p:extLst>
              <p:ext uri="{D42A27DB-BD31-4B8C-83A1-F6EECF244321}">
                <p14:modId xmlns:p14="http://schemas.microsoft.com/office/powerpoint/2010/main" val="3368733402"/>
              </p:ext>
            </p:extLst>
          </p:nvPr>
        </p:nvGraphicFramePr>
        <p:xfrm>
          <a:off x="885163" y="1281383"/>
          <a:ext cx="7954037"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627326" y="6172200"/>
            <a:ext cx="8516673" cy="553998"/>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a:p>
            <a:r>
              <a:rPr lang="en-US" sz="1000" dirty="0" err="1"/>
              <a:t>Pani</a:t>
            </a:r>
            <a:r>
              <a:rPr lang="en-US" sz="1000" dirty="0"/>
              <a:t> L, </a:t>
            </a:r>
            <a:r>
              <a:rPr lang="en-US" sz="1000" dirty="0" err="1"/>
              <a:t>Pira</a:t>
            </a:r>
            <a:r>
              <a:rPr lang="en-US" sz="1000" dirty="0"/>
              <a:t> L, </a:t>
            </a:r>
            <a:r>
              <a:rPr lang="en-US" sz="1000" dirty="0" err="1"/>
              <a:t>Marchese</a:t>
            </a:r>
            <a:r>
              <a:rPr lang="en-US" sz="1000" dirty="0"/>
              <a:t> G. Antipsychotic efficacy: relationship to optimal D2-receptor occupancy. </a:t>
            </a:r>
            <a:r>
              <a:rPr lang="en-US" sz="1000" dirty="0" err="1"/>
              <a:t>Eur</a:t>
            </a:r>
            <a:r>
              <a:rPr lang="en-US" sz="1000" dirty="0"/>
              <a:t> Psychiatry. 2007 Jul;22(5):267-75.</a:t>
            </a:r>
          </a:p>
        </p:txBody>
      </p:sp>
      <p:sp>
        <p:nvSpPr>
          <p:cNvPr id="7" name="TextBox 6"/>
          <p:cNvSpPr txBox="1"/>
          <p:nvPr/>
        </p:nvSpPr>
        <p:spPr>
          <a:xfrm>
            <a:off x="4836781" y="4038600"/>
            <a:ext cx="609600" cy="369332"/>
          </a:xfrm>
          <a:prstGeom prst="rect">
            <a:avLst/>
          </a:prstGeom>
          <a:noFill/>
        </p:spPr>
        <p:txBody>
          <a:bodyPr wrap="square" rtlCol="0">
            <a:spAutoFit/>
          </a:bodyPr>
          <a:lstStyle/>
          <a:p>
            <a:r>
              <a:rPr lang="en-US" b="1" dirty="0"/>
              <a:t>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458199" cy="838200"/>
          </a:xfrm>
        </p:spPr>
        <p:txBody>
          <a:bodyPr>
            <a:noAutofit/>
          </a:bodyPr>
          <a:lstStyle/>
          <a:p>
            <a:r>
              <a:rPr lang="en-US" sz="3600" b="1" dirty="0"/>
              <a:t>2</a:t>
            </a:r>
            <a:r>
              <a:rPr lang="en-US" sz="3600" b="1" baseline="30000" dirty="0"/>
              <a:t>nd</a:t>
            </a:r>
            <a:r>
              <a:rPr lang="en-US" sz="3600" b="1" dirty="0"/>
              <a:t> Generation/Atypical Antipsychotics</a:t>
            </a:r>
          </a:p>
        </p:txBody>
      </p:sp>
      <p:sp>
        <p:nvSpPr>
          <p:cNvPr id="5" name="TextBox 4"/>
          <p:cNvSpPr txBox="1"/>
          <p:nvPr/>
        </p:nvSpPr>
        <p:spPr>
          <a:xfrm>
            <a:off x="790161" y="6400800"/>
            <a:ext cx="7515639" cy="400110"/>
          </a:xfrm>
          <a:prstGeom prst="rect">
            <a:avLst/>
          </a:prstGeom>
          <a:noFill/>
        </p:spPr>
        <p:txBody>
          <a:bodyPr wrap="square" rtlCol="0">
            <a:spAutoFit/>
          </a:bodyPr>
          <a:lstStyle/>
          <a:p>
            <a:r>
              <a:rPr lang="en-US" sz="1000" dirty="0"/>
              <a:t>Stahl, SM &amp; Grady, MM. </a:t>
            </a:r>
            <a:r>
              <a:rPr lang="en-US" sz="1000" i="1" dirty="0"/>
              <a:t>Stahl's essential psychopharmacology: The prescriber's guide</a:t>
            </a:r>
            <a:r>
              <a:rPr lang="en-US" sz="1000" dirty="0"/>
              <a:t> (4th ed.). Cambridge, UK ; New York: Cambridge University Press. 2011</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9892" y="838200"/>
            <a:ext cx="6895481" cy="5551079"/>
          </a:xfrm>
          <a:prstGeom prst="rect">
            <a:avLst/>
          </a:prstGeom>
          <a:ln>
            <a:solidFill>
              <a:schemeClr val="tx1"/>
            </a:solidFill>
          </a:ln>
        </p:spPr>
      </p:pic>
    </p:spTree>
    <p:extLst>
      <p:ext uri="{BB962C8B-B14F-4D97-AF65-F5344CB8AC3E}">
        <p14:creationId xmlns:p14="http://schemas.microsoft.com/office/powerpoint/2010/main" val="275167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00168"/>
            <a:ext cx="8686800" cy="1066800"/>
          </a:xfrm>
        </p:spPr>
        <p:txBody>
          <a:bodyPr>
            <a:noAutofit/>
          </a:bodyPr>
          <a:lstStyle/>
          <a:p>
            <a:r>
              <a:rPr lang="en-US" sz="3600" b="1" dirty="0"/>
              <a:t>2</a:t>
            </a:r>
            <a:r>
              <a:rPr lang="en-US" sz="3600" b="1" baseline="30000" dirty="0"/>
              <a:t>nd</a:t>
            </a:r>
            <a:r>
              <a:rPr lang="en-US" sz="3600" b="1" dirty="0"/>
              <a:t> Generation/Atypical Antipsychotics</a:t>
            </a:r>
          </a:p>
        </p:txBody>
      </p:sp>
      <p:sp>
        <p:nvSpPr>
          <p:cNvPr id="5" name="TextBox 4"/>
          <p:cNvSpPr txBox="1"/>
          <p:nvPr/>
        </p:nvSpPr>
        <p:spPr>
          <a:xfrm>
            <a:off x="685800" y="6241207"/>
            <a:ext cx="8139548" cy="400110"/>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p:txBody>
      </p:sp>
      <p:graphicFrame>
        <p:nvGraphicFramePr>
          <p:cNvPr id="11" name="Table 10"/>
          <p:cNvGraphicFramePr>
            <a:graphicFrameLocks noGrp="1"/>
          </p:cNvGraphicFramePr>
          <p:nvPr>
            <p:extLst>
              <p:ext uri="{D42A27DB-BD31-4B8C-83A1-F6EECF244321}">
                <p14:modId xmlns:p14="http://schemas.microsoft.com/office/powerpoint/2010/main" val="2907339655"/>
              </p:ext>
            </p:extLst>
          </p:nvPr>
        </p:nvGraphicFramePr>
        <p:xfrm>
          <a:off x="685800" y="1059775"/>
          <a:ext cx="3792415" cy="4783303"/>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xmlns="" val="3632234942"/>
                    </a:ext>
                  </a:extLst>
                </a:gridCol>
                <a:gridCol w="1735015">
                  <a:extLst>
                    <a:ext uri="{9D8B030D-6E8A-4147-A177-3AD203B41FA5}">
                      <a16:colId xmlns:a16="http://schemas.microsoft.com/office/drawing/2014/main" xmlns="" val="1345972699"/>
                    </a:ext>
                  </a:extLst>
                </a:gridCol>
              </a:tblGrid>
              <a:tr h="395912">
                <a:tc>
                  <a:txBody>
                    <a:bodyPr/>
                    <a:lstStyle/>
                    <a:p>
                      <a:r>
                        <a:rPr lang="en-US" sz="2000" b="1" dirty="0">
                          <a:solidFill>
                            <a:schemeClr val="tx1"/>
                          </a:solidFill>
                        </a:rPr>
                        <a:t>Agent </a:t>
                      </a:r>
                    </a:p>
                  </a:txBody>
                  <a:tcPr>
                    <a:solidFill>
                      <a:schemeClr val="bg1">
                        <a:lumMod val="95000"/>
                      </a:schemeClr>
                    </a:solidFill>
                  </a:tcPr>
                </a:tc>
                <a:tc>
                  <a:txBody>
                    <a:bodyPr/>
                    <a:lstStyle/>
                    <a:p>
                      <a:endParaRPr lang="en-US" sz="2000" b="1" dirty="0">
                        <a:solidFill>
                          <a:schemeClr val="tx1"/>
                        </a:solidFill>
                      </a:endParaRPr>
                    </a:p>
                  </a:txBody>
                  <a:tcPr>
                    <a:solidFill>
                      <a:schemeClr val="bg1">
                        <a:lumMod val="95000"/>
                      </a:schemeClr>
                    </a:solidFill>
                  </a:tcPr>
                </a:tc>
                <a:extLst>
                  <a:ext uri="{0D108BD9-81ED-4DB2-BD59-A6C34878D82A}">
                    <a16:rowId xmlns:a16="http://schemas.microsoft.com/office/drawing/2014/main" xmlns="" val="554531110"/>
                  </a:ext>
                </a:extLst>
              </a:tr>
              <a:tr h="370690">
                <a:tc gridSpan="2">
                  <a:txBody>
                    <a:bodyPr/>
                    <a:lstStyle/>
                    <a:p>
                      <a:r>
                        <a:rPr lang="en-US" sz="2000" b="1" dirty="0">
                          <a:solidFill>
                            <a:schemeClr val="tx1"/>
                          </a:solidFill>
                        </a:rPr>
                        <a:t>     The</a:t>
                      </a:r>
                      <a:r>
                        <a:rPr lang="en-US" sz="2000" b="1" baseline="0" dirty="0">
                          <a:solidFill>
                            <a:schemeClr val="tx1"/>
                          </a:solidFill>
                        </a:rPr>
                        <a:t> “Pines” </a:t>
                      </a:r>
                      <a:endParaRPr lang="en-US" sz="2000" b="1" dirty="0">
                        <a:solidFill>
                          <a:schemeClr val="tx1"/>
                        </a:solidFill>
                      </a:endParaRPr>
                    </a:p>
                  </a:txBody>
                  <a:tcPr>
                    <a:solidFill>
                      <a:schemeClr val="bg1">
                        <a:lumMod val="75000"/>
                      </a:schemeClr>
                    </a:solidFill>
                  </a:tcPr>
                </a:tc>
                <a:tc hMerge="1">
                  <a:txBody>
                    <a:bodyPr/>
                    <a:lstStyle/>
                    <a:p>
                      <a:endParaRPr lang="en-US"/>
                    </a:p>
                  </a:txBody>
                  <a:tcPr/>
                </a:tc>
                <a:extLst>
                  <a:ext uri="{0D108BD9-81ED-4DB2-BD59-A6C34878D82A}">
                    <a16:rowId xmlns:a16="http://schemas.microsoft.com/office/drawing/2014/main" xmlns="" val="1596340949"/>
                  </a:ext>
                </a:extLst>
              </a:tr>
              <a:tr h="370690">
                <a:tc gridSpan="2">
                  <a:txBody>
                    <a:bodyPr/>
                    <a:lstStyle/>
                    <a:p>
                      <a:pPr algn="ctr"/>
                      <a:r>
                        <a:rPr lang="en-US" sz="2000" dirty="0"/>
                        <a:t>Clozapine (</a:t>
                      </a:r>
                      <a:r>
                        <a:rPr lang="en-US" sz="2000" dirty="0" err="1"/>
                        <a:t>Clozaril</a:t>
                      </a:r>
                      <a:r>
                        <a:rPr lang="en-US" sz="2000" dirty="0"/>
                        <a:t>®)</a:t>
                      </a:r>
                    </a:p>
                  </a:txBody>
                  <a:tcPr/>
                </a:tc>
                <a:tc hMerge="1">
                  <a:txBody>
                    <a:bodyPr/>
                    <a:lstStyle/>
                    <a:p>
                      <a:endParaRPr lang="en-US"/>
                    </a:p>
                  </a:txBody>
                  <a:tcPr/>
                </a:tc>
                <a:extLst>
                  <a:ext uri="{0D108BD9-81ED-4DB2-BD59-A6C34878D82A}">
                    <a16:rowId xmlns:a16="http://schemas.microsoft.com/office/drawing/2014/main" xmlns="" val="3849873779"/>
                  </a:ext>
                </a:extLst>
              </a:tr>
              <a:tr h="370690">
                <a:tc gridSpan="2">
                  <a:txBody>
                    <a:bodyPr/>
                    <a:lstStyle/>
                    <a:p>
                      <a:pPr algn="ctr"/>
                      <a:r>
                        <a:rPr lang="en-US" sz="2000" dirty="0"/>
                        <a:t>Quetiapine (Seroquel®)</a:t>
                      </a:r>
                    </a:p>
                  </a:txBody>
                  <a:tcPr/>
                </a:tc>
                <a:tc hMerge="1">
                  <a:txBody>
                    <a:bodyPr/>
                    <a:lstStyle/>
                    <a:p>
                      <a:endParaRPr lang="en-US"/>
                    </a:p>
                  </a:txBody>
                  <a:tcPr/>
                </a:tc>
                <a:extLst>
                  <a:ext uri="{0D108BD9-81ED-4DB2-BD59-A6C34878D82A}">
                    <a16:rowId xmlns:a16="http://schemas.microsoft.com/office/drawing/2014/main" xmlns="" val="3452220303"/>
                  </a:ext>
                </a:extLst>
              </a:tr>
              <a:tr h="370690">
                <a:tc gridSpan="2">
                  <a:txBody>
                    <a:bodyPr/>
                    <a:lstStyle/>
                    <a:p>
                      <a:pPr algn="ctr"/>
                      <a:r>
                        <a:rPr lang="en-US" sz="2000" dirty="0"/>
                        <a:t>Olanzapine (Zyprexa®)</a:t>
                      </a:r>
                    </a:p>
                  </a:txBody>
                  <a:tcPr/>
                </a:tc>
                <a:tc hMerge="1">
                  <a:txBody>
                    <a:bodyPr/>
                    <a:lstStyle/>
                    <a:p>
                      <a:endParaRPr lang="en-US"/>
                    </a:p>
                  </a:txBody>
                  <a:tcPr/>
                </a:tc>
                <a:extLst>
                  <a:ext uri="{0D108BD9-81ED-4DB2-BD59-A6C34878D82A}">
                    <a16:rowId xmlns:a16="http://schemas.microsoft.com/office/drawing/2014/main" xmlns="" val="3280363825"/>
                  </a:ext>
                </a:extLst>
              </a:tr>
              <a:tr h="370690">
                <a:tc gridSpan="2">
                  <a:txBody>
                    <a:bodyPr/>
                    <a:lstStyle/>
                    <a:p>
                      <a:pPr algn="ctr"/>
                      <a:r>
                        <a:rPr lang="en-US" sz="2000" dirty="0" err="1"/>
                        <a:t>Asenapine</a:t>
                      </a:r>
                      <a:r>
                        <a:rPr lang="en-US" sz="2000" dirty="0"/>
                        <a:t> (</a:t>
                      </a:r>
                      <a:r>
                        <a:rPr lang="en-US" sz="2000" dirty="0" err="1"/>
                        <a:t>Saphris</a:t>
                      </a:r>
                      <a:r>
                        <a:rPr lang="en-US" sz="2000" dirty="0"/>
                        <a:t>®)</a:t>
                      </a:r>
                    </a:p>
                  </a:txBody>
                  <a:tcPr/>
                </a:tc>
                <a:tc hMerge="1">
                  <a:txBody>
                    <a:bodyPr/>
                    <a:lstStyle/>
                    <a:p>
                      <a:endParaRPr lang="en-US"/>
                    </a:p>
                  </a:txBody>
                  <a:tcPr/>
                </a:tc>
                <a:extLst>
                  <a:ext uri="{0D108BD9-81ED-4DB2-BD59-A6C34878D82A}">
                    <a16:rowId xmlns:a16="http://schemas.microsoft.com/office/drawing/2014/main" xmlns="" val="1492860564"/>
                  </a:ext>
                </a:extLst>
              </a:tr>
              <a:tr h="424663">
                <a:tc gridSpan="2">
                  <a:txBody>
                    <a:bodyPr/>
                    <a:lstStyle/>
                    <a:p>
                      <a:pPr marL="0" algn="l" defTabSz="685800" rtl="0" eaLnBrk="1" latinLnBrk="0" hangingPunct="1"/>
                      <a:r>
                        <a:rPr lang="en-US" sz="2000" b="1" kern="1200" dirty="0">
                          <a:solidFill>
                            <a:schemeClr val="tx1"/>
                          </a:solidFill>
                          <a:latin typeface="+mn-lt"/>
                          <a:ea typeface="+mn-ea"/>
                          <a:cs typeface="+mn-cs"/>
                        </a:rPr>
                        <a:t>     The “</a:t>
                      </a:r>
                      <a:r>
                        <a:rPr lang="en-US" sz="2000" b="1" kern="1200" dirty="0" err="1">
                          <a:solidFill>
                            <a:schemeClr val="tx1"/>
                          </a:solidFill>
                          <a:latin typeface="+mn-lt"/>
                          <a:ea typeface="+mn-ea"/>
                          <a:cs typeface="+mn-cs"/>
                        </a:rPr>
                        <a:t>Dones</a:t>
                      </a:r>
                      <a:r>
                        <a:rPr lang="en-US" sz="2000" b="1" kern="1200" dirty="0">
                          <a:solidFill>
                            <a:schemeClr val="tx1"/>
                          </a:solidFill>
                          <a:latin typeface="+mn-lt"/>
                          <a:ea typeface="+mn-ea"/>
                          <a:cs typeface="+mn-cs"/>
                        </a:rPr>
                        <a:t>”</a:t>
                      </a:r>
                    </a:p>
                  </a:txBody>
                  <a:tcPr>
                    <a:solidFill>
                      <a:schemeClr val="bg1">
                        <a:lumMod val="75000"/>
                      </a:schemeClr>
                    </a:solidFill>
                  </a:tcPr>
                </a:tc>
                <a:tc hMerge="1">
                  <a:txBody>
                    <a:bodyPr/>
                    <a:lstStyle/>
                    <a:p>
                      <a:endParaRPr lang="en-US"/>
                    </a:p>
                  </a:txBody>
                  <a:tcPr/>
                </a:tc>
                <a:extLst>
                  <a:ext uri="{0D108BD9-81ED-4DB2-BD59-A6C34878D82A}">
                    <a16:rowId xmlns:a16="http://schemas.microsoft.com/office/drawing/2014/main" xmlns="" val="1639930567"/>
                  </a:ext>
                </a:extLst>
              </a:tr>
              <a:tr h="370690">
                <a:tc gridSpan="2">
                  <a:txBody>
                    <a:bodyPr/>
                    <a:lstStyle/>
                    <a:p>
                      <a:pPr marL="0" algn="ctr" defTabSz="685800" rtl="0" eaLnBrk="1" latinLnBrk="0" hangingPunct="1"/>
                      <a:r>
                        <a:rPr lang="en-US" sz="2000" kern="1200" dirty="0">
                          <a:solidFill>
                            <a:schemeClr val="dk1"/>
                          </a:solidFill>
                          <a:latin typeface="+mn-lt"/>
                          <a:ea typeface="+mn-ea"/>
                          <a:cs typeface="+mn-cs"/>
                        </a:rPr>
                        <a:t>Risperidone (Risperdal®)</a:t>
                      </a:r>
                    </a:p>
                  </a:txBody>
                  <a:tcPr/>
                </a:tc>
                <a:tc hMerge="1">
                  <a:txBody>
                    <a:bodyPr/>
                    <a:lstStyle/>
                    <a:p>
                      <a:endParaRPr lang="en-US"/>
                    </a:p>
                  </a:txBody>
                  <a:tcPr/>
                </a:tc>
                <a:extLst>
                  <a:ext uri="{0D108BD9-81ED-4DB2-BD59-A6C34878D82A}">
                    <a16:rowId xmlns:a16="http://schemas.microsoft.com/office/drawing/2014/main" xmlns="" val="1986098991"/>
                  </a:ext>
                </a:extLst>
              </a:tr>
              <a:tr h="370690">
                <a:tc gridSpan="2">
                  <a:txBody>
                    <a:bodyPr/>
                    <a:lstStyle/>
                    <a:p>
                      <a:pPr marL="0" algn="ctr" defTabSz="685800" rtl="0" eaLnBrk="1" latinLnBrk="0" hangingPunct="1"/>
                      <a:r>
                        <a:rPr lang="en-US" sz="2000" kern="1200" dirty="0">
                          <a:solidFill>
                            <a:schemeClr val="dk1"/>
                          </a:solidFill>
                          <a:latin typeface="+mn-lt"/>
                          <a:ea typeface="+mn-ea"/>
                          <a:cs typeface="+mn-cs"/>
                        </a:rPr>
                        <a:t>Paliperidone (</a:t>
                      </a:r>
                      <a:r>
                        <a:rPr lang="en-US" sz="2000" kern="1200" dirty="0" err="1">
                          <a:solidFill>
                            <a:schemeClr val="dk1"/>
                          </a:solidFill>
                          <a:latin typeface="+mn-lt"/>
                          <a:ea typeface="+mn-ea"/>
                          <a:cs typeface="+mn-cs"/>
                        </a:rPr>
                        <a:t>Invega</a:t>
                      </a:r>
                      <a:r>
                        <a:rPr lang="en-US" sz="2000" kern="1200" dirty="0">
                          <a:solidFill>
                            <a:schemeClr val="dk1"/>
                          </a:solidFill>
                          <a:latin typeface="+mn-lt"/>
                          <a:ea typeface="+mn-ea"/>
                          <a:cs typeface="+mn-cs"/>
                        </a:rPr>
                        <a:t>®)</a:t>
                      </a:r>
                    </a:p>
                  </a:txBody>
                  <a:tcPr/>
                </a:tc>
                <a:tc hMerge="1">
                  <a:txBody>
                    <a:bodyPr/>
                    <a:lstStyle/>
                    <a:p>
                      <a:endParaRPr lang="en-US"/>
                    </a:p>
                  </a:txBody>
                  <a:tcPr/>
                </a:tc>
                <a:extLst>
                  <a:ext uri="{0D108BD9-81ED-4DB2-BD59-A6C34878D82A}">
                    <a16:rowId xmlns:a16="http://schemas.microsoft.com/office/drawing/2014/main" xmlns="" val="1855987849"/>
                  </a:ext>
                </a:extLst>
              </a:tr>
              <a:tr h="370690">
                <a:tc gridSpan="2">
                  <a:txBody>
                    <a:bodyPr/>
                    <a:lstStyle/>
                    <a:p>
                      <a:pPr marL="0" algn="ctr" defTabSz="685800" rtl="0" eaLnBrk="1" latinLnBrk="0" hangingPunct="1"/>
                      <a:r>
                        <a:rPr lang="en-US" sz="2000" kern="1200" dirty="0">
                          <a:solidFill>
                            <a:schemeClr val="dk1"/>
                          </a:solidFill>
                          <a:latin typeface="+mn-lt"/>
                          <a:ea typeface="+mn-ea"/>
                          <a:cs typeface="+mn-cs"/>
                        </a:rPr>
                        <a:t>Iloperidone (</a:t>
                      </a:r>
                      <a:r>
                        <a:rPr lang="en-US" sz="2000" kern="1200" dirty="0" err="1">
                          <a:solidFill>
                            <a:schemeClr val="dk1"/>
                          </a:solidFill>
                          <a:latin typeface="+mn-lt"/>
                          <a:ea typeface="+mn-ea"/>
                          <a:cs typeface="+mn-cs"/>
                        </a:rPr>
                        <a:t>Fanapt</a:t>
                      </a:r>
                      <a:r>
                        <a:rPr lang="en-US" sz="2000" kern="1200" dirty="0">
                          <a:solidFill>
                            <a:schemeClr val="dk1"/>
                          </a:solidFill>
                          <a:latin typeface="+mn-lt"/>
                          <a:ea typeface="+mn-ea"/>
                          <a:cs typeface="+mn-cs"/>
                        </a:rPr>
                        <a:t>®)</a:t>
                      </a:r>
                    </a:p>
                  </a:txBody>
                  <a:tcPr/>
                </a:tc>
                <a:tc hMerge="1">
                  <a:txBody>
                    <a:bodyPr/>
                    <a:lstStyle/>
                    <a:p>
                      <a:endParaRPr lang="en-US"/>
                    </a:p>
                  </a:txBody>
                  <a:tcPr/>
                </a:tc>
                <a:extLst>
                  <a:ext uri="{0D108BD9-81ED-4DB2-BD59-A6C34878D82A}">
                    <a16:rowId xmlns:a16="http://schemas.microsoft.com/office/drawing/2014/main" xmlns="" val="1271888565"/>
                  </a:ext>
                </a:extLst>
              </a:tr>
              <a:tr h="370690">
                <a:tc gridSpan="2">
                  <a:txBody>
                    <a:bodyPr/>
                    <a:lstStyle/>
                    <a:p>
                      <a:pPr marL="0" algn="ctr" defTabSz="685800" rtl="0" eaLnBrk="1" latinLnBrk="0" hangingPunct="1"/>
                      <a:r>
                        <a:rPr lang="en-US" sz="2000" kern="1200" dirty="0">
                          <a:solidFill>
                            <a:schemeClr val="dk1"/>
                          </a:solidFill>
                          <a:latin typeface="+mn-lt"/>
                          <a:ea typeface="+mn-ea"/>
                          <a:cs typeface="+mn-cs"/>
                        </a:rPr>
                        <a:t>Ziprasidone (Geodon®)</a:t>
                      </a:r>
                    </a:p>
                  </a:txBody>
                  <a:tcPr/>
                </a:tc>
                <a:tc hMerge="1">
                  <a:txBody>
                    <a:bodyPr/>
                    <a:lstStyle/>
                    <a:p>
                      <a:endParaRPr lang="en-US"/>
                    </a:p>
                  </a:txBody>
                  <a:tcPr/>
                </a:tc>
                <a:extLst>
                  <a:ext uri="{0D108BD9-81ED-4DB2-BD59-A6C34878D82A}">
                    <a16:rowId xmlns:a16="http://schemas.microsoft.com/office/drawing/2014/main" xmlns="" val="976621415"/>
                  </a:ext>
                </a:extLst>
              </a:tr>
              <a:tr h="370690">
                <a:tc gridSpan="2">
                  <a:txBody>
                    <a:bodyPr/>
                    <a:lstStyle/>
                    <a:p>
                      <a:pPr marL="0" algn="ctr" defTabSz="685800" rtl="0" eaLnBrk="1" latinLnBrk="0" hangingPunct="1"/>
                      <a:r>
                        <a:rPr lang="en-US" sz="2000" kern="1200" dirty="0" err="1">
                          <a:solidFill>
                            <a:schemeClr val="dk1"/>
                          </a:solidFill>
                          <a:latin typeface="+mn-lt"/>
                          <a:ea typeface="+mn-ea"/>
                          <a:cs typeface="+mn-cs"/>
                        </a:rPr>
                        <a:t>Lurasidone</a:t>
                      </a:r>
                      <a:r>
                        <a:rPr lang="en-US" sz="2000" kern="1200" dirty="0">
                          <a:solidFill>
                            <a:schemeClr val="dk1"/>
                          </a:solidFill>
                          <a:latin typeface="+mn-lt"/>
                          <a:ea typeface="+mn-ea"/>
                          <a:cs typeface="+mn-cs"/>
                        </a:rPr>
                        <a:t> (</a:t>
                      </a:r>
                      <a:r>
                        <a:rPr lang="en-US" sz="2000" kern="1200" dirty="0" err="1">
                          <a:solidFill>
                            <a:schemeClr val="dk1"/>
                          </a:solidFill>
                          <a:latin typeface="+mn-lt"/>
                          <a:ea typeface="+mn-ea"/>
                          <a:cs typeface="+mn-cs"/>
                        </a:rPr>
                        <a:t>Latuda</a:t>
                      </a:r>
                      <a:r>
                        <a:rPr lang="en-US" sz="2000" kern="1200" dirty="0">
                          <a:solidFill>
                            <a:schemeClr val="dk1"/>
                          </a:solidFill>
                          <a:latin typeface="+mn-lt"/>
                          <a:ea typeface="+mn-ea"/>
                          <a:cs typeface="+mn-cs"/>
                        </a:rPr>
                        <a:t>®)</a:t>
                      </a:r>
                    </a:p>
                  </a:txBody>
                  <a:tcPr/>
                </a:tc>
                <a:tc hMerge="1">
                  <a:txBody>
                    <a:bodyPr/>
                    <a:lstStyle/>
                    <a:p>
                      <a:endParaRPr lang="en-US"/>
                    </a:p>
                  </a:txBody>
                  <a:tcPr/>
                </a:tc>
                <a:extLst>
                  <a:ext uri="{0D108BD9-81ED-4DB2-BD59-A6C34878D82A}">
                    <a16:rowId xmlns:a16="http://schemas.microsoft.com/office/drawing/2014/main" xmlns="" val="2626287489"/>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453777485"/>
              </p:ext>
            </p:extLst>
          </p:nvPr>
        </p:nvGraphicFramePr>
        <p:xfrm>
          <a:off x="5025467" y="1896088"/>
          <a:ext cx="3799881" cy="2915358"/>
        </p:xfrm>
        <a:graphic>
          <a:graphicData uri="http://schemas.openxmlformats.org/drawingml/2006/table">
            <a:tbl>
              <a:tblPr firstRow="1" bandRow="1">
                <a:tableStyleId>{5C22544A-7EE6-4342-B048-85BDC9FD1C3A}</a:tableStyleId>
              </a:tblPr>
              <a:tblGrid>
                <a:gridCol w="1705708">
                  <a:extLst>
                    <a:ext uri="{9D8B030D-6E8A-4147-A177-3AD203B41FA5}">
                      <a16:colId xmlns:a16="http://schemas.microsoft.com/office/drawing/2014/main" xmlns="" val="3632234942"/>
                    </a:ext>
                  </a:extLst>
                </a:gridCol>
                <a:gridCol w="2094173">
                  <a:extLst>
                    <a:ext uri="{9D8B030D-6E8A-4147-A177-3AD203B41FA5}">
                      <a16:colId xmlns:a16="http://schemas.microsoft.com/office/drawing/2014/main" xmlns="" val="2978018046"/>
                    </a:ext>
                  </a:extLst>
                </a:gridCol>
              </a:tblGrid>
              <a:tr h="398871">
                <a:tc>
                  <a:txBody>
                    <a:bodyPr/>
                    <a:lstStyle/>
                    <a:p>
                      <a:r>
                        <a:rPr lang="en-US" sz="2000" b="1" dirty="0">
                          <a:solidFill>
                            <a:schemeClr val="tx1"/>
                          </a:solidFill>
                        </a:rPr>
                        <a:t>Agent </a:t>
                      </a:r>
                    </a:p>
                  </a:txBody>
                  <a:tcPr>
                    <a:solidFill>
                      <a:schemeClr val="bg1">
                        <a:lumMod val="95000"/>
                      </a:schemeClr>
                    </a:solidFill>
                  </a:tcPr>
                </a:tc>
                <a:tc>
                  <a:txBody>
                    <a:bodyPr/>
                    <a:lstStyle/>
                    <a:p>
                      <a:endParaRPr lang="en-US" sz="2000" b="1" dirty="0">
                        <a:solidFill>
                          <a:schemeClr val="tx1"/>
                        </a:solidFill>
                      </a:endParaRPr>
                    </a:p>
                  </a:txBody>
                  <a:tcPr>
                    <a:solidFill>
                      <a:schemeClr val="bg1">
                        <a:lumMod val="95000"/>
                      </a:schemeClr>
                    </a:solidFill>
                  </a:tcPr>
                </a:tc>
                <a:extLst>
                  <a:ext uri="{0D108BD9-81ED-4DB2-BD59-A6C34878D82A}">
                    <a16:rowId xmlns:a16="http://schemas.microsoft.com/office/drawing/2014/main" xmlns="" val="554531110"/>
                  </a:ext>
                </a:extLst>
              </a:tr>
              <a:tr h="361268">
                <a:tc gridSpan="2">
                  <a:txBody>
                    <a:bodyPr/>
                    <a:lstStyle/>
                    <a:p>
                      <a:pPr marL="0" algn="l" defTabSz="685800" rtl="0" eaLnBrk="1" latinLnBrk="0" hangingPunct="1"/>
                      <a:r>
                        <a:rPr lang="en-US" sz="2000" b="1" kern="1200" dirty="0">
                          <a:solidFill>
                            <a:schemeClr val="tx1"/>
                          </a:solidFill>
                          <a:latin typeface="+mn-lt"/>
                          <a:ea typeface="+mn-ea"/>
                          <a:cs typeface="+mn-cs"/>
                        </a:rPr>
                        <a:t>     The “</a:t>
                      </a:r>
                      <a:r>
                        <a:rPr lang="en-US" sz="2000" b="1" kern="1200" dirty="0" err="1">
                          <a:solidFill>
                            <a:schemeClr val="tx1"/>
                          </a:solidFill>
                          <a:latin typeface="+mn-lt"/>
                          <a:ea typeface="+mn-ea"/>
                          <a:cs typeface="+mn-cs"/>
                        </a:rPr>
                        <a:t>Ips</a:t>
                      </a:r>
                      <a:r>
                        <a:rPr lang="en-US" sz="2000" b="1" kern="1200" dirty="0">
                          <a:solidFill>
                            <a:schemeClr val="tx1"/>
                          </a:solidFill>
                          <a:latin typeface="+mn-lt"/>
                          <a:ea typeface="+mn-ea"/>
                          <a:cs typeface="+mn-cs"/>
                        </a:rPr>
                        <a:t>”</a:t>
                      </a:r>
                    </a:p>
                  </a:txBody>
                  <a:tcPr>
                    <a:solidFill>
                      <a:schemeClr val="bg1">
                        <a:lumMod val="75000"/>
                      </a:schemeClr>
                    </a:solidFill>
                  </a:tcPr>
                </a:tc>
                <a:tc hMerge="1">
                  <a:txBody>
                    <a:bodyPr/>
                    <a:lstStyle/>
                    <a:p>
                      <a:endParaRPr lang="en-US"/>
                    </a:p>
                  </a:txBody>
                  <a:tcPr/>
                </a:tc>
                <a:extLst>
                  <a:ext uri="{0D108BD9-81ED-4DB2-BD59-A6C34878D82A}">
                    <a16:rowId xmlns:a16="http://schemas.microsoft.com/office/drawing/2014/main" xmlns="" val="3540820090"/>
                  </a:ext>
                </a:extLst>
              </a:tr>
              <a:tr h="385394">
                <a:tc gridSpan="2">
                  <a:txBody>
                    <a:bodyPr/>
                    <a:lstStyle/>
                    <a:p>
                      <a:pPr marL="0" algn="ctr" defTabSz="685800" rtl="0" eaLnBrk="1" latinLnBrk="0" hangingPunct="1"/>
                      <a:r>
                        <a:rPr lang="en-US" sz="2000" kern="1200" dirty="0">
                          <a:solidFill>
                            <a:schemeClr val="dk1"/>
                          </a:solidFill>
                          <a:latin typeface="+mn-lt"/>
                          <a:ea typeface="+mn-ea"/>
                          <a:cs typeface="+mn-cs"/>
                        </a:rPr>
                        <a:t>Aripiprazole (</a:t>
                      </a:r>
                      <a:r>
                        <a:rPr lang="en-US" sz="2000" kern="1200" dirty="0" err="1">
                          <a:solidFill>
                            <a:schemeClr val="dk1"/>
                          </a:solidFill>
                          <a:latin typeface="+mn-lt"/>
                          <a:ea typeface="+mn-ea"/>
                          <a:cs typeface="+mn-cs"/>
                        </a:rPr>
                        <a:t>Abilify</a:t>
                      </a:r>
                      <a:r>
                        <a:rPr lang="en-US" sz="2000" kern="1200" dirty="0">
                          <a:solidFill>
                            <a:schemeClr val="dk1"/>
                          </a:solidFill>
                          <a:latin typeface="+mn-lt"/>
                          <a:ea typeface="+mn-ea"/>
                          <a:cs typeface="+mn-cs"/>
                        </a:rPr>
                        <a:t>®)</a:t>
                      </a:r>
                    </a:p>
                  </a:txBody>
                  <a:tcPr/>
                </a:tc>
                <a:tc hMerge="1">
                  <a:txBody>
                    <a:bodyPr/>
                    <a:lstStyle/>
                    <a:p>
                      <a:endParaRPr lang="en-US" dirty="0"/>
                    </a:p>
                  </a:txBody>
                  <a:tcPr/>
                </a:tc>
                <a:extLst>
                  <a:ext uri="{0D108BD9-81ED-4DB2-BD59-A6C34878D82A}">
                    <a16:rowId xmlns:a16="http://schemas.microsoft.com/office/drawing/2014/main" xmlns="" val="1621538606"/>
                  </a:ext>
                </a:extLst>
              </a:tr>
              <a:tr h="381000">
                <a:tc gridSpan="2">
                  <a:txBody>
                    <a:bodyPr/>
                    <a:lstStyle/>
                    <a:p>
                      <a:pPr marL="0" algn="ctr" defTabSz="685800" rtl="0" eaLnBrk="1" latinLnBrk="0" hangingPunct="1"/>
                      <a:r>
                        <a:rPr lang="en-US" sz="2000" kern="1200" dirty="0" err="1">
                          <a:solidFill>
                            <a:schemeClr val="dk1"/>
                          </a:solidFill>
                          <a:latin typeface="+mn-lt"/>
                          <a:ea typeface="+mn-ea"/>
                          <a:cs typeface="+mn-cs"/>
                        </a:rPr>
                        <a:t>Brexpiprazole</a:t>
                      </a:r>
                      <a:r>
                        <a:rPr lang="en-US" sz="2000" kern="1200" dirty="0">
                          <a:solidFill>
                            <a:schemeClr val="dk1"/>
                          </a:solidFill>
                          <a:latin typeface="+mn-lt"/>
                          <a:ea typeface="+mn-ea"/>
                          <a:cs typeface="+mn-cs"/>
                        </a:rPr>
                        <a:t> (</a:t>
                      </a:r>
                      <a:r>
                        <a:rPr lang="en-US" sz="2000" kern="1200" dirty="0" err="1">
                          <a:solidFill>
                            <a:schemeClr val="dk1"/>
                          </a:solidFill>
                          <a:latin typeface="+mn-lt"/>
                          <a:ea typeface="+mn-ea"/>
                          <a:cs typeface="+mn-cs"/>
                        </a:rPr>
                        <a:t>Rexulti</a:t>
                      </a:r>
                      <a:r>
                        <a:rPr lang="en-US" sz="2000" kern="1200" dirty="0">
                          <a:solidFill>
                            <a:schemeClr val="dk1"/>
                          </a:solidFill>
                          <a:latin typeface="+mn-lt"/>
                          <a:ea typeface="+mn-ea"/>
                          <a:cs typeface="+mn-cs"/>
                        </a:rPr>
                        <a:t>®)</a:t>
                      </a:r>
                    </a:p>
                  </a:txBody>
                  <a:tcPr/>
                </a:tc>
                <a:tc hMerge="1">
                  <a:txBody>
                    <a:bodyPr/>
                    <a:lstStyle/>
                    <a:p>
                      <a:endParaRPr lang="en-US" dirty="0"/>
                    </a:p>
                  </a:txBody>
                  <a:tcPr/>
                </a:tc>
                <a:extLst>
                  <a:ext uri="{0D108BD9-81ED-4DB2-BD59-A6C34878D82A}">
                    <a16:rowId xmlns:a16="http://schemas.microsoft.com/office/drawing/2014/main" xmlns="" val="87695701"/>
                  </a:ext>
                </a:extLst>
              </a:tr>
              <a:tr h="337043">
                <a:tc gridSpan="2">
                  <a:txBody>
                    <a:bodyPr/>
                    <a:lstStyle/>
                    <a:p>
                      <a:pPr marL="0" algn="ctr" defTabSz="685800" rtl="0" eaLnBrk="1" latinLnBrk="0" hangingPunct="1"/>
                      <a:r>
                        <a:rPr lang="en-US" sz="2000" kern="1200" dirty="0" err="1">
                          <a:solidFill>
                            <a:schemeClr val="dk1"/>
                          </a:solidFill>
                          <a:latin typeface="+mn-lt"/>
                          <a:ea typeface="+mn-ea"/>
                          <a:cs typeface="+mn-cs"/>
                        </a:rPr>
                        <a:t>Cariprazine</a:t>
                      </a:r>
                      <a:r>
                        <a:rPr lang="en-US" sz="2000" kern="1200" dirty="0">
                          <a:solidFill>
                            <a:schemeClr val="dk1"/>
                          </a:solidFill>
                          <a:latin typeface="+mn-lt"/>
                          <a:ea typeface="+mn-ea"/>
                          <a:cs typeface="+mn-cs"/>
                        </a:rPr>
                        <a:t> (</a:t>
                      </a:r>
                      <a:r>
                        <a:rPr lang="en-US" sz="2000" kern="1200" dirty="0" err="1">
                          <a:solidFill>
                            <a:schemeClr val="dk1"/>
                          </a:solidFill>
                          <a:latin typeface="+mn-lt"/>
                          <a:ea typeface="+mn-ea"/>
                          <a:cs typeface="+mn-cs"/>
                        </a:rPr>
                        <a:t>Vraylar</a:t>
                      </a:r>
                      <a:r>
                        <a:rPr lang="en-US" sz="2000" kern="1200" dirty="0">
                          <a:solidFill>
                            <a:schemeClr val="dk1"/>
                          </a:solidFill>
                          <a:latin typeface="+mn-lt"/>
                          <a:ea typeface="+mn-ea"/>
                          <a:cs typeface="+mn-cs"/>
                        </a:rPr>
                        <a:t>®)</a:t>
                      </a:r>
                    </a:p>
                  </a:txBody>
                  <a:tcPr/>
                </a:tc>
                <a:tc hMerge="1">
                  <a:txBody>
                    <a:bodyPr/>
                    <a:lstStyle/>
                    <a:p>
                      <a:endParaRPr lang="en-US" dirty="0"/>
                    </a:p>
                  </a:txBody>
                  <a:tcPr/>
                </a:tc>
                <a:extLst>
                  <a:ext uri="{0D108BD9-81ED-4DB2-BD59-A6C34878D82A}">
                    <a16:rowId xmlns:a16="http://schemas.microsoft.com/office/drawing/2014/main" xmlns="" val="2101097202"/>
                  </a:ext>
                </a:extLst>
              </a:tr>
              <a:tr h="348757">
                <a:tc gridSpan="2">
                  <a:txBody>
                    <a:bodyPr/>
                    <a:lstStyle/>
                    <a:p>
                      <a:pPr marL="0" algn="l" defTabSz="685800" rtl="0" eaLnBrk="1" latinLnBrk="0" hangingPunct="1"/>
                      <a:r>
                        <a:rPr lang="en-US" sz="2000" kern="1200" dirty="0">
                          <a:solidFill>
                            <a:schemeClr val="dk1"/>
                          </a:solidFill>
                          <a:latin typeface="+mn-lt"/>
                          <a:ea typeface="+mn-ea"/>
                          <a:cs typeface="+mn-cs"/>
                        </a:rPr>
                        <a:t>     </a:t>
                      </a:r>
                      <a:r>
                        <a:rPr lang="en-US" sz="2000" b="1" kern="1200" dirty="0">
                          <a:solidFill>
                            <a:schemeClr val="dk1"/>
                          </a:solidFill>
                          <a:latin typeface="+mn-lt"/>
                          <a:ea typeface="+mn-ea"/>
                          <a:cs typeface="+mn-cs"/>
                        </a:rPr>
                        <a:t>Novel Agent</a:t>
                      </a:r>
                      <a:r>
                        <a:rPr lang="en-US" sz="2000" b="1" kern="1200" baseline="0" dirty="0">
                          <a:solidFill>
                            <a:schemeClr val="dk1"/>
                          </a:solidFill>
                          <a:latin typeface="+mn-lt"/>
                          <a:ea typeface="+mn-ea"/>
                          <a:cs typeface="+mn-cs"/>
                        </a:rPr>
                        <a:t> with No D</a:t>
                      </a:r>
                      <a:r>
                        <a:rPr lang="en-US" sz="2000" b="1" kern="1200" baseline="-25000" dirty="0">
                          <a:solidFill>
                            <a:schemeClr val="dk1"/>
                          </a:solidFill>
                          <a:latin typeface="+mn-lt"/>
                          <a:ea typeface="+mn-ea"/>
                          <a:cs typeface="+mn-cs"/>
                        </a:rPr>
                        <a:t>2</a:t>
                      </a:r>
                      <a:r>
                        <a:rPr lang="en-US" sz="2000" b="1" kern="1200" baseline="0" dirty="0">
                          <a:solidFill>
                            <a:schemeClr val="dk1"/>
                          </a:solidFill>
                          <a:latin typeface="+mn-lt"/>
                          <a:ea typeface="+mn-ea"/>
                          <a:cs typeface="+mn-cs"/>
                        </a:rPr>
                        <a:t> Affinity</a:t>
                      </a:r>
                      <a:endParaRPr lang="en-US" sz="2000" kern="1200" dirty="0">
                        <a:solidFill>
                          <a:schemeClr val="dk1"/>
                        </a:solidFill>
                        <a:latin typeface="+mn-lt"/>
                        <a:ea typeface="+mn-ea"/>
                        <a:cs typeface="+mn-cs"/>
                      </a:endParaRPr>
                    </a:p>
                  </a:txBody>
                  <a:tcPr>
                    <a:solidFill>
                      <a:schemeClr val="bg1">
                        <a:lumMod val="75000"/>
                      </a:schemeClr>
                    </a:solidFill>
                  </a:tcPr>
                </a:tc>
                <a:tc hMerge="1">
                  <a:txBody>
                    <a:bodyPr/>
                    <a:lstStyle/>
                    <a:p>
                      <a:endParaRPr lang="en-US" dirty="0"/>
                    </a:p>
                  </a:txBody>
                  <a:tcPr/>
                </a:tc>
                <a:extLst>
                  <a:ext uri="{0D108BD9-81ED-4DB2-BD59-A6C34878D82A}">
                    <a16:rowId xmlns:a16="http://schemas.microsoft.com/office/drawing/2014/main" xmlns="" val="4031500248"/>
                  </a:ext>
                </a:extLst>
              </a:tr>
              <a:tr h="535287">
                <a:tc gridSpan="2">
                  <a:txBody>
                    <a:bodyPr/>
                    <a:lstStyle/>
                    <a:p>
                      <a:pPr marL="0" algn="ctr" defTabSz="685800" rtl="0" eaLnBrk="1" latinLnBrk="0" hangingPunct="1"/>
                      <a:r>
                        <a:rPr lang="en-US" sz="2000" kern="1200" dirty="0" err="1">
                          <a:solidFill>
                            <a:schemeClr val="dk1"/>
                          </a:solidFill>
                          <a:latin typeface="+mn-lt"/>
                          <a:ea typeface="+mn-ea"/>
                          <a:cs typeface="+mn-cs"/>
                        </a:rPr>
                        <a:t>Pimavanserin</a:t>
                      </a:r>
                      <a:r>
                        <a:rPr lang="en-US" sz="2000" kern="1200" dirty="0">
                          <a:solidFill>
                            <a:schemeClr val="dk1"/>
                          </a:solidFill>
                          <a:latin typeface="+mn-lt"/>
                          <a:ea typeface="+mn-ea"/>
                          <a:cs typeface="+mn-cs"/>
                        </a:rPr>
                        <a:t> (</a:t>
                      </a:r>
                      <a:r>
                        <a:rPr lang="en-US" sz="2000" kern="1200" dirty="0" err="1">
                          <a:solidFill>
                            <a:schemeClr val="dk1"/>
                          </a:solidFill>
                          <a:latin typeface="+mn-lt"/>
                          <a:ea typeface="+mn-ea"/>
                          <a:cs typeface="+mn-cs"/>
                        </a:rPr>
                        <a:t>Nuplazid</a:t>
                      </a:r>
                      <a:r>
                        <a:rPr lang="en-US" sz="2000" kern="1200" dirty="0">
                          <a:solidFill>
                            <a:schemeClr val="dk1"/>
                          </a:solidFill>
                          <a:latin typeface="+mn-lt"/>
                          <a:ea typeface="+mn-ea"/>
                          <a:cs typeface="+mn-cs"/>
                        </a:rPr>
                        <a:t>®)</a:t>
                      </a:r>
                    </a:p>
                  </a:txBody>
                  <a:tcPr/>
                </a:tc>
                <a:tc hMerge="1">
                  <a:txBody>
                    <a:bodyPr/>
                    <a:lstStyle/>
                    <a:p>
                      <a:endParaRPr lang="en-US" dirty="0"/>
                    </a:p>
                  </a:txBody>
                  <a:tcPr/>
                </a:tc>
                <a:extLst>
                  <a:ext uri="{0D108BD9-81ED-4DB2-BD59-A6C34878D82A}">
                    <a16:rowId xmlns:a16="http://schemas.microsoft.com/office/drawing/2014/main" xmlns="" val="2326597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342900"/>
            <a:ext cx="7759700" cy="1104900"/>
          </a:xfrm>
        </p:spPr>
        <p:txBody>
          <a:bodyPr>
            <a:normAutofit/>
          </a:bodyPr>
          <a:lstStyle/>
          <a:p>
            <a:r>
              <a:rPr lang="en-US" sz="3600" b="1" dirty="0"/>
              <a:t>“ATYPICALS”- RELATIVE POTENCY </a:t>
            </a:r>
          </a:p>
        </p:txBody>
      </p:sp>
      <p:sp>
        <p:nvSpPr>
          <p:cNvPr id="5" name="TextBox 4"/>
          <p:cNvSpPr txBox="1"/>
          <p:nvPr/>
        </p:nvSpPr>
        <p:spPr>
          <a:xfrm>
            <a:off x="685800" y="6324600"/>
            <a:ext cx="8077200" cy="246221"/>
          </a:xfrm>
          <a:prstGeom prst="rect">
            <a:avLst/>
          </a:prstGeom>
          <a:noFill/>
        </p:spPr>
        <p:txBody>
          <a:bodyPr wrap="square" rtlCol="0">
            <a:spAutoFit/>
          </a:bodyPr>
          <a:lstStyle/>
          <a:p>
            <a:r>
              <a:rPr lang="en-US" sz="1000" dirty="0"/>
              <a:t>Woods, Scott W. "Chlorpromazine equivalent doses for the newer atypical antipsychotics." </a:t>
            </a:r>
            <a:r>
              <a:rPr lang="en-US" sz="1000" i="1" dirty="0"/>
              <a:t>The Journal of clinical psychiatry</a:t>
            </a:r>
            <a:r>
              <a:rPr lang="en-US" sz="1000" dirty="0"/>
              <a:t> 2003;64: 663-667.</a:t>
            </a:r>
          </a:p>
        </p:txBody>
      </p:sp>
      <p:graphicFrame>
        <p:nvGraphicFramePr>
          <p:cNvPr id="6" name="Content Placeholder 3"/>
          <p:cNvGraphicFramePr>
            <a:graphicFrameLocks/>
          </p:cNvGraphicFramePr>
          <p:nvPr>
            <p:extLst>
              <p:ext uri="{D42A27DB-BD31-4B8C-83A1-F6EECF244321}">
                <p14:modId xmlns:p14="http://schemas.microsoft.com/office/powerpoint/2010/main" val="1714100959"/>
              </p:ext>
            </p:extLst>
          </p:nvPr>
        </p:nvGraphicFramePr>
        <p:xfrm>
          <a:off x="1905000" y="1584960"/>
          <a:ext cx="5638800" cy="4602480"/>
        </p:xfrm>
        <a:graphic>
          <a:graphicData uri="http://schemas.openxmlformats.org/drawingml/2006/table">
            <a:tbl>
              <a:tblPr firstRow="1" bandRow="1">
                <a:tableStyleId>{5C22544A-7EE6-4342-B048-85BDC9FD1C3A}</a:tableStyleId>
              </a:tblPr>
              <a:tblGrid>
                <a:gridCol w="2303172">
                  <a:extLst>
                    <a:ext uri="{9D8B030D-6E8A-4147-A177-3AD203B41FA5}">
                      <a16:colId xmlns:a16="http://schemas.microsoft.com/office/drawing/2014/main" xmlns="" val="20000"/>
                    </a:ext>
                  </a:extLst>
                </a:gridCol>
                <a:gridCol w="3335628">
                  <a:extLst>
                    <a:ext uri="{9D8B030D-6E8A-4147-A177-3AD203B41FA5}">
                      <a16:colId xmlns:a16="http://schemas.microsoft.com/office/drawing/2014/main" xmlns="" val="20001"/>
                    </a:ext>
                  </a:extLst>
                </a:gridCol>
              </a:tblGrid>
              <a:tr h="495725">
                <a:tc>
                  <a:txBody>
                    <a:bodyPr/>
                    <a:lstStyle/>
                    <a:p>
                      <a:r>
                        <a:rPr lang="en-US" sz="2200" b="1" kern="1200" dirty="0">
                          <a:solidFill>
                            <a:schemeClr val="tx1"/>
                          </a:solidFill>
                          <a:latin typeface="+mn-lt"/>
                          <a:ea typeface="+mn-ea"/>
                          <a:cs typeface="+mn-cs"/>
                        </a:rPr>
                        <a:t>Drug</a:t>
                      </a:r>
                    </a:p>
                  </a:txBody>
                  <a:tcPr/>
                </a:tc>
                <a:tc>
                  <a:txBody>
                    <a:bodyPr/>
                    <a:lstStyle/>
                    <a:p>
                      <a:pPr algn="ctr"/>
                      <a:r>
                        <a:rPr lang="en-US" sz="2200" b="1" dirty="0">
                          <a:solidFill>
                            <a:schemeClr val="tx1"/>
                          </a:solidFill>
                        </a:rPr>
                        <a:t>Dose</a:t>
                      </a:r>
                      <a:r>
                        <a:rPr lang="en-US" sz="2200" b="1" baseline="0" dirty="0">
                          <a:solidFill>
                            <a:schemeClr val="tx1"/>
                          </a:solidFill>
                        </a:rPr>
                        <a:t> equivalent to 100mg chlorpromazine </a:t>
                      </a:r>
                      <a:endParaRPr lang="en-US" sz="2200" b="1" dirty="0">
                        <a:solidFill>
                          <a:schemeClr val="tx1"/>
                        </a:solidFill>
                      </a:endParaRPr>
                    </a:p>
                  </a:txBody>
                  <a:tcPr/>
                </a:tc>
                <a:extLst>
                  <a:ext uri="{0D108BD9-81ED-4DB2-BD59-A6C34878D82A}">
                    <a16:rowId xmlns:a16="http://schemas.microsoft.com/office/drawing/2014/main" xmlns="" val="10000"/>
                  </a:ext>
                </a:extLst>
              </a:tr>
              <a:tr h="368253">
                <a:tc>
                  <a:txBody>
                    <a:bodyPr/>
                    <a:lstStyle/>
                    <a:p>
                      <a:pPr algn="ctr"/>
                      <a:r>
                        <a:rPr lang="en-US" sz="2200" b="0" dirty="0"/>
                        <a:t>Paliperidone</a:t>
                      </a:r>
                    </a:p>
                  </a:txBody>
                  <a:tcPr/>
                </a:tc>
                <a:tc>
                  <a:txBody>
                    <a:bodyPr/>
                    <a:lstStyle/>
                    <a:p>
                      <a:pPr algn="ctr"/>
                      <a:r>
                        <a:rPr lang="en-US" sz="2200" b="0" dirty="0"/>
                        <a:t>1.5 mg</a:t>
                      </a:r>
                    </a:p>
                  </a:txBody>
                  <a:tcPr/>
                </a:tc>
                <a:extLst>
                  <a:ext uri="{0D108BD9-81ED-4DB2-BD59-A6C34878D82A}">
                    <a16:rowId xmlns:a16="http://schemas.microsoft.com/office/drawing/2014/main" xmlns="" val="10001"/>
                  </a:ext>
                </a:extLst>
              </a:tr>
              <a:tr h="368253">
                <a:tc>
                  <a:txBody>
                    <a:bodyPr/>
                    <a:lstStyle/>
                    <a:p>
                      <a:pPr algn="ctr"/>
                      <a:r>
                        <a:rPr lang="en-US" sz="2200" b="0" dirty="0"/>
                        <a:t>Risperidone</a:t>
                      </a:r>
                    </a:p>
                  </a:txBody>
                  <a:tcPr/>
                </a:tc>
                <a:tc>
                  <a:txBody>
                    <a:bodyPr/>
                    <a:lstStyle/>
                    <a:p>
                      <a:pPr algn="ctr"/>
                      <a:r>
                        <a:rPr lang="en-US" sz="2200" b="0" dirty="0"/>
                        <a:t>2 mg</a:t>
                      </a:r>
                    </a:p>
                  </a:txBody>
                  <a:tcPr/>
                </a:tc>
                <a:extLst>
                  <a:ext uri="{0D108BD9-81ED-4DB2-BD59-A6C34878D82A}">
                    <a16:rowId xmlns:a16="http://schemas.microsoft.com/office/drawing/2014/main" xmlns="" val="10002"/>
                  </a:ext>
                </a:extLst>
              </a:tr>
              <a:tr h="368253">
                <a:tc>
                  <a:txBody>
                    <a:bodyPr/>
                    <a:lstStyle/>
                    <a:p>
                      <a:pPr algn="ctr"/>
                      <a:r>
                        <a:rPr lang="en-US" sz="2200" b="0" dirty="0"/>
                        <a:t>Olanzapine </a:t>
                      </a:r>
                    </a:p>
                  </a:txBody>
                  <a:tcPr/>
                </a:tc>
                <a:tc>
                  <a:txBody>
                    <a:bodyPr/>
                    <a:lstStyle/>
                    <a:p>
                      <a:pPr algn="ctr"/>
                      <a:r>
                        <a:rPr lang="en-US" sz="2200" b="0" dirty="0"/>
                        <a:t>5 mg</a:t>
                      </a:r>
                    </a:p>
                  </a:txBody>
                  <a:tcPr/>
                </a:tc>
                <a:extLst>
                  <a:ext uri="{0D108BD9-81ED-4DB2-BD59-A6C34878D82A}">
                    <a16:rowId xmlns:a16="http://schemas.microsoft.com/office/drawing/2014/main" xmlns="" val="10003"/>
                  </a:ext>
                </a:extLst>
              </a:tr>
              <a:tr h="368253">
                <a:tc>
                  <a:txBody>
                    <a:bodyPr/>
                    <a:lstStyle/>
                    <a:p>
                      <a:pPr algn="ctr"/>
                      <a:r>
                        <a:rPr lang="en-US" sz="2200" b="0" dirty="0" err="1"/>
                        <a:t>Asenapine</a:t>
                      </a:r>
                      <a:endParaRPr lang="en-US" sz="2200" b="0" dirty="0"/>
                    </a:p>
                  </a:txBody>
                  <a:tcPr/>
                </a:tc>
                <a:tc>
                  <a:txBody>
                    <a:bodyPr/>
                    <a:lstStyle/>
                    <a:p>
                      <a:pPr algn="ctr"/>
                      <a:r>
                        <a:rPr lang="en-US" sz="2200" b="0" dirty="0"/>
                        <a:t>5 mg</a:t>
                      </a:r>
                    </a:p>
                  </a:txBody>
                  <a:tcPr/>
                </a:tc>
                <a:extLst>
                  <a:ext uri="{0D108BD9-81ED-4DB2-BD59-A6C34878D82A}">
                    <a16:rowId xmlns:a16="http://schemas.microsoft.com/office/drawing/2014/main" xmlns="" val="10004"/>
                  </a:ext>
                </a:extLst>
              </a:tr>
              <a:tr h="368253">
                <a:tc>
                  <a:txBody>
                    <a:bodyPr/>
                    <a:lstStyle/>
                    <a:p>
                      <a:pPr algn="ctr"/>
                      <a:r>
                        <a:rPr lang="en-US" sz="2200" b="0" dirty="0" err="1"/>
                        <a:t>Illoperidone</a:t>
                      </a:r>
                      <a:endParaRPr lang="en-US" sz="2200" b="0" dirty="0"/>
                    </a:p>
                  </a:txBody>
                  <a:tcPr/>
                </a:tc>
                <a:tc>
                  <a:txBody>
                    <a:bodyPr/>
                    <a:lstStyle/>
                    <a:p>
                      <a:pPr algn="ctr"/>
                      <a:r>
                        <a:rPr lang="en-US" sz="2200" b="0" dirty="0"/>
                        <a:t>6 mg</a:t>
                      </a:r>
                    </a:p>
                  </a:txBody>
                  <a:tcPr/>
                </a:tc>
                <a:extLst>
                  <a:ext uri="{0D108BD9-81ED-4DB2-BD59-A6C34878D82A}">
                    <a16:rowId xmlns:a16="http://schemas.microsoft.com/office/drawing/2014/main" xmlns="" val="10005"/>
                  </a:ext>
                </a:extLst>
              </a:tr>
              <a:tr h="368253">
                <a:tc>
                  <a:txBody>
                    <a:bodyPr/>
                    <a:lstStyle/>
                    <a:p>
                      <a:pPr algn="ctr"/>
                      <a:r>
                        <a:rPr lang="en-US" sz="2200" b="0" dirty="0"/>
                        <a:t>Aripiprazole</a:t>
                      </a:r>
                      <a:r>
                        <a:rPr lang="en-US" sz="2200" b="0" baseline="0" dirty="0"/>
                        <a:t> </a:t>
                      </a:r>
                      <a:endParaRPr lang="en-US" sz="2200" b="0" dirty="0"/>
                    </a:p>
                  </a:txBody>
                  <a:tcPr/>
                </a:tc>
                <a:tc>
                  <a:txBody>
                    <a:bodyPr/>
                    <a:lstStyle/>
                    <a:p>
                      <a:pPr algn="ctr"/>
                      <a:r>
                        <a:rPr lang="en-US" sz="2200" b="0" dirty="0"/>
                        <a:t>7.5 mg</a:t>
                      </a:r>
                    </a:p>
                  </a:txBody>
                  <a:tcPr/>
                </a:tc>
                <a:extLst>
                  <a:ext uri="{0D108BD9-81ED-4DB2-BD59-A6C34878D82A}">
                    <a16:rowId xmlns:a16="http://schemas.microsoft.com/office/drawing/2014/main" xmlns="" val="10006"/>
                  </a:ext>
                </a:extLst>
              </a:tr>
              <a:tr h="368253">
                <a:tc>
                  <a:txBody>
                    <a:bodyPr/>
                    <a:lstStyle/>
                    <a:p>
                      <a:pPr algn="ctr"/>
                      <a:r>
                        <a:rPr lang="en-US" sz="2200" b="0" dirty="0" err="1"/>
                        <a:t>Lurasidone</a:t>
                      </a:r>
                      <a:endParaRPr lang="en-US" sz="2200" b="0" dirty="0"/>
                    </a:p>
                  </a:txBody>
                  <a:tcPr/>
                </a:tc>
                <a:tc>
                  <a:txBody>
                    <a:bodyPr/>
                    <a:lstStyle/>
                    <a:p>
                      <a:pPr algn="ctr"/>
                      <a:r>
                        <a:rPr lang="en-US" sz="2200" b="0" dirty="0"/>
                        <a:t>20 mg</a:t>
                      </a:r>
                    </a:p>
                  </a:txBody>
                  <a:tcPr/>
                </a:tc>
                <a:extLst>
                  <a:ext uri="{0D108BD9-81ED-4DB2-BD59-A6C34878D82A}">
                    <a16:rowId xmlns:a16="http://schemas.microsoft.com/office/drawing/2014/main" xmlns="" val="10007"/>
                  </a:ext>
                </a:extLst>
              </a:tr>
              <a:tr h="368253">
                <a:tc>
                  <a:txBody>
                    <a:bodyPr/>
                    <a:lstStyle/>
                    <a:p>
                      <a:pPr algn="ctr"/>
                      <a:r>
                        <a:rPr lang="en-US" sz="2200" b="0" dirty="0"/>
                        <a:t>Ziprasidone </a:t>
                      </a:r>
                    </a:p>
                  </a:txBody>
                  <a:tcPr/>
                </a:tc>
                <a:tc>
                  <a:txBody>
                    <a:bodyPr/>
                    <a:lstStyle/>
                    <a:p>
                      <a:pPr algn="ctr"/>
                      <a:r>
                        <a:rPr lang="en-US" sz="2200" b="0" dirty="0"/>
                        <a:t>60 mg</a:t>
                      </a:r>
                    </a:p>
                  </a:txBody>
                  <a:tcPr/>
                </a:tc>
                <a:extLst>
                  <a:ext uri="{0D108BD9-81ED-4DB2-BD59-A6C34878D82A}">
                    <a16:rowId xmlns:a16="http://schemas.microsoft.com/office/drawing/2014/main" xmlns="" val="10008"/>
                  </a:ext>
                </a:extLst>
              </a:tr>
              <a:tr h="368253">
                <a:tc>
                  <a:txBody>
                    <a:bodyPr/>
                    <a:lstStyle/>
                    <a:p>
                      <a:pPr algn="ctr"/>
                      <a:r>
                        <a:rPr lang="en-US" sz="2200" b="0" dirty="0"/>
                        <a:t>Quetiapine</a:t>
                      </a:r>
                      <a:r>
                        <a:rPr lang="en-US" sz="2200" b="0" baseline="0" dirty="0"/>
                        <a:t> </a:t>
                      </a:r>
                      <a:endParaRPr lang="en-US" sz="2200" b="0" dirty="0"/>
                    </a:p>
                  </a:txBody>
                  <a:tcPr/>
                </a:tc>
                <a:tc>
                  <a:txBody>
                    <a:bodyPr/>
                    <a:lstStyle/>
                    <a:p>
                      <a:pPr algn="ctr"/>
                      <a:r>
                        <a:rPr lang="en-US" sz="2200" b="0" dirty="0"/>
                        <a:t>75 mg</a:t>
                      </a:r>
                    </a:p>
                  </a:txBody>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3364633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8429FE-080A-4BAA-86F5-996BF849FFFC}"/>
              </a:ext>
            </a:extLst>
          </p:cNvPr>
          <p:cNvSpPr>
            <a:spLocks noGrp="1"/>
          </p:cNvSpPr>
          <p:nvPr>
            <p:ph type="title"/>
          </p:nvPr>
        </p:nvSpPr>
        <p:spPr>
          <a:xfrm>
            <a:off x="990600" y="381000"/>
            <a:ext cx="7200900" cy="914400"/>
          </a:xfrm>
        </p:spPr>
        <p:txBody>
          <a:bodyPr>
            <a:normAutofit/>
          </a:bodyPr>
          <a:lstStyle/>
          <a:p>
            <a:r>
              <a:rPr lang="en-US" dirty="0"/>
              <a:t>“The Pines”</a:t>
            </a:r>
          </a:p>
        </p:txBody>
      </p:sp>
      <p:graphicFrame>
        <p:nvGraphicFramePr>
          <p:cNvPr id="4" name="Table 3">
            <a:extLst>
              <a:ext uri="{FF2B5EF4-FFF2-40B4-BE49-F238E27FC236}">
                <a16:creationId xmlns:a16="http://schemas.microsoft.com/office/drawing/2014/main" xmlns="" id="{F9F028A0-FF9B-4D87-96A4-5D9A778398E6}"/>
              </a:ext>
            </a:extLst>
          </p:cNvPr>
          <p:cNvGraphicFramePr>
            <a:graphicFrameLocks noGrp="1"/>
          </p:cNvGraphicFramePr>
          <p:nvPr>
            <p:extLst>
              <p:ext uri="{D42A27DB-BD31-4B8C-83A1-F6EECF244321}">
                <p14:modId xmlns:p14="http://schemas.microsoft.com/office/powerpoint/2010/main" val="752256394"/>
              </p:ext>
            </p:extLst>
          </p:nvPr>
        </p:nvGraphicFramePr>
        <p:xfrm>
          <a:off x="609600" y="1295400"/>
          <a:ext cx="8305801" cy="3951942"/>
        </p:xfrm>
        <a:graphic>
          <a:graphicData uri="http://schemas.openxmlformats.org/drawingml/2006/table">
            <a:tbl>
              <a:tblPr>
                <a:tableStyleId>{16D9F66E-5EB9-4882-86FB-DCBF35E3C3E4}</a:tableStyleId>
              </a:tblPr>
              <a:tblGrid>
                <a:gridCol w="1371600">
                  <a:extLst>
                    <a:ext uri="{9D8B030D-6E8A-4147-A177-3AD203B41FA5}">
                      <a16:colId xmlns:a16="http://schemas.microsoft.com/office/drawing/2014/main" xmlns="" val="20000"/>
                    </a:ext>
                  </a:extLst>
                </a:gridCol>
                <a:gridCol w="4038600">
                  <a:extLst>
                    <a:ext uri="{9D8B030D-6E8A-4147-A177-3AD203B41FA5}">
                      <a16:colId xmlns:a16="http://schemas.microsoft.com/office/drawing/2014/main" xmlns="" val="20001"/>
                    </a:ext>
                  </a:extLst>
                </a:gridCol>
                <a:gridCol w="2895601">
                  <a:extLst>
                    <a:ext uri="{9D8B030D-6E8A-4147-A177-3AD203B41FA5}">
                      <a16:colId xmlns:a16="http://schemas.microsoft.com/office/drawing/2014/main" xmlns="" val="20002"/>
                    </a:ext>
                  </a:extLst>
                </a:gridCol>
              </a:tblGrid>
              <a:tr h="450192">
                <a:tc>
                  <a:txBody>
                    <a:bodyPr/>
                    <a:lstStyle/>
                    <a:p>
                      <a:pPr marL="0" marR="0" algn="l">
                        <a:lnSpc>
                          <a:spcPct val="115000"/>
                        </a:lnSpc>
                        <a:spcBef>
                          <a:spcPts val="0"/>
                        </a:spcBef>
                        <a:spcAft>
                          <a:spcPts val="0"/>
                        </a:spcAft>
                      </a:pPr>
                      <a:r>
                        <a:rPr lang="en-US" sz="2400" b="1" dirty="0">
                          <a:solidFill>
                            <a:schemeClr val="bg1"/>
                          </a:solidFill>
                        </a:rPr>
                        <a:t>Drug</a:t>
                      </a:r>
                      <a:endParaRPr lang="en-US" sz="2400" b="1" i="0" dirty="0">
                        <a:solidFill>
                          <a:schemeClr val="bg1"/>
                        </a:solidFill>
                        <a:latin typeface="Calibri"/>
                        <a:ea typeface="Calibri"/>
                        <a:cs typeface="Times New Roman"/>
                      </a:endParaRPr>
                    </a:p>
                  </a:txBody>
                  <a:tcPr marL="68580" marR="68580" marT="0" marB="0">
                    <a:solidFill>
                      <a:schemeClr val="accent6">
                        <a:lumMod val="50000"/>
                      </a:schemeClr>
                    </a:solidFill>
                  </a:tcPr>
                </a:tc>
                <a:tc>
                  <a:txBody>
                    <a:bodyPr/>
                    <a:lstStyle/>
                    <a:p>
                      <a:pPr marL="0" marR="0" algn="l">
                        <a:lnSpc>
                          <a:spcPct val="115000"/>
                        </a:lnSpc>
                        <a:spcBef>
                          <a:spcPts val="0"/>
                        </a:spcBef>
                        <a:spcAft>
                          <a:spcPts val="0"/>
                        </a:spcAft>
                      </a:pPr>
                      <a:r>
                        <a:rPr lang="en-US" sz="2400" dirty="0">
                          <a:solidFill>
                            <a:schemeClr val="bg1"/>
                          </a:solidFill>
                        </a:rPr>
                        <a:t>Dosing</a:t>
                      </a:r>
                      <a:endParaRPr lang="en-US" sz="2400" b="1" i="0" dirty="0">
                        <a:solidFill>
                          <a:schemeClr val="bg1"/>
                        </a:solidFill>
                        <a:latin typeface="Calibri"/>
                        <a:ea typeface="Calibri"/>
                        <a:cs typeface="Times New Roman"/>
                      </a:endParaRPr>
                    </a:p>
                  </a:txBody>
                  <a:tcPr marL="68580" marR="68580" marT="0" marB="0">
                    <a:solidFill>
                      <a:schemeClr val="accent6">
                        <a:lumMod val="50000"/>
                      </a:schemeClr>
                    </a:solidFill>
                  </a:tcPr>
                </a:tc>
                <a:tc>
                  <a:txBody>
                    <a:bodyPr/>
                    <a:lstStyle/>
                    <a:p>
                      <a:pPr marL="0" marR="0" algn="l">
                        <a:lnSpc>
                          <a:spcPct val="115000"/>
                        </a:lnSpc>
                        <a:spcBef>
                          <a:spcPts val="0"/>
                        </a:spcBef>
                        <a:spcAft>
                          <a:spcPts val="0"/>
                        </a:spcAft>
                      </a:pPr>
                      <a:r>
                        <a:rPr lang="en-US" sz="2400" dirty="0">
                          <a:solidFill>
                            <a:schemeClr val="bg1"/>
                          </a:solidFill>
                        </a:rPr>
                        <a:t>Formulations</a:t>
                      </a:r>
                      <a:endParaRPr lang="en-US" sz="2400" b="1" i="0" dirty="0">
                        <a:solidFill>
                          <a:schemeClr val="bg1"/>
                        </a:solidFill>
                        <a:latin typeface="Calibri"/>
                        <a:ea typeface="Calibri"/>
                        <a:cs typeface="Times New Roman"/>
                      </a:endParaRPr>
                    </a:p>
                  </a:txBody>
                  <a:tcPr marL="68580" marR="68580" marT="0" marB="0">
                    <a:solidFill>
                      <a:schemeClr val="accent6">
                        <a:lumMod val="50000"/>
                      </a:schemeClr>
                    </a:solidFill>
                  </a:tcPr>
                </a:tc>
                <a:extLst>
                  <a:ext uri="{0D108BD9-81ED-4DB2-BD59-A6C34878D82A}">
                    <a16:rowId xmlns:a16="http://schemas.microsoft.com/office/drawing/2014/main" xmlns="" val="10000"/>
                  </a:ext>
                </a:extLst>
              </a:tr>
              <a:tr h="845208">
                <a:tc>
                  <a:txBody>
                    <a:bodyPr/>
                    <a:lstStyle/>
                    <a:p>
                      <a:pPr marL="0" marR="0" algn="l">
                        <a:lnSpc>
                          <a:spcPct val="115000"/>
                        </a:lnSpc>
                        <a:spcBef>
                          <a:spcPts val="0"/>
                        </a:spcBef>
                        <a:spcAft>
                          <a:spcPts val="0"/>
                        </a:spcAft>
                      </a:pPr>
                      <a:r>
                        <a:rPr lang="en-US" sz="2000" b="1" dirty="0" err="1"/>
                        <a:t>Asenapine</a:t>
                      </a:r>
                      <a:endParaRPr lang="en-US" sz="2000" b="1" dirty="0">
                        <a:latin typeface="Calibri" pitchFamily="34" charset="0"/>
                        <a:ea typeface="Calibri"/>
                        <a:cs typeface="Times New Roman"/>
                      </a:endParaRPr>
                    </a:p>
                  </a:txBody>
                  <a:tcPr marL="68580" marR="68580" marT="0" marB="0" anchor="ctr"/>
                </a:tc>
                <a:tc>
                  <a:txBody>
                    <a:bodyPr/>
                    <a:lstStyle/>
                    <a:p>
                      <a:pPr marL="0" marR="0" algn="l">
                        <a:lnSpc>
                          <a:spcPct val="115000"/>
                        </a:lnSpc>
                        <a:spcBef>
                          <a:spcPts val="0"/>
                        </a:spcBef>
                        <a:spcAft>
                          <a:spcPts val="0"/>
                        </a:spcAft>
                      </a:pPr>
                      <a:r>
                        <a:rPr lang="en-US" sz="2000" dirty="0"/>
                        <a:t>5-10 mg</a:t>
                      </a:r>
                      <a:r>
                        <a:rPr lang="en-US" sz="2000" baseline="0" dirty="0"/>
                        <a:t> PO BID</a:t>
                      </a:r>
                    </a:p>
                    <a:p>
                      <a:pPr marL="0" marR="0" algn="l">
                        <a:lnSpc>
                          <a:spcPct val="115000"/>
                        </a:lnSpc>
                        <a:spcBef>
                          <a:spcPts val="0"/>
                        </a:spcBef>
                        <a:spcAft>
                          <a:spcPts val="0"/>
                        </a:spcAft>
                      </a:pPr>
                      <a:r>
                        <a:rPr lang="en-US" sz="2000" baseline="0" dirty="0"/>
                        <a:t>(no eating/drinking for 10 minutes)</a:t>
                      </a:r>
                      <a:endParaRPr lang="en-US" sz="2000" dirty="0">
                        <a:latin typeface="Calibri" pitchFamily="34" charset="0"/>
                        <a:ea typeface="Calibri"/>
                        <a:cs typeface="Times New Roman"/>
                      </a:endParaRPr>
                    </a:p>
                  </a:txBody>
                  <a:tcPr marL="68580" marR="68580" marT="0" marB="0" anchor="ctr"/>
                </a:tc>
                <a:tc>
                  <a:txBody>
                    <a:bodyPr/>
                    <a:lstStyle/>
                    <a:p>
                      <a:pPr algn="l"/>
                      <a:r>
                        <a:rPr lang="en-US" sz="2000" dirty="0"/>
                        <a:t>SL tablet</a:t>
                      </a:r>
                      <a:endParaRPr lang="en-US" sz="2000" dirty="0">
                        <a:latin typeface="Calibri" pitchFamily="34" charset="0"/>
                      </a:endParaRPr>
                    </a:p>
                  </a:txBody>
                  <a:tcPr marL="68580" marR="68580" marT="0" marB="0" anchor="ctr"/>
                </a:tc>
                <a:extLst>
                  <a:ext uri="{0D108BD9-81ED-4DB2-BD59-A6C34878D82A}">
                    <a16:rowId xmlns:a16="http://schemas.microsoft.com/office/drawing/2014/main" xmlns="" val="10001"/>
                  </a:ext>
                </a:extLst>
              </a:tr>
              <a:tr h="825351">
                <a:tc>
                  <a:txBody>
                    <a:bodyPr/>
                    <a:lstStyle/>
                    <a:p>
                      <a:pPr marL="0" marR="0" algn="l">
                        <a:lnSpc>
                          <a:spcPct val="115000"/>
                        </a:lnSpc>
                        <a:spcBef>
                          <a:spcPts val="0"/>
                        </a:spcBef>
                        <a:spcAft>
                          <a:spcPts val="0"/>
                        </a:spcAft>
                      </a:pPr>
                      <a:r>
                        <a:rPr lang="en-US" sz="2000" b="1" dirty="0"/>
                        <a:t>Clozapine</a:t>
                      </a:r>
                      <a:endParaRPr lang="en-US" sz="2000" b="1" dirty="0">
                        <a:latin typeface="Calibri" pitchFamily="34" charset="0"/>
                        <a:ea typeface="Calibri"/>
                        <a:cs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kern="1200" dirty="0"/>
                        <a:t>12.5 mg PO BID *- 900 mg daily</a:t>
                      </a:r>
                      <a:endParaRPr lang="en-US" sz="2000" kern="1200" dirty="0">
                        <a:solidFill>
                          <a:schemeClr val="tx1"/>
                        </a:solidFill>
                        <a:latin typeface="Calibri" pitchFamily="34" charset="0"/>
                        <a:ea typeface="Calibri"/>
                        <a:cs typeface="Times New Roman"/>
                      </a:endParaRPr>
                    </a:p>
                  </a:txBody>
                  <a:tcPr marL="68580" marR="68580" marT="0" marB="0" anchor="ctr"/>
                </a:tc>
                <a:tc>
                  <a:txBody>
                    <a:bodyPr/>
                    <a:lstStyle/>
                    <a:p>
                      <a:pPr algn="l"/>
                      <a:r>
                        <a:rPr lang="en-US" sz="2000" dirty="0"/>
                        <a:t>Tablet, ODT, solution</a:t>
                      </a:r>
                      <a:endParaRPr lang="en-US" sz="2000" dirty="0">
                        <a:latin typeface="Calibri" pitchFamily="34" charset="0"/>
                      </a:endParaRPr>
                    </a:p>
                  </a:txBody>
                  <a:tcPr marL="68580" marR="68580" marT="0" marB="0" anchor="ctr"/>
                </a:tc>
                <a:extLst>
                  <a:ext uri="{0D108BD9-81ED-4DB2-BD59-A6C34878D82A}">
                    <a16:rowId xmlns:a16="http://schemas.microsoft.com/office/drawing/2014/main" xmlns="" val="10005"/>
                  </a:ext>
                </a:extLst>
              </a:tr>
              <a:tr h="825351">
                <a:tc>
                  <a:txBody>
                    <a:bodyPr/>
                    <a:lstStyle/>
                    <a:p>
                      <a:pPr marL="0" marR="0" algn="l">
                        <a:lnSpc>
                          <a:spcPct val="115000"/>
                        </a:lnSpc>
                        <a:spcBef>
                          <a:spcPts val="0"/>
                        </a:spcBef>
                        <a:spcAft>
                          <a:spcPts val="0"/>
                        </a:spcAft>
                      </a:pPr>
                      <a:r>
                        <a:rPr lang="en-US" sz="2000" b="1" dirty="0"/>
                        <a:t>Olanzapine</a:t>
                      </a:r>
                      <a:endParaRPr lang="en-US" sz="2000" b="1" dirty="0">
                        <a:latin typeface="Calibri" pitchFamily="34" charset="0"/>
                        <a:ea typeface="Calibri"/>
                        <a:cs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kern="1200" dirty="0"/>
                        <a:t>10-20 mg/day PO</a:t>
                      </a:r>
                      <a:endParaRPr lang="en-US" sz="2000" kern="1200" dirty="0">
                        <a:solidFill>
                          <a:schemeClr val="tx1"/>
                        </a:solidFill>
                        <a:latin typeface="Calibri" pitchFamily="34" charset="0"/>
                        <a:ea typeface="Calibri"/>
                        <a:cs typeface="Times New Roman"/>
                      </a:endParaRPr>
                    </a:p>
                  </a:txBody>
                  <a:tcPr marL="68580" marR="68580" marT="0" marB="0" anchor="ctr"/>
                </a:tc>
                <a:tc>
                  <a:txBody>
                    <a:bodyPr/>
                    <a:lstStyle/>
                    <a:p>
                      <a:pPr algn="l"/>
                      <a:r>
                        <a:rPr lang="en-US" sz="2000" dirty="0"/>
                        <a:t>Tablet, ODT, short-acting injection, LAI</a:t>
                      </a:r>
                      <a:endParaRPr lang="en-US" sz="2000" dirty="0">
                        <a:latin typeface="Calibri" pitchFamily="34" charset="0"/>
                      </a:endParaRPr>
                    </a:p>
                  </a:txBody>
                  <a:tcPr marL="68580" marR="68580" marT="0" marB="0" anchor="ctr"/>
                </a:tc>
                <a:extLst>
                  <a:ext uri="{0D108BD9-81ED-4DB2-BD59-A6C34878D82A}">
                    <a16:rowId xmlns:a16="http://schemas.microsoft.com/office/drawing/2014/main" xmlns="" val="284330286"/>
                  </a:ext>
                </a:extLst>
              </a:tr>
              <a:tr h="825351">
                <a:tc>
                  <a:txBody>
                    <a:bodyPr/>
                    <a:lstStyle/>
                    <a:p>
                      <a:pPr marL="0" marR="0" algn="l">
                        <a:lnSpc>
                          <a:spcPct val="115000"/>
                        </a:lnSpc>
                        <a:spcBef>
                          <a:spcPts val="0"/>
                        </a:spcBef>
                        <a:spcAft>
                          <a:spcPts val="0"/>
                        </a:spcAft>
                      </a:pPr>
                      <a:r>
                        <a:rPr lang="en-US" sz="2000" b="1" dirty="0"/>
                        <a:t>Quetiapine</a:t>
                      </a:r>
                      <a:endParaRPr lang="en-US" sz="2000" b="1" dirty="0">
                        <a:latin typeface="Calibri" pitchFamily="34" charset="0"/>
                        <a:ea typeface="Calibri"/>
                        <a:cs typeface="Times New Roman"/>
                      </a:endParaRPr>
                    </a:p>
                  </a:txBody>
                  <a:tcPr marL="68580" marR="68580" marT="0" marB="0" anchor="ctr"/>
                </a:tc>
                <a:tc>
                  <a:txBody>
                    <a:bodyPr/>
                    <a:lstStyle/>
                    <a:p>
                      <a:pPr marL="0" marR="0" algn="l">
                        <a:lnSpc>
                          <a:spcPct val="115000"/>
                        </a:lnSpc>
                        <a:spcBef>
                          <a:spcPts val="0"/>
                        </a:spcBef>
                        <a:spcAft>
                          <a:spcPts val="0"/>
                        </a:spcAft>
                      </a:pPr>
                      <a:r>
                        <a:rPr lang="en-US" sz="2000" dirty="0"/>
                        <a:t>IR: 150-750mg in 2 divided doses</a:t>
                      </a:r>
                    </a:p>
                    <a:p>
                      <a:pPr marL="0" marR="0" algn="l">
                        <a:lnSpc>
                          <a:spcPct val="115000"/>
                        </a:lnSpc>
                        <a:spcBef>
                          <a:spcPts val="0"/>
                        </a:spcBef>
                        <a:spcAft>
                          <a:spcPts val="0"/>
                        </a:spcAft>
                      </a:pPr>
                      <a:r>
                        <a:rPr lang="en-US" sz="2000" dirty="0"/>
                        <a:t>ER: 300-800 mg</a:t>
                      </a:r>
                      <a:r>
                        <a:rPr lang="en-US" sz="2000" baseline="0" dirty="0"/>
                        <a:t>/day PO</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tx1"/>
                        </a:solidFill>
                        <a:latin typeface="Calibri" pitchFamily="34" charset="0"/>
                        <a:ea typeface="Calibri"/>
                        <a:cs typeface="Times New Roman"/>
                      </a:endParaRPr>
                    </a:p>
                  </a:txBody>
                  <a:tcPr marL="68580" marR="68580" marT="0" marB="0"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t>Tablet, ER tablet</a:t>
                      </a:r>
                    </a:p>
                    <a:p>
                      <a:pPr algn="l"/>
                      <a:endParaRPr lang="en-US" sz="2000" dirty="0">
                        <a:latin typeface="Calibri" pitchFamily="34" charset="0"/>
                      </a:endParaRPr>
                    </a:p>
                  </a:txBody>
                  <a:tcPr marL="68580" marR="68580" marT="0" marB="0" anchor="ctr"/>
                </a:tc>
                <a:extLst>
                  <a:ext uri="{0D108BD9-81ED-4DB2-BD59-A6C34878D82A}">
                    <a16:rowId xmlns:a16="http://schemas.microsoft.com/office/drawing/2014/main" xmlns="" val="897264491"/>
                  </a:ext>
                </a:extLst>
              </a:tr>
            </a:tbl>
          </a:graphicData>
        </a:graphic>
      </p:graphicFrame>
      <p:sp>
        <p:nvSpPr>
          <p:cNvPr id="3" name="Rectangle 2">
            <a:extLst>
              <a:ext uri="{FF2B5EF4-FFF2-40B4-BE49-F238E27FC236}">
                <a16:creationId xmlns:a16="http://schemas.microsoft.com/office/drawing/2014/main" xmlns="" id="{3B466861-E8EA-4DAE-AF41-F490E6BCD061}"/>
              </a:ext>
            </a:extLst>
          </p:cNvPr>
          <p:cNvSpPr/>
          <p:nvPr/>
        </p:nvSpPr>
        <p:spPr>
          <a:xfrm>
            <a:off x="2667000" y="6488668"/>
            <a:ext cx="6477000" cy="369332"/>
          </a:xfrm>
          <a:prstGeom prst="rect">
            <a:avLst/>
          </a:prstGeom>
        </p:spPr>
        <p:txBody>
          <a:bodyPr wrap="square">
            <a:spAutoFit/>
          </a:bodyPr>
          <a:lstStyle/>
          <a:p>
            <a:pPr algn="ctr"/>
            <a:r>
              <a:rPr lang="en-US" dirty="0"/>
              <a:t>*Must re-titrate clozapine if therapy is interrupted ≥ 2 days</a:t>
            </a:r>
          </a:p>
        </p:txBody>
      </p:sp>
    </p:spTree>
    <p:extLst>
      <p:ext uri="{BB962C8B-B14F-4D97-AF65-F5344CB8AC3E}">
        <p14:creationId xmlns:p14="http://schemas.microsoft.com/office/powerpoint/2010/main" val="3468299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283896-B100-4404-A8F0-4CFABB1E89B2}"/>
              </a:ext>
            </a:extLst>
          </p:cNvPr>
          <p:cNvSpPr>
            <a:spLocks noGrp="1"/>
          </p:cNvSpPr>
          <p:nvPr>
            <p:ph type="title"/>
          </p:nvPr>
        </p:nvSpPr>
        <p:spPr/>
        <p:txBody>
          <a:bodyPr/>
          <a:lstStyle/>
          <a:p>
            <a:r>
              <a:rPr lang="en-US" dirty="0"/>
              <a:t>“The </a:t>
            </a:r>
            <a:r>
              <a:rPr lang="en-US" dirty="0" err="1"/>
              <a:t>Dones</a:t>
            </a:r>
            <a:r>
              <a:rPr lang="en-US" dirty="0"/>
              <a:t>”</a:t>
            </a:r>
          </a:p>
        </p:txBody>
      </p:sp>
      <p:graphicFrame>
        <p:nvGraphicFramePr>
          <p:cNvPr id="3" name="Table 2">
            <a:extLst>
              <a:ext uri="{FF2B5EF4-FFF2-40B4-BE49-F238E27FC236}">
                <a16:creationId xmlns:a16="http://schemas.microsoft.com/office/drawing/2014/main" xmlns="" id="{8E3AED1F-182E-4D79-A382-EE4E322DD97F}"/>
              </a:ext>
            </a:extLst>
          </p:cNvPr>
          <p:cNvGraphicFramePr>
            <a:graphicFrameLocks noGrp="1"/>
          </p:cNvGraphicFramePr>
          <p:nvPr>
            <p:extLst>
              <p:ext uri="{D42A27DB-BD31-4B8C-83A1-F6EECF244321}">
                <p14:modId xmlns:p14="http://schemas.microsoft.com/office/powerpoint/2010/main" val="2552586707"/>
              </p:ext>
            </p:extLst>
          </p:nvPr>
        </p:nvGraphicFramePr>
        <p:xfrm>
          <a:off x="685800" y="1428750"/>
          <a:ext cx="8305801" cy="4893117"/>
        </p:xfrm>
        <a:graphic>
          <a:graphicData uri="http://schemas.openxmlformats.org/drawingml/2006/table">
            <a:tbl>
              <a:tblPr>
                <a:tableStyleId>{22838BEF-8BB2-4498-84A7-C5851F593DF1}</a:tableStyleId>
              </a:tblPr>
              <a:tblGrid>
                <a:gridCol w="1600200">
                  <a:extLst>
                    <a:ext uri="{9D8B030D-6E8A-4147-A177-3AD203B41FA5}">
                      <a16:colId xmlns:a16="http://schemas.microsoft.com/office/drawing/2014/main" xmlns="" val="20000"/>
                    </a:ext>
                  </a:extLst>
                </a:gridCol>
                <a:gridCol w="4038600">
                  <a:extLst>
                    <a:ext uri="{9D8B030D-6E8A-4147-A177-3AD203B41FA5}">
                      <a16:colId xmlns:a16="http://schemas.microsoft.com/office/drawing/2014/main" xmlns="" val="20001"/>
                    </a:ext>
                  </a:extLst>
                </a:gridCol>
                <a:gridCol w="2667001">
                  <a:extLst>
                    <a:ext uri="{9D8B030D-6E8A-4147-A177-3AD203B41FA5}">
                      <a16:colId xmlns:a16="http://schemas.microsoft.com/office/drawing/2014/main" xmlns="" val="20002"/>
                    </a:ext>
                  </a:extLst>
                </a:gridCol>
              </a:tblGrid>
              <a:tr h="450192">
                <a:tc>
                  <a:txBody>
                    <a:bodyPr/>
                    <a:lstStyle/>
                    <a:p>
                      <a:pPr marL="0" marR="0" algn="l">
                        <a:lnSpc>
                          <a:spcPct val="115000"/>
                        </a:lnSpc>
                        <a:spcBef>
                          <a:spcPts val="0"/>
                        </a:spcBef>
                        <a:spcAft>
                          <a:spcPts val="0"/>
                        </a:spcAft>
                      </a:pPr>
                      <a:r>
                        <a:rPr lang="en-US" sz="2400" dirty="0">
                          <a:solidFill>
                            <a:schemeClr val="bg1"/>
                          </a:solidFill>
                        </a:rPr>
                        <a:t>Drug</a:t>
                      </a:r>
                      <a:endParaRPr lang="en-US" sz="2400" b="1" i="0" dirty="0">
                        <a:solidFill>
                          <a:schemeClr val="bg1"/>
                        </a:solidFill>
                        <a:latin typeface="Calibri"/>
                        <a:ea typeface="Calibri"/>
                        <a:cs typeface="Times New Roman"/>
                      </a:endParaRPr>
                    </a:p>
                  </a:txBody>
                  <a:tcPr marL="68580" marR="68580" marT="0" marB="0">
                    <a:solidFill>
                      <a:schemeClr val="accent5">
                        <a:lumMod val="50000"/>
                      </a:schemeClr>
                    </a:solidFill>
                  </a:tcPr>
                </a:tc>
                <a:tc>
                  <a:txBody>
                    <a:bodyPr/>
                    <a:lstStyle/>
                    <a:p>
                      <a:pPr marL="0" marR="0" algn="l">
                        <a:lnSpc>
                          <a:spcPct val="115000"/>
                        </a:lnSpc>
                        <a:spcBef>
                          <a:spcPts val="0"/>
                        </a:spcBef>
                        <a:spcAft>
                          <a:spcPts val="0"/>
                        </a:spcAft>
                      </a:pPr>
                      <a:r>
                        <a:rPr lang="en-US" sz="2400" dirty="0">
                          <a:solidFill>
                            <a:schemeClr val="bg1"/>
                          </a:solidFill>
                        </a:rPr>
                        <a:t>Dosing</a:t>
                      </a:r>
                      <a:endParaRPr lang="en-US" sz="2400" b="1" i="0" dirty="0">
                        <a:solidFill>
                          <a:schemeClr val="bg1"/>
                        </a:solidFill>
                        <a:latin typeface="Calibri"/>
                        <a:ea typeface="Calibri"/>
                        <a:cs typeface="Times New Roman"/>
                      </a:endParaRPr>
                    </a:p>
                  </a:txBody>
                  <a:tcPr marL="68580" marR="68580" marT="0" marB="0">
                    <a:solidFill>
                      <a:schemeClr val="accent5">
                        <a:lumMod val="50000"/>
                      </a:schemeClr>
                    </a:solidFill>
                  </a:tcPr>
                </a:tc>
                <a:tc>
                  <a:txBody>
                    <a:bodyPr/>
                    <a:lstStyle/>
                    <a:p>
                      <a:pPr marL="0" marR="0" algn="l">
                        <a:lnSpc>
                          <a:spcPct val="115000"/>
                        </a:lnSpc>
                        <a:spcBef>
                          <a:spcPts val="0"/>
                        </a:spcBef>
                        <a:spcAft>
                          <a:spcPts val="0"/>
                        </a:spcAft>
                      </a:pPr>
                      <a:r>
                        <a:rPr lang="en-US" sz="2400" dirty="0">
                          <a:solidFill>
                            <a:schemeClr val="bg1"/>
                          </a:solidFill>
                        </a:rPr>
                        <a:t>Formulations</a:t>
                      </a:r>
                      <a:endParaRPr lang="en-US" sz="2400" b="1" i="0" dirty="0">
                        <a:solidFill>
                          <a:schemeClr val="bg1"/>
                        </a:solidFill>
                        <a:latin typeface="Calibri"/>
                        <a:ea typeface="Calibri"/>
                        <a:cs typeface="Times New Roman"/>
                      </a:endParaRPr>
                    </a:p>
                  </a:txBody>
                  <a:tcPr marL="68580" marR="68580" marT="0" marB="0">
                    <a:solidFill>
                      <a:schemeClr val="accent5">
                        <a:lumMod val="50000"/>
                      </a:schemeClr>
                    </a:solidFill>
                  </a:tcPr>
                </a:tc>
                <a:extLst>
                  <a:ext uri="{0D108BD9-81ED-4DB2-BD59-A6C34878D82A}">
                    <a16:rowId xmlns:a16="http://schemas.microsoft.com/office/drawing/2014/main" xmlns="" val="10000"/>
                  </a:ext>
                </a:extLst>
              </a:tr>
              <a:tr h="845208">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b="1" dirty="0" err="1">
                          <a:latin typeface="Calibri" pitchFamily="34" charset="0"/>
                          <a:ea typeface="Calibri"/>
                          <a:cs typeface="Times New Roman"/>
                        </a:rPr>
                        <a:t>Risperidone</a:t>
                      </a:r>
                      <a:endParaRPr lang="en-US" sz="2000" b="1" dirty="0">
                        <a:latin typeface="Calibri" pitchFamily="34" charset="0"/>
                        <a:ea typeface="Calibri"/>
                        <a:cs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latin typeface="Calibri" pitchFamily="34" charset="0"/>
                          <a:ea typeface="Calibri"/>
                          <a:cs typeface="Times New Roman"/>
                        </a:rPr>
                        <a:t>2-8</a:t>
                      </a:r>
                      <a:r>
                        <a:rPr lang="en-US" sz="2000" baseline="0" dirty="0">
                          <a:latin typeface="Calibri" pitchFamily="34" charset="0"/>
                          <a:ea typeface="Calibri"/>
                          <a:cs typeface="Times New Roman"/>
                        </a:rPr>
                        <a:t> mg/day or bid PO</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baseline="0" dirty="0">
                          <a:latin typeface="Calibri" pitchFamily="34" charset="0"/>
                          <a:ea typeface="Calibri"/>
                          <a:cs typeface="Times New Roman"/>
                        </a:rPr>
                        <a:t>Dose ↓ in renal dysfunction</a:t>
                      </a:r>
                      <a:endParaRPr lang="en-US" sz="2000" dirty="0">
                        <a:latin typeface="Calibri" pitchFamily="34" charset="0"/>
                        <a:ea typeface="Calibri"/>
                        <a:cs typeface="Times New Roman"/>
                      </a:endParaRPr>
                    </a:p>
                  </a:txBody>
                  <a:tcPr marL="68580" marR="68580" marT="0" marB="0" anchor="ctr"/>
                </a:tc>
                <a:tc>
                  <a:txBody>
                    <a:bodyPr/>
                    <a:lstStyle/>
                    <a:p>
                      <a:pPr algn="l"/>
                      <a:r>
                        <a:rPr lang="en-US" sz="2000" dirty="0">
                          <a:latin typeface="Calibri" pitchFamily="34" charset="0"/>
                        </a:rPr>
                        <a:t>Tablet, ODT, solution, LAI</a:t>
                      </a:r>
                    </a:p>
                  </a:txBody>
                  <a:tcPr marL="68580" marR="68580" marT="0" marB="0" anchor="ctr"/>
                </a:tc>
                <a:extLst>
                  <a:ext uri="{0D108BD9-81ED-4DB2-BD59-A6C34878D82A}">
                    <a16:rowId xmlns:a16="http://schemas.microsoft.com/office/drawing/2014/main" xmlns="" val="10001"/>
                  </a:ext>
                </a:extLst>
              </a:tr>
              <a:tr h="825351">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b="1" dirty="0" err="1">
                          <a:latin typeface="Calibri" pitchFamily="34" charset="0"/>
                          <a:ea typeface="Calibri"/>
                          <a:cs typeface="Times New Roman"/>
                        </a:rPr>
                        <a:t>Paliperidone</a:t>
                      </a:r>
                      <a:endParaRPr lang="en-US" sz="2000" b="1" dirty="0">
                        <a:latin typeface="Calibri" pitchFamily="34" charset="0"/>
                        <a:ea typeface="Calibri"/>
                        <a:cs typeface="Times New Roman"/>
                      </a:endParaRPr>
                    </a:p>
                  </a:txBody>
                  <a:tcPr marL="68580" marR="68580" marT="0" marB="0" anchor="ctr"/>
                </a:tc>
                <a:tc>
                  <a:txBody>
                    <a:bodyPr/>
                    <a:lstStyle/>
                    <a:p>
                      <a:pPr marL="0" marR="0" algn="l">
                        <a:lnSpc>
                          <a:spcPct val="115000"/>
                        </a:lnSpc>
                        <a:spcBef>
                          <a:spcPts val="0"/>
                        </a:spcBef>
                        <a:spcAft>
                          <a:spcPts val="0"/>
                        </a:spcAft>
                      </a:pPr>
                      <a:r>
                        <a:rPr lang="en-US" sz="2000" dirty="0">
                          <a:latin typeface="Calibri" pitchFamily="34" charset="0"/>
                          <a:ea typeface="Calibri"/>
                          <a:cs typeface="Times New Roman"/>
                        </a:rPr>
                        <a:t>3-12 mg/</a:t>
                      </a:r>
                      <a:r>
                        <a:rPr lang="en-US" sz="2000" baseline="0" dirty="0">
                          <a:latin typeface="Calibri" pitchFamily="34" charset="0"/>
                          <a:ea typeface="Calibri"/>
                          <a:cs typeface="Times New Roman"/>
                        </a:rPr>
                        <a:t>day PO</a:t>
                      </a:r>
                    </a:p>
                    <a:p>
                      <a:pPr marL="0" marR="0" algn="l">
                        <a:lnSpc>
                          <a:spcPct val="115000"/>
                        </a:lnSpc>
                        <a:spcBef>
                          <a:spcPts val="0"/>
                        </a:spcBef>
                        <a:spcAft>
                          <a:spcPts val="0"/>
                        </a:spcAft>
                      </a:pPr>
                      <a:r>
                        <a:rPr lang="en-US" sz="2000" baseline="0" dirty="0">
                          <a:latin typeface="Calibri" pitchFamily="34" charset="0"/>
                          <a:ea typeface="Calibri"/>
                          <a:cs typeface="Times New Roman"/>
                        </a:rPr>
                        <a:t>Dose ↓ in renal dysfunction</a:t>
                      </a:r>
                      <a:endParaRPr lang="en-US" sz="2000" dirty="0">
                        <a:latin typeface="Calibri" pitchFamily="34" charset="0"/>
                        <a:ea typeface="Calibri"/>
                        <a:cs typeface="Times New Roman"/>
                      </a:endParaRPr>
                    </a:p>
                  </a:txBody>
                  <a:tcPr marL="68580" marR="68580" marT="0" marB="0" anchor="ctr"/>
                </a:tc>
                <a:tc>
                  <a:txBody>
                    <a:bodyPr/>
                    <a:lstStyle/>
                    <a:p>
                      <a:pPr algn="l"/>
                      <a:r>
                        <a:rPr lang="en-US" sz="2000" dirty="0">
                          <a:latin typeface="Calibri" pitchFamily="34" charset="0"/>
                        </a:rPr>
                        <a:t>ER tablet, LAI</a:t>
                      </a:r>
                    </a:p>
                  </a:txBody>
                  <a:tcPr marL="68580" marR="68580" marT="0" marB="0" anchor="ctr"/>
                </a:tc>
                <a:extLst>
                  <a:ext uri="{0D108BD9-81ED-4DB2-BD59-A6C34878D82A}">
                    <a16:rowId xmlns:a16="http://schemas.microsoft.com/office/drawing/2014/main" xmlns="" val="10005"/>
                  </a:ext>
                </a:extLst>
              </a:tr>
              <a:tr h="825351">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b="1" dirty="0" err="1">
                          <a:latin typeface="Calibri" pitchFamily="34" charset="0"/>
                          <a:ea typeface="Calibri"/>
                          <a:cs typeface="Times New Roman"/>
                        </a:rPr>
                        <a:t>Lurasidone</a:t>
                      </a:r>
                      <a:endParaRPr lang="en-US" sz="2000" b="1" dirty="0">
                        <a:latin typeface="Calibri" pitchFamily="34" charset="0"/>
                        <a:ea typeface="Calibri"/>
                        <a:cs typeface="Times New Roman"/>
                      </a:endParaRPr>
                    </a:p>
                  </a:txBody>
                  <a:tcPr marL="68580" marR="68580" marT="0" marB="0" anchor="ctr"/>
                </a:tc>
                <a:tc>
                  <a:txBody>
                    <a:bodyPr/>
                    <a:lstStyle/>
                    <a:p>
                      <a:pPr marL="0" marR="0" algn="l">
                        <a:lnSpc>
                          <a:spcPct val="115000"/>
                        </a:lnSpc>
                        <a:spcBef>
                          <a:spcPts val="0"/>
                        </a:spcBef>
                        <a:spcAft>
                          <a:spcPts val="0"/>
                        </a:spcAft>
                      </a:pPr>
                      <a:r>
                        <a:rPr lang="en-US" sz="2000" dirty="0">
                          <a:latin typeface="Calibri" pitchFamily="34" charset="0"/>
                          <a:ea typeface="Calibri"/>
                          <a:cs typeface="Times New Roman"/>
                        </a:rPr>
                        <a:t>40-160 mg/day PO</a:t>
                      </a:r>
                    </a:p>
                    <a:p>
                      <a:pPr marL="0" marR="0" indent="0" algn="l" defTabSz="914400" rtl="0" eaLnBrk="1" fontAlgn="auto" latinLnBrk="0" hangingPunct="1">
                        <a:lnSpc>
                          <a:spcPct val="115000"/>
                        </a:lnSpc>
                        <a:spcBef>
                          <a:spcPts val="0"/>
                        </a:spcBef>
                        <a:spcAft>
                          <a:spcPts val="0"/>
                        </a:spcAft>
                        <a:buClrTx/>
                        <a:buSzTx/>
                        <a:buFontTx/>
                        <a:buNone/>
                        <a:tabLst/>
                        <a:defRPr/>
                      </a:pPr>
                      <a:r>
                        <a:rPr lang="en-US" sz="2000" dirty="0">
                          <a:latin typeface="Calibri" pitchFamily="34" charset="0"/>
                        </a:rPr>
                        <a:t>Take with </a:t>
                      </a:r>
                      <a:r>
                        <a:rPr lang="en-US" sz="2400" dirty="0">
                          <a:latin typeface="Calibri" pitchFamily="34" charset="0"/>
                        </a:rPr>
                        <a:t>&gt;</a:t>
                      </a:r>
                      <a:r>
                        <a:rPr lang="en-US" sz="2000" dirty="0">
                          <a:latin typeface="Calibri" pitchFamily="34" charset="0"/>
                        </a:rPr>
                        <a:t>350 calories</a:t>
                      </a:r>
                    </a:p>
                    <a:p>
                      <a:pPr marL="0" marR="0" algn="l">
                        <a:lnSpc>
                          <a:spcPct val="115000"/>
                        </a:lnSpc>
                        <a:spcBef>
                          <a:spcPts val="0"/>
                        </a:spcBef>
                        <a:spcAft>
                          <a:spcPts val="0"/>
                        </a:spcAft>
                      </a:pPr>
                      <a:r>
                        <a:rPr lang="en-US" sz="2000" baseline="0" dirty="0">
                          <a:latin typeface="Calibri" pitchFamily="34" charset="0"/>
                          <a:ea typeface="Calibri"/>
                          <a:cs typeface="Times New Roman"/>
                        </a:rPr>
                        <a:t>Dose ↓ in renal dysfunction</a:t>
                      </a:r>
                      <a:endParaRPr lang="en-US" sz="2000" dirty="0">
                        <a:latin typeface="Calibri" pitchFamily="34" charset="0"/>
                        <a:ea typeface="Calibri"/>
                        <a:cs typeface="Times New Roman"/>
                      </a:endParaRPr>
                    </a:p>
                  </a:txBody>
                  <a:tcPr marL="68580" marR="68580" marT="0" marB="0" anchor="ctr"/>
                </a:tc>
                <a:tc>
                  <a:txBody>
                    <a:bodyPr/>
                    <a:lstStyle/>
                    <a:p>
                      <a:pPr algn="l"/>
                      <a:r>
                        <a:rPr lang="en-US" sz="2000" dirty="0">
                          <a:latin typeface="Calibri" pitchFamily="34" charset="0"/>
                        </a:rPr>
                        <a:t>Tablet</a:t>
                      </a:r>
                    </a:p>
                  </a:txBody>
                  <a:tcPr marL="68580" marR="68580" marT="0" marB="0" anchor="ctr"/>
                </a:tc>
                <a:extLst>
                  <a:ext uri="{0D108BD9-81ED-4DB2-BD59-A6C34878D82A}">
                    <a16:rowId xmlns:a16="http://schemas.microsoft.com/office/drawing/2014/main" xmlns="" val="284330286"/>
                  </a:ext>
                </a:extLst>
              </a:tr>
              <a:tr h="825351">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b="1" dirty="0" err="1">
                          <a:latin typeface="Calibri" pitchFamily="34" charset="0"/>
                          <a:ea typeface="Calibri"/>
                          <a:cs typeface="Times New Roman"/>
                        </a:rPr>
                        <a:t>Ziprasidone</a:t>
                      </a:r>
                      <a:endParaRPr lang="en-US" sz="2000" b="1" dirty="0">
                        <a:latin typeface="Calibri" pitchFamily="34" charset="0"/>
                        <a:ea typeface="Calibri"/>
                        <a:cs typeface="Times New Roman"/>
                      </a:endParaRPr>
                    </a:p>
                  </a:txBody>
                  <a:tcPr marL="68580" marR="68580" marT="0" marB="0" anchor="ctr"/>
                </a:tc>
                <a:tc>
                  <a:txBody>
                    <a:bodyPr/>
                    <a:lstStyle/>
                    <a:p>
                      <a:pPr marL="0" marR="0" algn="l">
                        <a:lnSpc>
                          <a:spcPct val="115000"/>
                        </a:lnSpc>
                        <a:spcBef>
                          <a:spcPts val="0"/>
                        </a:spcBef>
                        <a:spcAft>
                          <a:spcPts val="0"/>
                        </a:spcAft>
                      </a:pPr>
                      <a:r>
                        <a:rPr lang="en-US" sz="2000" dirty="0">
                          <a:latin typeface="Calibri" pitchFamily="34" charset="0"/>
                          <a:ea typeface="Calibri"/>
                          <a:cs typeface="Times New Roman"/>
                        </a:rPr>
                        <a:t>20-80</a:t>
                      </a:r>
                      <a:r>
                        <a:rPr lang="en-US" sz="2000" baseline="0" dirty="0">
                          <a:latin typeface="Calibri" pitchFamily="34" charset="0"/>
                          <a:ea typeface="Calibri"/>
                          <a:cs typeface="Times New Roman"/>
                        </a:rPr>
                        <a:t> mg bid PO</a:t>
                      </a:r>
                    </a:p>
                    <a:p>
                      <a:pPr marL="0" marR="0" algn="l">
                        <a:lnSpc>
                          <a:spcPct val="115000"/>
                        </a:lnSpc>
                        <a:spcBef>
                          <a:spcPts val="0"/>
                        </a:spcBef>
                        <a:spcAft>
                          <a:spcPts val="0"/>
                        </a:spcAft>
                      </a:pPr>
                      <a:r>
                        <a:rPr lang="en-US" sz="2000" baseline="0" dirty="0">
                          <a:latin typeface="Calibri" pitchFamily="34" charset="0"/>
                          <a:ea typeface="Calibri"/>
                          <a:cs typeface="Times New Roman"/>
                        </a:rPr>
                        <a:t>Take with &gt;500 calories</a:t>
                      </a:r>
                    </a:p>
                  </a:txBody>
                  <a:tcPr marL="68580" marR="68580" marT="0" marB="0" anchor="ctr"/>
                </a:tc>
                <a:tc>
                  <a:txBody>
                    <a:bodyPr/>
                    <a:lstStyle/>
                    <a:p>
                      <a:pPr algn="l"/>
                      <a:r>
                        <a:rPr lang="en-US" sz="2000" dirty="0">
                          <a:latin typeface="Calibri" pitchFamily="34" charset="0"/>
                        </a:rPr>
                        <a:t>Capsule,</a:t>
                      </a:r>
                      <a:r>
                        <a:rPr lang="en-US" sz="2000" baseline="0" dirty="0">
                          <a:latin typeface="Calibri" pitchFamily="34" charset="0"/>
                        </a:rPr>
                        <a:t> short-acting i</a:t>
                      </a:r>
                      <a:r>
                        <a:rPr lang="en-US" sz="2000" dirty="0">
                          <a:latin typeface="Calibri" pitchFamily="34" charset="0"/>
                        </a:rPr>
                        <a:t>njection</a:t>
                      </a:r>
                    </a:p>
                  </a:txBody>
                  <a:tcPr marL="68580" marR="68580" marT="0" marB="0" anchor="ctr"/>
                </a:tc>
                <a:extLst>
                  <a:ext uri="{0D108BD9-81ED-4DB2-BD59-A6C34878D82A}">
                    <a16:rowId xmlns:a16="http://schemas.microsoft.com/office/drawing/2014/main" xmlns="" val="897264491"/>
                  </a:ext>
                </a:extLst>
              </a:tr>
              <a:tr h="825351">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b="1" dirty="0" err="1">
                          <a:latin typeface="Calibri" pitchFamily="34" charset="0"/>
                          <a:ea typeface="Calibri"/>
                          <a:cs typeface="Times New Roman"/>
                        </a:rPr>
                        <a:t>Iloperidone</a:t>
                      </a:r>
                      <a:endParaRPr lang="en-US" sz="2000" b="1" dirty="0">
                        <a:latin typeface="Calibri" pitchFamily="34" charset="0"/>
                        <a:ea typeface="Calibri"/>
                        <a:cs typeface="Times New Roman"/>
                      </a:endParaRPr>
                    </a:p>
                  </a:txBody>
                  <a:tcPr marL="68580" marR="68580" marT="0" marB="0" anchor="ctr"/>
                </a:tc>
                <a:tc>
                  <a:txBody>
                    <a:bodyPr/>
                    <a:lstStyle/>
                    <a:p>
                      <a:pPr marL="0" marR="0" algn="l">
                        <a:lnSpc>
                          <a:spcPct val="115000"/>
                        </a:lnSpc>
                        <a:spcBef>
                          <a:spcPts val="0"/>
                        </a:spcBef>
                        <a:spcAft>
                          <a:spcPts val="0"/>
                        </a:spcAft>
                      </a:pPr>
                      <a:r>
                        <a:rPr lang="en-US" sz="2000" dirty="0">
                          <a:latin typeface="Calibri" pitchFamily="34" charset="0"/>
                          <a:ea typeface="Calibri"/>
                          <a:cs typeface="Times New Roman"/>
                        </a:rPr>
                        <a:t>1-12mg PO BID</a:t>
                      </a:r>
                    </a:p>
                  </a:txBody>
                  <a:tcPr marL="68580" marR="68580" marT="0" marB="0" anchor="ctr"/>
                </a:tc>
                <a:tc>
                  <a:txBody>
                    <a:bodyPr/>
                    <a:lstStyle/>
                    <a:p>
                      <a:pPr algn="l"/>
                      <a:r>
                        <a:rPr lang="en-US" sz="2000" dirty="0">
                          <a:latin typeface="Calibri" pitchFamily="34" charset="0"/>
                        </a:rPr>
                        <a:t>Tablet</a:t>
                      </a:r>
                    </a:p>
                  </a:txBody>
                  <a:tcPr marL="68580" marR="68580" marT="0" marB="0" anchor="ctr"/>
                </a:tc>
                <a:extLst>
                  <a:ext uri="{0D108BD9-81ED-4DB2-BD59-A6C34878D82A}">
                    <a16:rowId xmlns:a16="http://schemas.microsoft.com/office/drawing/2014/main" xmlns="" val="421758807"/>
                  </a:ext>
                </a:extLst>
              </a:tr>
            </a:tbl>
          </a:graphicData>
        </a:graphic>
      </p:graphicFrame>
    </p:spTree>
    <p:extLst>
      <p:ext uri="{BB962C8B-B14F-4D97-AF65-F5344CB8AC3E}">
        <p14:creationId xmlns:p14="http://schemas.microsoft.com/office/powerpoint/2010/main" val="2867702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57D0FF-CB7C-4C63-B19C-29EB548A6870}"/>
              </a:ext>
            </a:extLst>
          </p:cNvPr>
          <p:cNvSpPr>
            <a:spLocks noGrp="1"/>
          </p:cNvSpPr>
          <p:nvPr>
            <p:ph type="title"/>
          </p:nvPr>
        </p:nvSpPr>
        <p:spPr/>
        <p:txBody>
          <a:bodyPr/>
          <a:lstStyle/>
          <a:p>
            <a:r>
              <a:rPr lang="en-US" dirty="0"/>
              <a:t>“The </a:t>
            </a:r>
            <a:r>
              <a:rPr lang="en-US" dirty="0" err="1"/>
              <a:t>Ips</a:t>
            </a:r>
            <a:r>
              <a:rPr lang="en-US" dirty="0"/>
              <a:t>” </a:t>
            </a:r>
            <a:r>
              <a:rPr lang="en-US" sz="3200" dirty="0"/>
              <a:t>(and </a:t>
            </a:r>
            <a:r>
              <a:rPr lang="en-US" sz="3200" dirty="0" err="1"/>
              <a:t>Pimavanserin</a:t>
            </a:r>
            <a:r>
              <a:rPr lang="en-US" sz="3200" dirty="0"/>
              <a:t>)</a:t>
            </a:r>
            <a:endParaRPr lang="en-US" dirty="0"/>
          </a:p>
        </p:txBody>
      </p:sp>
      <p:graphicFrame>
        <p:nvGraphicFramePr>
          <p:cNvPr id="3" name="Table 2">
            <a:extLst>
              <a:ext uri="{FF2B5EF4-FFF2-40B4-BE49-F238E27FC236}">
                <a16:creationId xmlns:a16="http://schemas.microsoft.com/office/drawing/2014/main" xmlns="" id="{0B832592-FC73-4F6A-9F34-6D030FCA5054}"/>
              </a:ext>
            </a:extLst>
          </p:cNvPr>
          <p:cNvGraphicFramePr>
            <a:graphicFrameLocks noGrp="1"/>
          </p:cNvGraphicFramePr>
          <p:nvPr>
            <p:extLst>
              <p:ext uri="{D42A27DB-BD31-4B8C-83A1-F6EECF244321}">
                <p14:modId xmlns:p14="http://schemas.microsoft.com/office/powerpoint/2010/main" val="3032320223"/>
              </p:ext>
            </p:extLst>
          </p:nvPr>
        </p:nvGraphicFramePr>
        <p:xfrm>
          <a:off x="575310" y="1600200"/>
          <a:ext cx="8305801" cy="2946102"/>
        </p:xfrm>
        <a:graphic>
          <a:graphicData uri="http://schemas.openxmlformats.org/drawingml/2006/table">
            <a:tbl>
              <a:tblPr>
                <a:tableStyleId>{C4B1156A-380E-4F78-BDF5-A606A8083BF9}</a:tableStyleId>
              </a:tblPr>
              <a:tblGrid>
                <a:gridCol w="1863090">
                  <a:extLst>
                    <a:ext uri="{9D8B030D-6E8A-4147-A177-3AD203B41FA5}">
                      <a16:colId xmlns:a16="http://schemas.microsoft.com/office/drawing/2014/main" xmlns="" val="20000"/>
                    </a:ext>
                  </a:extLst>
                </a:gridCol>
                <a:gridCol w="3547110">
                  <a:extLst>
                    <a:ext uri="{9D8B030D-6E8A-4147-A177-3AD203B41FA5}">
                      <a16:colId xmlns:a16="http://schemas.microsoft.com/office/drawing/2014/main" xmlns="" val="20001"/>
                    </a:ext>
                  </a:extLst>
                </a:gridCol>
                <a:gridCol w="2895601">
                  <a:extLst>
                    <a:ext uri="{9D8B030D-6E8A-4147-A177-3AD203B41FA5}">
                      <a16:colId xmlns:a16="http://schemas.microsoft.com/office/drawing/2014/main" xmlns="" val="20002"/>
                    </a:ext>
                  </a:extLst>
                </a:gridCol>
              </a:tblGrid>
              <a:tr h="450192">
                <a:tc>
                  <a:txBody>
                    <a:bodyPr/>
                    <a:lstStyle/>
                    <a:p>
                      <a:pPr marL="0" marR="0" algn="l">
                        <a:lnSpc>
                          <a:spcPct val="115000"/>
                        </a:lnSpc>
                        <a:spcBef>
                          <a:spcPts val="0"/>
                        </a:spcBef>
                        <a:spcAft>
                          <a:spcPts val="0"/>
                        </a:spcAft>
                      </a:pPr>
                      <a:r>
                        <a:rPr lang="en-US" sz="2400" dirty="0">
                          <a:solidFill>
                            <a:schemeClr val="bg1"/>
                          </a:solidFill>
                        </a:rPr>
                        <a:t>Drug</a:t>
                      </a:r>
                      <a:endParaRPr lang="en-US" sz="2400" b="1" i="0" dirty="0">
                        <a:solidFill>
                          <a:schemeClr val="bg1"/>
                        </a:solidFill>
                        <a:latin typeface="Calibri"/>
                        <a:ea typeface="Calibri"/>
                        <a:cs typeface="Times New Roman"/>
                      </a:endParaRPr>
                    </a:p>
                  </a:txBody>
                  <a:tcPr marL="68580" marR="68580" marT="0" marB="0">
                    <a:solidFill>
                      <a:schemeClr val="accent4">
                        <a:lumMod val="50000"/>
                      </a:schemeClr>
                    </a:solidFill>
                  </a:tcPr>
                </a:tc>
                <a:tc>
                  <a:txBody>
                    <a:bodyPr/>
                    <a:lstStyle/>
                    <a:p>
                      <a:pPr marL="0" marR="0" algn="l">
                        <a:lnSpc>
                          <a:spcPct val="115000"/>
                        </a:lnSpc>
                        <a:spcBef>
                          <a:spcPts val="0"/>
                        </a:spcBef>
                        <a:spcAft>
                          <a:spcPts val="0"/>
                        </a:spcAft>
                      </a:pPr>
                      <a:r>
                        <a:rPr lang="en-US" sz="2400" dirty="0">
                          <a:solidFill>
                            <a:schemeClr val="bg1"/>
                          </a:solidFill>
                        </a:rPr>
                        <a:t>Dosing</a:t>
                      </a:r>
                      <a:endParaRPr lang="en-US" sz="2400" b="1" i="0" dirty="0">
                        <a:solidFill>
                          <a:schemeClr val="bg1"/>
                        </a:solidFill>
                        <a:latin typeface="Calibri"/>
                        <a:ea typeface="Calibri"/>
                        <a:cs typeface="Times New Roman"/>
                      </a:endParaRPr>
                    </a:p>
                  </a:txBody>
                  <a:tcPr marL="68580" marR="68580" marT="0" marB="0">
                    <a:solidFill>
                      <a:schemeClr val="accent4">
                        <a:lumMod val="50000"/>
                      </a:schemeClr>
                    </a:solidFill>
                  </a:tcPr>
                </a:tc>
                <a:tc>
                  <a:txBody>
                    <a:bodyPr/>
                    <a:lstStyle/>
                    <a:p>
                      <a:pPr marL="0" marR="0" algn="l">
                        <a:lnSpc>
                          <a:spcPct val="115000"/>
                        </a:lnSpc>
                        <a:spcBef>
                          <a:spcPts val="0"/>
                        </a:spcBef>
                        <a:spcAft>
                          <a:spcPts val="0"/>
                        </a:spcAft>
                      </a:pPr>
                      <a:r>
                        <a:rPr lang="en-US" sz="2400" dirty="0">
                          <a:solidFill>
                            <a:schemeClr val="bg1"/>
                          </a:solidFill>
                        </a:rPr>
                        <a:t>Formulations</a:t>
                      </a:r>
                      <a:endParaRPr lang="en-US" sz="2400" b="1" i="0" dirty="0">
                        <a:solidFill>
                          <a:schemeClr val="bg1"/>
                        </a:solidFill>
                        <a:latin typeface="Calibri"/>
                        <a:ea typeface="Calibri"/>
                        <a:cs typeface="Times New Roman"/>
                      </a:endParaRPr>
                    </a:p>
                  </a:txBody>
                  <a:tcPr marL="68580" marR="68580" marT="0" marB="0">
                    <a:solidFill>
                      <a:schemeClr val="accent4">
                        <a:lumMod val="50000"/>
                      </a:schemeClr>
                    </a:solidFill>
                  </a:tcPr>
                </a:tc>
                <a:extLst>
                  <a:ext uri="{0D108BD9-81ED-4DB2-BD59-A6C34878D82A}">
                    <a16:rowId xmlns:a16="http://schemas.microsoft.com/office/drawing/2014/main" xmlns="" val="10000"/>
                  </a:ext>
                </a:extLst>
              </a:tr>
              <a:tr h="845208">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b="1" dirty="0">
                          <a:latin typeface="Calibri" pitchFamily="34" charset="0"/>
                          <a:ea typeface="Calibri"/>
                          <a:cs typeface="Times New Roman"/>
                        </a:rPr>
                        <a:t>Aripiprazole</a:t>
                      </a:r>
                    </a:p>
                  </a:txBody>
                  <a:tcPr marL="68580" marR="68580" marT="0" marB="0" anchor="ctr"/>
                </a:tc>
                <a:tc>
                  <a:txBody>
                    <a:bodyPr/>
                    <a:lstStyle/>
                    <a:p>
                      <a:pPr marL="0" marR="0" algn="l">
                        <a:lnSpc>
                          <a:spcPct val="115000"/>
                        </a:lnSpc>
                        <a:spcBef>
                          <a:spcPts val="0"/>
                        </a:spcBef>
                        <a:spcAft>
                          <a:spcPts val="0"/>
                        </a:spcAft>
                      </a:pPr>
                      <a:r>
                        <a:rPr lang="en-US" sz="2000" dirty="0">
                          <a:latin typeface="Calibri" pitchFamily="34" charset="0"/>
                          <a:ea typeface="Calibri"/>
                          <a:cs typeface="Times New Roman"/>
                        </a:rPr>
                        <a:t>5-30 mg PO once</a:t>
                      </a:r>
                      <a:r>
                        <a:rPr lang="en-US" sz="2000" baseline="0" dirty="0">
                          <a:latin typeface="Calibri" pitchFamily="34" charset="0"/>
                          <a:ea typeface="Calibri"/>
                          <a:cs typeface="Times New Roman"/>
                        </a:rPr>
                        <a:t> </a:t>
                      </a:r>
                      <a:r>
                        <a:rPr lang="en-US" sz="2000" dirty="0">
                          <a:latin typeface="Calibri" pitchFamily="34" charset="0"/>
                          <a:ea typeface="Calibri"/>
                          <a:cs typeface="Times New Roman"/>
                        </a:rPr>
                        <a:t>daily</a:t>
                      </a:r>
                    </a:p>
                  </a:txBody>
                  <a:tcPr marL="68580" marR="68580" marT="0" marB="0" anchor="ctr"/>
                </a:tc>
                <a:tc>
                  <a:txBody>
                    <a:bodyPr/>
                    <a:lstStyle/>
                    <a:p>
                      <a:pPr algn="l"/>
                      <a:r>
                        <a:rPr lang="en-US" sz="2000" dirty="0">
                          <a:latin typeface="Calibri" pitchFamily="34" charset="0"/>
                        </a:rPr>
                        <a:t>Tablet, ODT,</a:t>
                      </a:r>
                      <a:r>
                        <a:rPr lang="en-US" sz="2000" baseline="0" dirty="0">
                          <a:latin typeface="Calibri" pitchFamily="34" charset="0"/>
                        </a:rPr>
                        <a:t> solution, LAI, </a:t>
                      </a:r>
                      <a:r>
                        <a:rPr lang="en-US" sz="2000" baseline="0" dirty="0" err="1">
                          <a:latin typeface="Calibri" pitchFamily="34" charset="0"/>
                        </a:rPr>
                        <a:t>MyCite</a:t>
                      </a:r>
                      <a:r>
                        <a:rPr lang="en-US" sz="2000" baseline="0" dirty="0">
                          <a:latin typeface="Calibri" pitchFamily="34" charset="0"/>
                        </a:rPr>
                        <a:t> (tablet + sensor)</a:t>
                      </a:r>
                      <a:endParaRPr lang="en-US" sz="2000" dirty="0">
                        <a:latin typeface="Calibri" pitchFamily="34" charset="0"/>
                      </a:endParaRPr>
                    </a:p>
                  </a:txBody>
                  <a:tcPr marL="68580" marR="68580" marT="0" marB="0" anchor="ctr"/>
                </a:tc>
                <a:extLst>
                  <a:ext uri="{0D108BD9-81ED-4DB2-BD59-A6C34878D82A}">
                    <a16:rowId xmlns:a16="http://schemas.microsoft.com/office/drawing/2014/main" xmlns="" val="10001"/>
                  </a:ext>
                </a:extLst>
              </a:tr>
              <a:tr h="825351">
                <a:tc>
                  <a:txBody>
                    <a:bodyPr/>
                    <a:lstStyle/>
                    <a:p>
                      <a:pPr marL="0" marR="0" algn="l">
                        <a:lnSpc>
                          <a:spcPct val="115000"/>
                        </a:lnSpc>
                        <a:spcBef>
                          <a:spcPts val="0"/>
                        </a:spcBef>
                        <a:spcAft>
                          <a:spcPts val="0"/>
                        </a:spcAft>
                      </a:pPr>
                      <a:r>
                        <a:rPr lang="en-US" sz="2000" b="1" dirty="0" err="1">
                          <a:latin typeface="Calibri" pitchFamily="34" charset="0"/>
                          <a:ea typeface="Calibri"/>
                          <a:cs typeface="Times New Roman"/>
                        </a:rPr>
                        <a:t>Brexpiprazole</a:t>
                      </a:r>
                      <a:endParaRPr lang="en-US" sz="2000" b="1" dirty="0">
                        <a:latin typeface="Calibri" pitchFamily="34" charset="0"/>
                        <a:ea typeface="Calibri"/>
                        <a:cs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latin typeface="Calibri" pitchFamily="34" charset="0"/>
                          <a:ea typeface="Calibri"/>
                          <a:cs typeface="Times New Roman"/>
                        </a:rPr>
                        <a:t>0.5-4mg</a:t>
                      </a:r>
                      <a:r>
                        <a:rPr lang="en-US" sz="2000" baseline="0" dirty="0">
                          <a:latin typeface="Calibri" pitchFamily="34" charset="0"/>
                          <a:ea typeface="Calibri"/>
                          <a:cs typeface="Times New Roman"/>
                        </a:rPr>
                        <a:t> PO once daily </a:t>
                      </a:r>
                      <a:endParaRPr lang="en-US" sz="2000" dirty="0">
                        <a:latin typeface="Calibri" pitchFamily="34" charset="0"/>
                        <a:ea typeface="Calibri"/>
                        <a:cs typeface="Times New Roman"/>
                      </a:endParaRPr>
                    </a:p>
                  </a:txBody>
                  <a:tcPr marL="68580" marR="68580" marT="0" marB="0" anchor="ctr"/>
                </a:tc>
                <a:tc>
                  <a:txBody>
                    <a:bodyPr/>
                    <a:lstStyle/>
                    <a:p>
                      <a:pPr algn="l"/>
                      <a:r>
                        <a:rPr lang="en-US" sz="2000" dirty="0">
                          <a:latin typeface="Calibri" pitchFamily="34" charset="0"/>
                        </a:rPr>
                        <a:t>Tablet</a:t>
                      </a:r>
                    </a:p>
                  </a:txBody>
                  <a:tcPr marL="68580" marR="68580" marT="0" marB="0" anchor="ctr"/>
                </a:tc>
                <a:extLst>
                  <a:ext uri="{0D108BD9-81ED-4DB2-BD59-A6C34878D82A}">
                    <a16:rowId xmlns:a16="http://schemas.microsoft.com/office/drawing/2014/main" xmlns="" val="10005"/>
                  </a:ext>
                </a:extLst>
              </a:tr>
              <a:tr h="825351">
                <a:tc>
                  <a:txBody>
                    <a:bodyPr/>
                    <a:lstStyle/>
                    <a:p>
                      <a:pPr marL="0" marR="0" algn="l">
                        <a:lnSpc>
                          <a:spcPct val="115000"/>
                        </a:lnSpc>
                        <a:spcBef>
                          <a:spcPts val="0"/>
                        </a:spcBef>
                        <a:spcAft>
                          <a:spcPts val="0"/>
                        </a:spcAft>
                      </a:pPr>
                      <a:r>
                        <a:rPr lang="en-US" sz="2000" b="1" dirty="0" err="1">
                          <a:latin typeface="Calibri" pitchFamily="34" charset="0"/>
                          <a:ea typeface="Calibri"/>
                          <a:cs typeface="Times New Roman"/>
                        </a:rPr>
                        <a:t>Cariprazine</a:t>
                      </a:r>
                      <a:endParaRPr lang="en-US" sz="2000" b="1" dirty="0">
                        <a:latin typeface="Calibri" pitchFamily="34" charset="0"/>
                        <a:ea typeface="Calibri"/>
                        <a:cs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latin typeface="Calibri" pitchFamily="34" charset="0"/>
                          <a:ea typeface="Calibri"/>
                          <a:cs typeface="Times New Roman"/>
                        </a:rPr>
                        <a:t>1.5-6mg PO once daily </a:t>
                      </a:r>
                    </a:p>
                  </a:txBody>
                  <a:tcPr marL="68580" marR="68580" marT="0" marB="0" anchor="ctr"/>
                </a:tc>
                <a:tc>
                  <a:txBody>
                    <a:bodyPr/>
                    <a:lstStyle/>
                    <a:p>
                      <a:pPr algn="l"/>
                      <a:r>
                        <a:rPr lang="en-US" sz="2000" dirty="0">
                          <a:latin typeface="Calibri" pitchFamily="34" charset="0"/>
                        </a:rPr>
                        <a:t>Capsule</a:t>
                      </a:r>
                    </a:p>
                  </a:txBody>
                  <a:tcPr marL="68580" marR="68580" marT="0" marB="0" anchor="ctr"/>
                </a:tc>
                <a:extLst>
                  <a:ext uri="{0D108BD9-81ED-4DB2-BD59-A6C34878D82A}">
                    <a16:rowId xmlns:a16="http://schemas.microsoft.com/office/drawing/2014/main" xmlns="" val="284330286"/>
                  </a:ext>
                </a:extLst>
              </a:tr>
            </a:tbl>
          </a:graphicData>
        </a:graphic>
      </p:graphicFrame>
      <p:graphicFrame>
        <p:nvGraphicFramePr>
          <p:cNvPr id="4" name="Table 3">
            <a:extLst>
              <a:ext uri="{FF2B5EF4-FFF2-40B4-BE49-F238E27FC236}">
                <a16:creationId xmlns:a16="http://schemas.microsoft.com/office/drawing/2014/main" xmlns="" id="{C40AFE65-15C0-4E4A-913C-AE1E9A30BCF3}"/>
              </a:ext>
            </a:extLst>
          </p:cNvPr>
          <p:cNvGraphicFramePr>
            <a:graphicFrameLocks noGrp="1"/>
          </p:cNvGraphicFramePr>
          <p:nvPr>
            <p:extLst>
              <p:ext uri="{D42A27DB-BD31-4B8C-83A1-F6EECF244321}">
                <p14:modId xmlns:p14="http://schemas.microsoft.com/office/powerpoint/2010/main" val="2945355215"/>
              </p:ext>
            </p:extLst>
          </p:nvPr>
        </p:nvGraphicFramePr>
        <p:xfrm>
          <a:off x="575310" y="5105400"/>
          <a:ext cx="8305801" cy="985636"/>
        </p:xfrm>
        <a:graphic>
          <a:graphicData uri="http://schemas.openxmlformats.org/drawingml/2006/table">
            <a:tbl>
              <a:tblPr/>
              <a:tblGrid>
                <a:gridCol w="1899476">
                  <a:extLst>
                    <a:ext uri="{9D8B030D-6E8A-4147-A177-3AD203B41FA5}">
                      <a16:colId xmlns:a16="http://schemas.microsoft.com/office/drawing/2014/main" xmlns="" val="1056776511"/>
                    </a:ext>
                  </a:extLst>
                </a:gridCol>
                <a:gridCol w="3843796">
                  <a:extLst>
                    <a:ext uri="{9D8B030D-6E8A-4147-A177-3AD203B41FA5}">
                      <a16:colId xmlns:a16="http://schemas.microsoft.com/office/drawing/2014/main" xmlns="" val="613946297"/>
                    </a:ext>
                  </a:extLst>
                </a:gridCol>
                <a:gridCol w="2562529">
                  <a:extLst>
                    <a:ext uri="{9D8B030D-6E8A-4147-A177-3AD203B41FA5}">
                      <a16:colId xmlns:a16="http://schemas.microsoft.com/office/drawing/2014/main" xmlns="" val="111811075"/>
                    </a:ext>
                  </a:extLst>
                </a:gridCol>
              </a:tblGrid>
              <a:tr h="492818">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b="1" dirty="0">
                          <a:latin typeface="Calibri" pitchFamily="34" charset="0"/>
                          <a:ea typeface="Calibri"/>
                          <a:cs typeface="Times New Roman"/>
                        </a:rPr>
                        <a:t>Drug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l">
                        <a:lnSpc>
                          <a:spcPct val="115000"/>
                        </a:lnSpc>
                        <a:spcBef>
                          <a:spcPts val="0"/>
                        </a:spcBef>
                        <a:spcAft>
                          <a:spcPts val="0"/>
                        </a:spcAft>
                      </a:pPr>
                      <a:r>
                        <a:rPr lang="en-US" sz="2000" b="1" dirty="0">
                          <a:latin typeface="Calibri" pitchFamily="34" charset="0"/>
                          <a:ea typeface="Calibri"/>
                          <a:cs typeface="Times New Roman"/>
                        </a:rPr>
                        <a:t>Dosing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a:r>
                        <a:rPr lang="en-US" sz="2000" b="1" dirty="0">
                          <a:latin typeface="Calibri" pitchFamily="34" charset="0"/>
                        </a:rPr>
                        <a:t>Formulation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2072409053"/>
                  </a:ext>
                </a:extLst>
              </a:tr>
              <a:tr h="492818">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b="1" dirty="0" err="1">
                          <a:latin typeface="Calibri" pitchFamily="34" charset="0"/>
                          <a:ea typeface="Calibri"/>
                          <a:cs typeface="Times New Roman"/>
                        </a:rPr>
                        <a:t>Pimavanserin</a:t>
                      </a:r>
                      <a:endParaRPr lang="en-US" sz="2000" b="1"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l">
                        <a:lnSpc>
                          <a:spcPct val="115000"/>
                        </a:lnSpc>
                        <a:spcBef>
                          <a:spcPts val="0"/>
                        </a:spcBef>
                        <a:spcAft>
                          <a:spcPts val="0"/>
                        </a:spcAft>
                      </a:pPr>
                      <a:r>
                        <a:rPr lang="en-US" sz="2000" dirty="0">
                          <a:latin typeface="Calibri" pitchFamily="34" charset="0"/>
                          <a:ea typeface="Calibri"/>
                          <a:cs typeface="Times New Roman"/>
                        </a:rPr>
                        <a:t>34mg/day PO</a:t>
                      </a:r>
                      <a:r>
                        <a:rPr lang="en-US" sz="2000" baseline="0" dirty="0">
                          <a:latin typeface="Calibri" pitchFamily="34" charset="0"/>
                          <a:ea typeface="Calibri"/>
                          <a:cs typeface="Times New Roman"/>
                        </a:rPr>
                        <a:t> </a:t>
                      </a:r>
                      <a:endParaRPr lang="en-US" sz="20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a:r>
                        <a:rPr lang="en-US" sz="2000" dirty="0">
                          <a:latin typeface="Calibri" pitchFamily="34" charset="0"/>
                        </a:rPr>
                        <a:t>Tablet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505807508"/>
                  </a:ext>
                </a:extLst>
              </a:tr>
            </a:tbl>
          </a:graphicData>
        </a:graphic>
      </p:graphicFrame>
    </p:spTree>
    <p:extLst>
      <p:ext uri="{BB962C8B-B14F-4D97-AF65-F5344CB8AC3E}">
        <p14:creationId xmlns:p14="http://schemas.microsoft.com/office/powerpoint/2010/main" val="1710574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45237"/>
            <a:ext cx="8229600" cy="1066800"/>
          </a:xfrm>
        </p:spPr>
        <p:txBody>
          <a:bodyPr>
            <a:noAutofit/>
          </a:bodyPr>
          <a:lstStyle/>
          <a:p>
            <a:r>
              <a:rPr lang="en-US" sz="3600" b="1" dirty="0"/>
              <a:t>Antipsychotics: Long acting Injections</a:t>
            </a:r>
          </a:p>
        </p:txBody>
      </p:sp>
      <p:sp>
        <p:nvSpPr>
          <p:cNvPr id="3" name="Content Placeholder 2"/>
          <p:cNvSpPr>
            <a:spLocks noGrp="1"/>
          </p:cNvSpPr>
          <p:nvPr>
            <p:ph idx="1"/>
          </p:nvPr>
        </p:nvSpPr>
        <p:spPr>
          <a:xfrm>
            <a:off x="762000" y="1412037"/>
            <a:ext cx="8229600" cy="4724400"/>
          </a:xfrm>
        </p:spPr>
        <p:txBody>
          <a:bodyPr>
            <a:normAutofit/>
          </a:bodyPr>
          <a:lstStyle/>
          <a:p>
            <a:r>
              <a:rPr lang="en-US" sz="2800" dirty="0"/>
              <a:t>Non-adherence to therapy is a common problem in patients with mental health conditions</a:t>
            </a:r>
          </a:p>
          <a:p>
            <a:pPr lvl="1"/>
            <a:r>
              <a:rPr lang="en-US" sz="2400" i="0" dirty="0"/>
              <a:t>Results in increased rates of relapse, healthcare costs, and morbidity</a:t>
            </a:r>
          </a:p>
          <a:p>
            <a:pPr lvl="1"/>
            <a:endParaRPr lang="en-US" sz="2400" i="0" dirty="0"/>
          </a:p>
          <a:p>
            <a:r>
              <a:rPr lang="en-US" sz="2800" dirty="0"/>
              <a:t>What do we do?</a:t>
            </a:r>
          </a:p>
          <a:p>
            <a:pPr lvl="1"/>
            <a:r>
              <a:rPr lang="en-US" sz="2400" i="0" dirty="0"/>
              <a:t>Long-acting injectable (LAI) antipsychotics!</a:t>
            </a:r>
          </a:p>
        </p:txBody>
      </p:sp>
      <p:pic>
        <p:nvPicPr>
          <p:cNvPr id="3074" name="Picture 2" descr="C:\Users\Dustin\AppData\Local\Microsoft\Windows\Temporary Internet Files\Content.IE5\TZ3ZV1MV\MC900290942[1].wmf"/>
          <p:cNvPicPr>
            <a:picLocks noChangeAspect="1" noChangeArrowheads="1"/>
          </p:cNvPicPr>
          <p:nvPr/>
        </p:nvPicPr>
        <p:blipFill>
          <a:blip r:embed="rId3" cstate="print"/>
          <a:srcRect/>
          <a:stretch>
            <a:fillRect/>
          </a:stretch>
        </p:blipFill>
        <p:spPr bwMode="auto">
          <a:xfrm>
            <a:off x="7203540" y="3746805"/>
            <a:ext cx="1579830" cy="2049107"/>
          </a:xfrm>
          <a:prstGeom prst="rect">
            <a:avLst/>
          </a:prstGeom>
          <a:noFill/>
        </p:spPr>
      </p:pic>
      <p:sp>
        <p:nvSpPr>
          <p:cNvPr id="5" name="TextBox 4"/>
          <p:cNvSpPr txBox="1"/>
          <p:nvPr/>
        </p:nvSpPr>
        <p:spPr>
          <a:xfrm>
            <a:off x="609600" y="6324600"/>
            <a:ext cx="8173770" cy="400110"/>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991600" cy="1066800"/>
          </a:xfrm>
        </p:spPr>
        <p:txBody>
          <a:bodyPr>
            <a:normAutofit/>
          </a:bodyPr>
          <a:lstStyle/>
          <a:p>
            <a:r>
              <a:rPr lang="en-US" sz="4000" b="1" dirty="0"/>
              <a:t>1</a:t>
            </a:r>
            <a:r>
              <a:rPr lang="en-US" sz="4000" b="1" baseline="30000" dirty="0"/>
              <a:t>st</a:t>
            </a:r>
            <a:r>
              <a:rPr lang="en-US" sz="4000" b="1" dirty="0"/>
              <a:t> Generation Antipsychotics: LAI</a:t>
            </a:r>
          </a:p>
        </p:txBody>
      </p:sp>
      <p:graphicFrame>
        <p:nvGraphicFramePr>
          <p:cNvPr id="4" name="Table 3"/>
          <p:cNvGraphicFramePr>
            <a:graphicFrameLocks noGrp="1"/>
          </p:cNvGraphicFramePr>
          <p:nvPr>
            <p:extLst>
              <p:ext uri="{D42A27DB-BD31-4B8C-83A1-F6EECF244321}">
                <p14:modId xmlns:p14="http://schemas.microsoft.com/office/powerpoint/2010/main" val="3391608985"/>
              </p:ext>
            </p:extLst>
          </p:nvPr>
        </p:nvGraphicFramePr>
        <p:xfrm>
          <a:off x="533400" y="1524000"/>
          <a:ext cx="8534399" cy="3657600"/>
        </p:xfrm>
        <a:graphic>
          <a:graphicData uri="http://schemas.openxmlformats.org/drawingml/2006/table">
            <a:tbl>
              <a:tblPr/>
              <a:tblGrid>
                <a:gridCol w="1674975">
                  <a:extLst>
                    <a:ext uri="{9D8B030D-6E8A-4147-A177-3AD203B41FA5}">
                      <a16:colId xmlns:a16="http://schemas.microsoft.com/office/drawing/2014/main" xmlns="" val="20000"/>
                    </a:ext>
                  </a:extLst>
                </a:gridCol>
                <a:gridCol w="2022310">
                  <a:extLst>
                    <a:ext uri="{9D8B030D-6E8A-4147-A177-3AD203B41FA5}">
                      <a16:colId xmlns:a16="http://schemas.microsoft.com/office/drawing/2014/main" xmlns="" val="258064982"/>
                    </a:ext>
                  </a:extLst>
                </a:gridCol>
                <a:gridCol w="2144424">
                  <a:extLst>
                    <a:ext uri="{9D8B030D-6E8A-4147-A177-3AD203B41FA5}">
                      <a16:colId xmlns:a16="http://schemas.microsoft.com/office/drawing/2014/main" xmlns="" val="20001"/>
                    </a:ext>
                  </a:extLst>
                </a:gridCol>
                <a:gridCol w="813403">
                  <a:extLst>
                    <a:ext uri="{9D8B030D-6E8A-4147-A177-3AD203B41FA5}">
                      <a16:colId xmlns:a16="http://schemas.microsoft.com/office/drawing/2014/main" xmlns="" val="20002"/>
                    </a:ext>
                  </a:extLst>
                </a:gridCol>
                <a:gridCol w="813403">
                  <a:extLst>
                    <a:ext uri="{9D8B030D-6E8A-4147-A177-3AD203B41FA5}">
                      <a16:colId xmlns:a16="http://schemas.microsoft.com/office/drawing/2014/main" xmlns="" val="20003"/>
                    </a:ext>
                  </a:extLst>
                </a:gridCol>
                <a:gridCol w="1065884">
                  <a:extLst>
                    <a:ext uri="{9D8B030D-6E8A-4147-A177-3AD203B41FA5}">
                      <a16:colId xmlns:a16="http://schemas.microsoft.com/office/drawing/2014/main" xmlns="" val="20004"/>
                    </a:ext>
                  </a:extLst>
                </a:gridCol>
              </a:tblGrid>
              <a:tr h="809026">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Drug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Initiation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Maintenance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Peak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T</a:t>
                      </a:r>
                      <a:r>
                        <a:rPr lang="en-US" sz="1800" b="1" i="0" baseline="-25000" dirty="0">
                          <a:solidFill>
                            <a:schemeClr val="bg1"/>
                          </a:solidFill>
                          <a:latin typeface="Calibri"/>
                          <a:ea typeface="Calibri"/>
                          <a:cs typeface="Times New Roman"/>
                        </a:rPr>
                        <a:t>1/2</a:t>
                      </a:r>
                    </a:p>
                    <a:p>
                      <a:pPr marL="0" marR="0" algn="l">
                        <a:lnSpc>
                          <a:spcPct val="115000"/>
                        </a:lnSpc>
                        <a:spcBef>
                          <a:spcPts val="0"/>
                        </a:spcBef>
                        <a:spcAft>
                          <a:spcPts val="0"/>
                        </a:spcAft>
                      </a:pPr>
                      <a:r>
                        <a:rPr lang="en-US" sz="1800" b="1" i="0" baseline="-25000" dirty="0">
                          <a:solidFill>
                            <a:schemeClr val="bg1"/>
                          </a:solidFill>
                          <a:latin typeface="Calibri"/>
                          <a:ea typeface="Calibri"/>
                          <a:cs typeface="Times New Roman"/>
                        </a:rPr>
                        <a:t>(Days)</a:t>
                      </a:r>
                      <a:r>
                        <a:rPr lang="en-US" sz="1800" b="1" i="0" baseline="0" dirty="0">
                          <a:solidFill>
                            <a:schemeClr val="bg1"/>
                          </a:solidFill>
                          <a:latin typeface="Calibri"/>
                          <a:ea typeface="Calibri"/>
                          <a:cs typeface="Times New Roman"/>
                        </a:rPr>
                        <a:t> </a:t>
                      </a:r>
                      <a:endParaRPr lang="en-US" sz="1800" b="1" i="0" dirty="0">
                        <a:solidFill>
                          <a:schemeClr val="bg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Steady</a:t>
                      </a:r>
                      <a:r>
                        <a:rPr lang="en-US" sz="1800" b="1" i="0" baseline="0" dirty="0">
                          <a:solidFill>
                            <a:schemeClr val="bg1"/>
                          </a:solidFill>
                          <a:latin typeface="Calibri"/>
                          <a:ea typeface="Calibri"/>
                          <a:cs typeface="Times New Roman"/>
                        </a:rPr>
                        <a:t> State</a:t>
                      </a:r>
                      <a:endParaRPr lang="en-US" sz="1800" b="1" i="0" dirty="0">
                        <a:solidFill>
                          <a:schemeClr val="bg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xmlns="" val="10000"/>
                  </a:ext>
                </a:extLst>
              </a:tr>
              <a:tr h="1553174">
                <a:tc>
                  <a:txBody>
                    <a:bodyPr/>
                    <a:lstStyle/>
                    <a:p>
                      <a:pPr marL="0" marR="0" algn="l">
                        <a:lnSpc>
                          <a:spcPct val="115000"/>
                        </a:lnSpc>
                        <a:spcBef>
                          <a:spcPts val="0"/>
                        </a:spcBef>
                        <a:spcAft>
                          <a:spcPts val="0"/>
                        </a:spcAft>
                      </a:pPr>
                      <a:r>
                        <a:rPr lang="en-US" sz="1600" b="1" dirty="0">
                          <a:latin typeface="Calibri" pitchFamily="34" charset="0"/>
                          <a:ea typeface="Calibri"/>
                          <a:cs typeface="Times New Roman"/>
                        </a:rPr>
                        <a:t>Haloperidol </a:t>
                      </a:r>
                      <a:r>
                        <a:rPr lang="en-US" sz="1600" b="1" dirty="0" err="1">
                          <a:latin typeface="Calibri" pitchFamily="34" charset="0"/>
                          <a:ea typeface="Calibri"/>
                          <a:cs typeface="Times New Roman"/>
                        </a:rPr>
                        <a:t>decanoate</a:t>
                      </a:r>
                      <a:endParaRPr lang="en-US" sz="1600" b="1" dirty="0">
                        <a:latin typeface="Calibri" pitchFamily="34" charset="0"/>
                        <a:ea typeface="Calibri"/>
                        <a:cs typeface="Times New Roman"/>
                      </a:endParaRPr>
                    </a:p>
                    <a:p>
                      <a:pPr marL="0" marR="0" algn="l">
                        <a:lnSpc>
                          <a:spcPct val="115000"/>
                        </a:lnSpc>
                        <a:spcBef>
                          <a:spcPts val="0"/>
                        </a:spcBef>
                        <a:spcAft>
                          <a:spcPts val="0"/>
                        </a:spcAft>
                      </a:pPr>
                      <a:r>
                        <a:rPr lang="en-US" sz="1600" b="1" dirty="0">
                          <a:latin typeface="Calibri" pitchFamily="34" charset="0"/>
                          <a:ea typeface="Calibri"/>
                          <a:cs typeface="Times New Roman"/>
                        </a:rPr>
                        <a:t>(Haldol </a:t>
                      </a:r>
                      <a:r>
                        <a:rPr lang="en-US" sz="1600" b="1" baseline="0" dirty="0">
                          <a:latin typeface="Calibri" pitchFamily="34" charset="0"/>
                          <a:ea typeface="Calibri"/>
                          <a:cs typeface="Times New Roman"/>
                        </a:rPr>
                        <a:t>decanoate)</a:t>
                      </a:r>
                      <a:endParaRPr lang="en-US" sz="1600" b="1" dirty="0">
                        <a:latin typeface="Calibri" pitchFamily="34" charset="0"/>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aseline="0" dirty="0">
                          <a:latin typeface="Calibri" pitchFamily="34" charset="0"/>
                        </a:rPr>
                        <a:t>Load with 20x PO dose</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baseline="0" dirty="0">
                        <a:latin typeface="Calibri" pitchFamily="34" charset="0"/>
                      </a:endParaRP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aseline="0" dirty="0">
                          <a:latin typeface="Calibri" pitchFamily="34" charset="0"/>
                        </a:rPr>
                        <a:t>If NO load, need PO overlap</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aseline="0" dirty="0">
                        <a:latin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Font typeface="Arial" panose="020B0604020202020204" pitchFamily="34" charset="0"/>
                        <a:buNone/>
                      </a:pPr>
                      <a:r>
                        <a:rPr lang="en-US" sz="1600" dirty="0">
                          <a:latin typeface="Calibri" pitchFamily="34" charset="0"/>
                        </a:rPr>
                        <a:t>50-450 mg q4</a:t>
                      </a:r>
                      <a:r>
                        <a:rPr lang="en-US" sz="1600" baseline="0" dirty="0">
                          <a:latin typeface="Calibri" pitchFamily="34" charset="0"/>
                        </a:rPr>
                        <a:t> weeks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i="1" dirty="0">
                          <a:latin typeface="Calibri" pitchFamily="34" charset="0"/>
                        </a:rPr>
                        <a:t>(10-15x PO dose)</a:t>
                      </a:r>
                    </a:p>
                    <a:p>
                      <a:pPr marL="0" indent="0" algn="l">
                        <a:buFont typeface="Arial" panose="020B0604020202020204" pitchFamily="34" charset="0"/>
                        <a:buNone/>
                      </a:pPr>
                      <a:endParaRPr lang="en-US" sz="1600" baseline="0" dirty="0">
                        <a:latin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US" sz="1600" dirty="0">
                          <a:latin typeface="Calibri" pitchFamily="34" charset="0"/>
                        </a:rPr>
                        <a:t>5-8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US" sz="1600" dirty="0">
                          <a:latin typeface="Calibri" pitchFamily="34" charset="0"/>
                        </a:rPr>
                        <a:t>19-21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US" sz="1600" dirty="0">
                          <a:latin typeface="Calibri" pitchFamily="34" charset="0"/>
                        </a:rPr>
                        <a:t>15 weeks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295400">
                <a:tc>
                  <a:txBody>
                    <a:bodyPr/>
                    <a:lstStyle/>
                    <a:p>
                      <a:pPr marL="0" marR="0" algn="l">
                        <a:lnSpc>
                          <a:spcPct val="115000"/>
                        </a:lnSpc>
                        <a:spcBef>
                          <a:spcPts val="0"/>
                        </a:spcBef>
                        <a:spcAft>
                          <a:spcPts val="0"/>
                        </a:spcAft>
                      </a:pPr>
                      <a:r>
                        <a:rPr lang="en-US" sz="1600" b="1" dirty="0" err="1">
                          <a:latin typeface="Calibri" pitchFamily="34" charset="0"/>
                          <a:ea typeface="Calibri"/>
                          <a:cs typeface="Times New Roman"/>
                        </a:rPr>
                        <a:t>Fluphenazine</a:t>
                      </a:r>
                      <a:endParaRPr lang="en-US" sz="1600" b="1" dirty="0">
                        <a:latin typeface="Calibri" pitchFamily="34" charset="0"/>
                        <a:ea typeface="Calibri"/>
                        <a:cs typeface="Times New Roman"/>
                      </a:endParaRPr>
                    </a:p>
                    <a:p>
                      <a:pPr marL="0" marR="0" algn="l">
                        <a:lnSpc>
                          <a:spcPct val="115000"/>
                        </a:lnSpc>
                        <a:spcBef>
                          <a:spcPts val="0"/>
                        </a:spcBef>
                        <a:spcAft>
                          <a:spcPts val="0"/>
                        </a:spcAft>
                      </a:pPr>
                      <a:r>
                        <a:rPr lang="en-US" sz="1600" b="1" dirty="0">
                          <a:latin typeface="Calibri" pitchFamily="34" charset="0"/>
                          <a:ea typeface="Calibri"/>
                          <a:cs typeface="Times New Roman"/>
                        </a:rPr>
                        <a:t>Decanoate</a:t>
                      </a:r>
                    </a:p>
                    <a:p>
                      <a:pPr marL="0" marR="0" algn="l">
                        <a:lnSpc>
                          <a:spcPct val="115000"/>
                        </a:lnSpc>
                        <a:spcBef>
                          <a:spcPts val="0"/>
                        </a:spcBef>
                        <a:spcAft>
                          <a:spcPts val="0"/>
                        </a:spcAft>
                      </a:pPr>
                      <a:r>
                        <a:rPr lang="en-US" sz="1600" b="1" dirty="0">
                          <a:latin typeface="Calibri" pitchFamily="34" charset="0"/>
                          <a:ea typeface="Calibri"/>
                          <a:cs typeface="Times New Roman"/>
                        </a:rPr>
                        <a:t>(</a:t>
                      </a:r>
                      <a:r>
                        <a:rPr lang="en-US" sz="1600" b="1" dirty="0" err="1">
                          <a:latin typeface="Calibri" pitchFamily="34" charset="0"/>
                          <a:ea typeface="Calibri"/>
                          <a:cs typeface="Times New Roman"/>
                        </a:rPr>
                        <a:t>Prolixin</a:t>
                      </a:r>
                      <a:r>
                        <a:rPr lang="en-US" sz="1600" b="1" baseline="0" dirty="0">
                          <a:latin typeface="Calibri" pitchFamily="34" charset="0"/>
                          <a:ea typeface="Calibri"/>
                          <a:cs typeface="Times New Roman"/>
                        </a:rPr>
                        <a:t> decanoate)</a:t>
                      </a:r>
                      <a:endParaRPr lang="en-US" sz="1600" b="1" dirty="0">
                        <a:latin typeface="Calibri" pitchFamily="34" charset="0"/>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600" baseline="0" dirty="0">
                          <a:latin typeface="Calibri" pitchFamily="34" charset="0"/>
                        </a:rPr>
                        <a:t>PO overlap</a:t>
                      </a:r>
                      <a:endParaRPr lang="en-US" sz="1600" dirty="0">
                        <a:latin typeface="Calibri" pitchFamily="34" charset="0"/>
                      </a:endParaRPr>
                    </a:p>
                    <a:p>
                      <a:pPr marL="0" indent="0" algn="l">
                        <a:buFont typeface="Arial" panose="020B0604020202020204" pitchFamily="34" charset="0"/>
                        <a:buNone/>
                      </a:pPr>
                      <a:r>
                        <a:rPr lang="en-US" sz="1600" i="1" dirty="0">
                          <a:latin typeface="Calibri" pitchFamily="34" charset="0"/>
                        </a:rPr>
                        <a:t>10mg PO = 12.5mg q3 weeks</a:t>
                      </a:r>
                    </a:p>
                    <a:p>
                      <a:pPr algn="l"/>
                      <a:endParaRPr lang="en-US" sz="1600" dirty="0">
                        <a:latin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600" dirty="0">
                          <a:latin typeface="Calibri" pitchFamily="34" charset="0"/>
                        </a:rPr>
                        <a:t>12.5-75 mg q2 weeks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a:r>
                        <a:rPr lang="en-US" sz="1600" dirty="0">
                          <a:latin typeface="Calibri" pitchFamily="34" charset="0"/>
                        </a:rPr>
                        <a:t>24 hours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a:r>
                        <a:rPr lang="en-US" sz="1600" dirty="0">
                          <a:latin typeface="Calibri" pitchFamily="34" charset="0"/>
                        </a:rPr>
                        <a:t>8-14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a:r>
                        <a:rPr lang="en-US" sz="1600" dirty="0">
                          <a:latin typeface="Calibri" pitchFamily="34" charset="0"/>
                        </a:rPr>
                        <a:t>10 weeks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131163" cy="1037897"/>
          </a:xfrm>
        </p:spPr>
        <p:txBody>
          <a:bodyPr>
            <a:normAutofit fontScale="90000"/>
          </a:bodyPr>
          <a:lstStyle/>
          <a:p>
            <a:r>
              <a:rPr lang="en-US" sz="4000" b="1" dirty="0"/>
              <a:t>2</a:t>
            </a:r>
            <a:r>
              <a:rPr lang="en-US" sz="4000" b="1" baseline="30000" dirty="0"/>
              <a:t>nd</a:t>
            </a:r>
            <a:r>
              <a:rPr lang="en-US" sz="4000" b="1" dirty="0"/>
              <a:t> Generation Antipsychotics: LAI</a:t>
            </a:r>
          </a:p>
        </p:txBody>
      </p:sp>
      <p:graphicFrame>
        <p:nvGraphicFramePr>
          <p:cNvPr id="4" name="Table 3"/>
          <p:cNvGraphicFramePr>
            <a:graphicFrameLocks noGrp="1"/>
          </p:cNvGraphicFramePr>
          <p:nvPr>
            <p:extLst>
              <p:ext uri="{D42A27DB-BD31-4B8C-83A1-F6EECF244321}">
                <p14:modId xmlns:p14="http://schemas.microsoft.com/office/powerpoint/2010/main" val="3159480900"/>
              </p:ext>
            </p:extLst>
          </p:nvPr>
        </p:nvGraphicFramePr>
        <p:xfrm>
          <a:off x="609600" y="990600"/>
          <a:ext cx="8382000" cy="4747445"/>
        </p:xfrm>
        <a:graphic>
          <a:graphicData uri="http://schemas.openxmlformats.org/drawingml/2006/table">
            <a:tbl>
              <a:tblPr/>
              <a:tblGrid>
                <a:gridCol w="1520601">
                  <a:extLst>
                    <a:ext uri="{9D8B030D-6E8A-4147-A177-3AD203B41FA5}">
                      <a16:colId xmlns:a16="http://schemas.microsoft.com/office/drawing/2014/main" xmlns="" val="20000"/>
                    </a:ext>
                  </a:extLst>
                </a:gridCol>
                <a:gridCol w="2060799">
                  <a:extLst>
                    <a:ext uri="{9D8B030D-6E8A-4147-A177-3AD203B41FA5}">
                      <a16:colId xmlns:a16="http://schemas.microsoft.com/office/drawing/2014/main" xmlns="" val="54037669"/>
                    </a:ext>
                  </a:extLst>
                </a:gridCol>
                <a:gridCol w="1778085">
                  <a:extLst>
                    <a:ext uri="{9D8B030D-6E8A-4147-A177-3AD203B41FA5}">
                      <a16:colId xmlns:a16="http://schemas.microsoft.com/office/drawing/2014/main" xmlns="" val="20001"/>
                    </a:ext>
                  </a:extLst>
                </a:gridCol>
                <a:gridCol w="893671">
                  <a:extLst>
                    <a:ext uri="{9D8B030D-6E8A-4147-A177-3AD203B41FA5}">
                      <a16:colId xmlns:a16="http://schemas.microsoft.com/office/drawing/2014/main" xmlns="" val="20002"/>
                    </a:ext>
                  </a:extLst>
                </a:gridCol>
                <a:gridCol w="1064422">
                  <a:extLst>
                    <a:ext uri="{9D8B030D-6E8A-4147-A177-3AD203B41FA5}">
                      <a16:colId xmlns:a16="http://schemas.microsoft.com/office/drawing/2014/main" xmlns="" val="20003"/>
                    </a:ext>
                  </a:extLst>
                </a:gridCol>
                <a:gridCol w="1064422">
                  <a:extLst>
                    <a:ext uri="{9D8B030D-6E8A-4147-A177-3AD203B41FA5}">
                      <a16:colId xmlns:a16="http://schemas.microsoft.com/office/drawing/2014/main" xmlns="" val="20004"/>
                    </a:ext>
                  </a:extLst>
                </a:gridCol>
              </a:tblGrid>
              <a:tr h="427120">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Drug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Initiation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Maintenance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Peak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T</a:t>
                      </a:r>
                      <a:r>
                        <a:rPr lang="en-US" sz="1800" b="1" i="0" baseline="-25000" dirty="0">
                          <a:solidFill>
                            <a:schemeClr val="bg1"/>
                          </a:solidFill>
                          <a:latin typeface="Calibri"/>
                          <a:ea typeface="Calibri"/>
                          <a:cs typeface="Times New Roman"/>
                        </a:rPr>
                        <a:t>1/2</a:t>
                      </a:r>
                      <a:r>
                        <a:rPr lang="en-US" sz="1800" b="1" i="0" baseline="0" dirty="0">
                          <a:solidFill>
                            <a:schemeClr val="bg1"/>
                          </a:solidFill>
                          <a:latin typeface="Calibri"/>
                          <a:ea typeface="Calibri"/>
                          <a:cs typeface="Times New Roman"/>
                        </a:rPr>
                        <a:t> </a:t>
                      </a:r>
                      <a:endParaRPr lang="en-US" sz="1800" b="1" i="0" dirty="0">
                        <a:solidFill>
                          <a:schemeClr val="bg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800" b="1" i="0" dirty="0">
                          <a:solidFill>
                            <a:schemeClr val="bg1"/>
                          </a:solidFill>
                          <a:latin typeface="Calibri"/>
                          <a:ea typeface="Calibri"/>
                          <a:cs typeface="Times New Roman"/>
                        </a:rPr>
                        <a:t>Steady State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xmlns="" val="10000"/>
                  </a:ext>
                </a:extLst>
              </a:tr>
              <a:tr h="1040179">
                <a:tc>
                  <a:txBody>
                    <a:bodyPr/>
                    <a:lstStyle/>
                    <a:p>
                      <a:pPr marL="0" marR="0" algn="l">
                        <a:lnSpc>
                          <a:spcPct val="115000"/>
                        </a:lnSpc>
                        <a:spcBef>
                          <a:spcPts val="0"/>
                        </a:spcBef>
                        <a:spcAft>
                          <a:spcPts val="0"/>
                        </a:spcAft>
                      </a:pPr>
                      <a:r>
                        <a:rPr lang="en-US" sz="1600" b="1" dirty="0">
                          <a:latin typeface="Calibri"/>
                          <a:ea typeface="Calibri"/>
                          <a:cs typeface="Times New Roman"/>
                        </a:rPr>
                        <a:t>Risperidone (Risperdal </a:t>
                      </a:r>
                      <a:r>
                        <a:rPr lang="en-US" sz="1600" b="1" dirty="0" err="1">
                          <a:latin typeface="Calibri"/>
                          <a:ea typeface="Calibri"/>
                          <a:cs typeface="Times New Roman"/>
                        </a:rPr>
                        <a:t>Consta</a:t>
                      </a:r>
                      <a:r>
                        <a:rPr lang="en-US" sz="1600" b="1" dirty="0">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685800" rtl="0" eaLnBrk="1" fontAlgn="auto" latinLnBrk="0" hangingPunct="1">
                        <a:lnSpc>
                          <a:spcPct val="115000"/>
                        </a:lnSpc>
                        <a:spcBef>
                          <a:spcPts val="0"/>
                        </a:spcBef>
                        <a:spcAft>
                          <a:spcPts val="0"/>
                        </a:spcAft>
                        <a:buClrTx/>
                        <a:buSzTx/>
                        <a:buFont typeface="Arial" panose="020B0604020202020204" pitchFamily="34" charset="0"/>
                        <a:buNone/>
                        <a:tabLst/>
                        <a:defRPr/>
                      </a:pPr>
                      <a:r>
                        <a:rPr lang="en-US" sz="1600" b="0" dirty="0">
                          <a:latin typeface="+mn-lt"/>
                          <a:ea typeface="Calibri"/>
                          <a:cs typeface="Times New Roman"/>
                        </a:rPr>
                        <a:t>3</a:t>
                      </a:r>
                      <a:r>
                        <a:rPr lang="en-US" sz="1600" b="0" baseline="0" dirty="0">
                          <a:latin typeface="+mn-lt"/>
                          <a:ea typeface="Calibri"/>
                          <a:cs typeface="Times New Roman"/>
                        </a:rPr>
                        <a:t> week PO overlap</a:t>
                      </a:r>
                      <a:endParaRPr lang="en-US" sz="1600" b="0" dirty="0">
                        <a:latin typeface="+mn-lt"/>
                        <a:ea typeface="Calibri"/>
                        <a:cs typeface="Times New Roman"/>
                      </a:endParaRPr>
                    </a:p>
                    <a:p>
                      <a:pPr marL="0" marR="0" algn="l">
                        <a:lnSpc>
                          <a:spcPct val="115000"/>
                        </a:lnSpc>
                        <a:spcBef>
                          <a:spcPts val="0"/>
                        </a:spcBef>
                        <a:spcAft>
                          <a:spcPts val="0"/>
                        </a:spcAft>
                      </a:pPr>
                      <a:endParaRPr lang="en-US" sz="1600" baseline="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buFont typeface="Arial" panose="020B0604020202020204" pitchFamily="34" charset="0"/>
                        <a:buNone/>
                      </a:pPr>
                      <a:r>
                        <a:rPr lang="en-US" sz="1600" dirty="0">
                          <a:latin typeface="Calibri"/>
                          <a:ea typeface="Calibri"/>
                          <a:cs typeface="Times New Roman"/>
                        </a:rPr>
                        <a:t>25-75</a:t>
                      </a:r>
                      <a:r>
                        <a:rPr lang="en-US" sz="1600" baseline="0" dirty="0">
                          <a:latin typeface="Calibri"/>
                          <a:ea typeface="Calibri"/>
                          <a:cs typeface="Times New Roman"/>
                        </a:rPr>
                        <a:t> mg q2 weeks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600" dirty="0">
                          <a:latin typeface="Calibri"/>
                          <a:ea typeface="Calibri"/>
                          <a:cs typeface="Times New Roman"/>
                        </a:rPr>
                        <a:t>4-5 weeks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600" dirty="0">
                          <a:latin typeface="Calibri"/>
                          <a:ea typeface="Calibri"/>
                          <a:cs typeface="Times New Roman"/>
                        </a:rPr>
                        <a:t>4-5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600" dirty="0">
                          <a:latin typeface="Calibri"/>
                          <a:ea typeface="Calibri"/>
                          <a:cs typeface="Times New Roman"/>
                        </a:rPr>
                        <a:t>8 weeks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393834">
                <a:tc>
                  <a:txBody>
                    <a:bodyPr/>
                    <a:lstStyle/>
                    <a:p>
                      <a:pPr marL="0" marR="0" algn="l">
                        <a:lnSpc>
                          <a:spcPct val="115000"/>
                        </a:lnSpc>
                        <a:spcBef>
                          <a:spcPts val="0"/>
                        </a:spcBef>
                        <a:spcAft>
                          <a:spcPts val="0"/>
                        </a:spcAft>
                      </a:pPr>
                      <a:r>
                        <a:rPr lang="en-US" sz="1600" b="1" dirty="0">
                          <a:latin typeface="Calibri"/>
                          <a:ea typeface="Calibri"/>
                          <a:cs typeface="Times New Roman"/>
                        </a:rPr>
                        <a:t>Paliperidone palmitate (Invega </a:t>
                      </a:r>
                      <a:r>
                        <a:rPr lang="en-US" sz="1600" b="1" baseline="0" dirty="0" err="1">
                          <a:latin typeface="Calibri"/>
                          <a:ea typeface="Calibri"/>
                          <a:cs typeface="Times New Roman"/>
                        </a:rPr>
                        <a:t>Sustenna</a:t>
                      </a:r>
                      <a:r>
                        <a:rPr lang="en-US" sz="1600" b="1" baseline="0" dirty="0">
                          <a:latin typeface="Calibri"/>
                          <a:ea typeface="Calibri"/>
                          <a:cs typeface="Times New Roman"/>
                        </a:rPr>
                        <a:t>)</a:t>
                      </a:r>
                      <a:endParaRPr lang="en-US"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indent="0" algn="l">
                        <a:lnSpc>
                          <a:spcPct val="115000"/>
                        </a:lnSpc>
                        <a:spcBef>
                          <a:spcPts val="0"/>
                        </a:spcBef>
                        <a:spcAft>
                          <a:spcPts val="0"/>
                        </a:spcAft>
                        <a:buFont typeface="Arial" panose="020B0604020202020204" pitchFamily="34" charset="0"/>
                        <a:buNone/>
                      </a:pPr>
                      <a:r>
                        <a:rPr lang="en-US" sz="1600" dirty="0">
                          <a:latin typeface="+mn-lt"/>
                          <a:ea typeface="Calibri"/>
                          <a:cs typeface="Times New Roman"/>
                        </a:rPr>
                        <a:t>Day 1: 234mg </a:t>
                      </a:r>
                    </a:p>
                    <a:p>
                      <a:pPr marL="0" marR="0" indent="0" algn="l">
                        <a:lnSpc>
                          <a:spcPct val="115000"/>
                        </a:lnSpc>
                        <a:spcBef>
                          <a:spcPts val="0"/>
                        </a:spcBef>
                        <a:spcAft>
                          <a:spcPts val="0"/>
                        </a:spcAft>
                        <a:buFont typeface="Arial" panose="020B0604020202020204" pitchFamily="34" charset="0"/>
                        <a:buNone/>
                      </a:pPr>
                      <a:r>
                        <a:rPr lang="en-US" sz="1600" dirty="0">
                          <a:latin typeface="+mn-lt"/>
                          <a:ea typeface="Calibri"/>
                          <a:cs typeface="Times New Roman"/>
                        </a:rPr>
                        <a:t>Day 8: 156</a:t>
                      </a:r>
                      <a:r>
                        <a:rPr lang="en-US" sz="1600" baseline="0" dirty="0">
                          <a:latin typeface="+mn-lt"/>
                          <a:ea typeface="Calibri"/>
                          <a:cs typeface="Times New Roman"/>
                        </a:rPr>
                        <a:t> mg</a:t>
                      </a:r>
                    </a:p>
                    <a:p>
                      <a:pPr marL="0" marR="0" algn="l">
                        <a:lnSpc>
                          <a:spcPct val="115000"/>
                        </a:lnSpc>
                        <a:spcBef>
                          <a:spcPts val="0"/>
                        </a:spcBef>
                        <a:spcAft>
                          <a:spcPts val="0"/>
                        </a:spcAft>
                      </a:pPr>
                      <a:endParaRPr lang="en-US" sz="1600" baseline="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indent="0" algn="l">
                        <a:lnSpc>
                          <a:spcPct val="115000"/>
                        </a:lnSpc>
                        <a:spcBef>
                          <a:spcPts val="0"/>
                        </a:spcBef>
                        <a:spcAft>
                          <a:spcPts val="0"/>
                        </a:spcAft>
                        <a:buFont typeface="Arial" panose="020B0604020202020204" pitchFamily="34" charset="0"/>
                        <a:buNone/>
                      </a:pPr>
                      <a:r>
                        <a:rPr lang="en-US" sz="1600" baseline="0" dirty="0">
                          <a:latin typeface="Calibri"/>
                          <a:ea typeface="Calibri"/>
                          <a:cs typeface="Times New Roman"/>
                        </a:rPr>
                        <a:t>78-234 mg q4 weeks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l">
                        <a:lnSpc>
                          <a:spcPct val="115000"/>
                        </a:lnSpc>
                        <a:spcBef>
                          <a:spcPts val="0"/>
                        </a:spcBef>
                        <a:spcAft>
                          <a:spcPts val="0"/>
                        </a:spcAft>
                      </a:pPr>
                      <a:r>
                        <a:rPr lang="en-US" sz="1600" dirty="0">
                          <a:latin typeface="Calibri"/>
                          <a:ea typeface="Calibri"/>
                          <a:cs typeface="Times New Roman"/>
                        </a:rPr>
                        <a:t>13 days</a:t>
                      </a:r>
                    </a:p>
                    <a:p>
                      <a:pPr marL="0" marR="0" algn="l">
                        <a:lnSpc>
                          <a:spcPct val="115000"/>
                        </a:lnSpc>
                        <a:spcBef>
                          <a:spcPts val="0"/>
                        </a:spcBef>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l">
                        <a:lnSpc>
                          <a:spcPct val="115000"/>
                        </a:lnSpc>
                        <a:spcBef>
                          <a:spcPts val="0"/>
                        </a:spcBef>
                        <a:spcAft>
                          <a:spcPts val="0"/>
                        </a:spcAft>
                      </a:pPr>
                      <a:r>
                        <a:rPr lang="en-US" sz="1600" dirty="0">
                          <a:latin typeface="Calibri"/>
                          <a:ea typeface="Calibri"/>
                          <a:cs typeface="Times New Roman"/>
                        </a:rPr>
                        <a:t>25-49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l">
                        <a:lnSpc>
                          <a:spcPct val="115000"/>
                        </a:lnSpc>
                        <a:spcBef>
                          <a:spcPts val="0"/>
                        </a:spcBef>
                        <a:spcAft>
                          <a:spcPts val="0"/>
                        </a:spcAft>
                      </a:pPr>
                      <a:r>
                        <a:rPr lang="en-US" sz="1600" dirty="0">
                          <a:latin typeface="Calibri"/>
                          <a:ea typeface="Calibri"/>
                          <a:cs typeface="Times New Roman"/>
                        </a:rPr>
                        <a:t>18-35 weeks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2"/>
                  </a:ext>
                </a:extLst>
              </a:tr>
              <a:tr h="1393834">
                <a:tc>
                  <a:txBody>
                    <a:bodyPr/>
                    <a:lstStyle/>
                    <a:p>
                      <a:pPr marL="0" marR="0" algn="l">
                        <a:lnSpc>
                          <a:spcPct val="115000"/>
                        </a:lnSpc>
                        <a:spcBef>
                          <a:spcPts val="0"/>
                        </a:spcBef>
                        <a:spcAft>
                          <a:spcPts val="0"/>
                        </a:spcAft>
                      </a:pPr>
                      <a:r>
                        <a:rPr lang="en-US" sz="1600" b="1" dirty="0" err="1">
                          <a:latin typeface="Calibri"/>
                          <a:ea typeface="Calibri"/>
                          <a:cs typeface="Times New Roman"/>
                        </a:rPr>
                        <a:t>Paliperidone</a:t>
                      </a:r>
                      <a:r>
                        <a:rPr lang="en-US" sz="1600" b="1" dirty="0">
                          <a:latin typeface="Calibri"/>
                          <a:ea typeface="Calibri"/>
                          <a:cs typeface="Times New Roman"/>
                        </a:rPr>
                        <a:t> (</a:t>
                      </a:r>
                      <a:r>
                        <a:rPr lang="en-US" sz="1600" b="1" dirty="0" err="1">
                          <a:latin typeface="Calibri"/>
                          <a:ea typeface="Calibri"/>
                          <a:cs typeface="Times New Roman"/>
                        </a:rPr>
                        <a:t>Invega</a:t>
                      </a:r>
                      <a:r>
                        <a:rPr lang="en-US" sz="1600" b="1" baseline="0" dirty="0">
                          <a:latin typeface="Calibri"/>
                          <a:ea typeface="Calibri"/>
                          <a:cs typeface="Times New Roman"/>
                        </a:rPr>
                        <a:t> </a:t>
                      </a:r>
                      <a:r>
                        <a:rPr lang="en-US" sz="1600" b="1" baseline="0" dirty="0" err="1">
                          <a:latin typeface="Calibri"/>
                          <a:ea typeface="Calibri"/>
                          <a:cs typeface="Times New Roman"/>
                        </a:rPr>
                        <a:t>Trinza</a:t>
                      </a:r>
                      <a:r>
                        <a:rPr lang="en-US" sz="1600" b="1" baseline="0" dirty="0">
                          <a:latin typeface="Calibri"/>
                          <a:ea typeface="Calibri"/>
                          <a:cs typeface="Times New Roman"/>
                        </a:rPr>
                        <a:t>)</a:t>
                      </a:r>
                      <a:r>
                        <a:rPr lang="en-US" sz="1600" b="1" dirty="0">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indent="0" algn="l">
                        <a:lnSpc>
                          <a:spcPct val="115000"/>
                        </a:lnSpc>
                        <a:spcBef>
                          <a:spcPts val="0"/>
                        </a:spcBef>
                        <a:spcAft>
                          <a:spcPts val="0"/>
                        </a:spcAft>
                        <a:buFont typeface="Arial" panose="020B0604020202020204" pitchFamily="34" charset="0"/>
                        <a:buNone/>
                      </a:pPr>
                      <a:r>
                        <a:rPr lang="en-US" sz="1600" baseline="0" dirty="0">
                          <a:latin typeface="Calibri"/>
                          <a:ea typeface="Calibri"/>
                          <a:cs typeface="Times New Roman"/>
                        </a:rPr>
                        <a:t>≥ 4 months with Invega </a:t>
                      </a:r>
                      <a:r>
                        <a:rPr lang="en-US" sz="1600" baseline="0" dirty="0" err="1">
                          <a:latin typeface="Calibri"/>
                          <a:ea typeface="Calibri"/>
                          <a:cs typeface="Times New Roman"/>
                        </a:rPr>
                        <a:t>Sustenna</a:t>
                      </a:r>
                      <a:r>
                        <a:rPr lang="en-US" sz="1600" baseline="0" dirty="0">
                          <a:latin typeface="Calibri"/>
                          <a:ea typeface="Calibri"/>
                          <a:cs typeface="Times New Roman"/>
                        </a:rPr>
                        <a:t> (last 2 doses of </a:t>
                      </a:r>
                      <a:r>
                        <a:rPr lang="en-US" sz="1600" baseline="0" dirty="0" err="1">
                          <a:latin typeface="Calibri"/>
                          <a:ea typeface="Calibri"/>
                          <a:cs typeface="Times New Roman"/>
                        </a:rPr>
                        <a:t>Sustenna</a:t>
                      </a:r>
                      <a:r>
                        <a:rPr lang="en-US" sz="1600" baseline="0" dirty="0">
                          <a:latin typeface="Calibri"/>
                          <a:ea typeface="Calibri"/>
                          <a:cs typeface="Times New Roman"/>
                        </a:rPr>
                        <a:t> should be the same dosage strength)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indent="0" algn="l">
                        <a:lnSpc>
                          <a:spcPct val="115000"/>
                        </a:lnSpc>
                        <a:spcBef>
                          <a:spcPts val="0"/>
                        </a:spcBef>
                        <a:spcAft>
                          <a:spcPts val="0"/>
                        </a:spcAft>
                        <a:buFont typeface="Arial" panose="020B0604020202020204" pitchFamily="34" charset="0"/>
                        <a:buNone/>
                      </a:pPr>
                      <a:r>
                        <a:rPr lang="en-US" sz="1600" baseline="0" dirty="0">
                          <a:latin typeface="Calibri"/>
                          <a:ea typeface="Calibri"/>
                          <a:cs typeface="Times New Roman"/>
                        </a:rPr>
                        <a:t>273mg, 410mg, 546mg, or 819mg q3 months</a:t>
                      </a:r>
                    </a:p>
                    <a:p>
                      <a:pPr marL="0" marR="0" lvl="0" indent="0" algn="l" defTabSz="685800" rtl="0" eaLnBrk="1" fontAlgn="auto" latinLnBrk="0" hangingPunct="1">
                        <a:lnSpc>
                          <a:spcPct val="115000"/>
                        </a:lnSpc>
                        <a:spcBef>
                          <a:spcPts val="0"/>
                        </a:spcBef>
                        <a:spcAft>
                          <a:spcPts val="0"/>
                        </a:spcAft>
                        <a:buClrTx/>
                        <a:buSzTx/>
                        <a:buFont typeface="Arial" panose="020B0604020202020204" pitchFamily="34" charset="0"/>
                        <a:buNone/>
                        <a:tabLst/>
                        <a:defRPr/>
                      </a:pPr>
                      <a:r>
                        <a:rPr lang="en-US" sz="1600" i="1" baseline="0" dirty="0">
                          <a:latin typeface="+mn-lt"/>
                          <a:ea typeface="Calibri"/>
                          <a:cs typeface="Times New Roman"/>
                        </a:rPr>
                        <a:t>(3.5 x IM Invega </a:t>
                      </a:r>
                      <a:r>
                        <a:rPr lang="en-US" sz="1600" i="1" baseline="0" dirty="0" err="1">
                          <a:latin typeface="+mn-lt"/>
                          <a:ea typeface="Calibri"/>
                          <a:cs typeface="Times New Roman"/>
                        </a:rPr>
                        <a:t>Sustenna</a:t>
                      </a:r>
                      <a:r>
                        <a:rPr lang="en-US" sz="1600" i="1" baseline="0" dirty="0">
                          <a:latin typeface="+mn-lt"/>
                          <a:ea typeface="Calibri"/>
                          <a:cs typeface="Times New Roman"/>
                        </a:rPr>
                        <a:t> dose)</a:t>
                      </a:r>
                    </a:p>
                    <a:p>
                      <a:pPr marL="0" marR="0" indent="0" algn="l">
                        <a:lnSpc>
                          <a:spcPct val="115000"/>
                        </a:lnSpc>
                        <a:spcBef>
                          <a:spcPts val="0"/>
                        </a:spcBef>
                        <a:spcAft>
                          <a:spcPts val="0"/>
                        </a:spcAft>
                        <a:buFont typeface="Arial" panose="020B0604020202020204" pitchFamily="34" charset="0"/>
                        <a:buNone/>
                      </a:pPr>
                      <a:endParaRPr lang="en-US" sz="1600" baseline="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gn="l">
                        <a:lnSpc>
                          <a:spcPct val="115000"/>
                        </a:lnSpc>
                        <a:spcBef>
                          <a:spcPts val="0"/>
                        </a:spcBef>
                        <a:spcAft>
                          <a:spcPts val="0"/>
                        </a:spcAft>
                      </a:pPr>
                      <a:r>
                        <a:rPr lang="en-US" sz="1600" dirty="0">
                          <a:latin typeface="Calibri"/>
                          <a:ea typeface="Calibri"/>
                          <a:cs typeface="Times New Roman"/>
                        </a:rPr>
                        <a:t>30-33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gn="l">
                        <a:lnSpc>
                          <a:spcPct val="115000"/>
                        </a:lnSpc>
                        <a:spcBef>
                          <a:spcPts val="0"/>
                        </a:spcBef>
                        <a:spcAft>
                          <a:spcPts val="0"/>
                        </a:spcAft>
                      </a:pPr>
                      <a:r>
                        <a:rPr lang="en-US" sz="1600" dirty="0">
                          <a:latin typeface="Calibri"/>
                          <a:ea typeface="Calibri"/>
                          <a:cs typeface="Times New Roman"/>
                        </a:rPr>
                        <a:t>Deltoid: 84-95 days</a:t>
                      </a:r>
                    </a:p>
                    <a:p>
                      <a:pPr marL="0" marR="0" algn="l">
                        <a:lnSpc>
                          <a:spcPct val="115000"/>
                        </a:lnSpc>
                        <a:spcBef>
                          <a:spcPts val="0"/>
                        </a:spcBef>
                        <a:spcAft>
                          <a:spcPts val="0"/>
                        </a:spcAft>
                      </a:pPr>
                      <a:r>
                        <a:rPr lang="en-US" sz="1600" baseline="0" dirty="0">
                          <a:latin typeface="Calibri"/>
                          <a:ea typeface="Calibri"/>
                          <a:cs typeface="Times New Roman"/>
                        </a:rPr>
                        <a:t> </a:t>
                      </a:r>
                    </a:p>
                    <a:p>
                      <a:pPr marL="0" marR="0" algn="l">
                        <a:lnSpc>
                          <a:spcPct val="115000"/>
                        </a:lnSpc>
                        <a:spcBef>
                          <a:spcPts val="0"/>
                        </a:spcBef>
                        <a:spcAft>
                          <a:spcPts val="0"/>
                        </a:spcAft>
                      </a:pPr>
                      <a:r>
                        <a:rPr lang="en-US" sz="1600" baseline="0" dirty="0">
                          <a:latin typeface="Calibri"/>
                          <a:ea typeface="Calibri"/>
                          <a:cs typeface="Times New Roman"/>
                        </a:rPr>
                        <a:t>Gluteal: 118-139 days</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gn="l">
                        <a:lnSpc>
                          <a:spcPct val="115000"/>
                        </a:lnSpc>
                        <a:spcBef>
                          <a:spcPts val="0"/>
                        </a:spcBef>
                        <a:spcAft>
                          <a:spcPts val="0"/>
                        </a:spcAft>
                      </a:pPr>
                      <a:r>
                        <a:rPr lang="en-US" sz="1600" dirty="0">
                          <a:latin typeface="Calibri"/>
                          <a:ea typeface="Calibri"/>
                          <a:cs typeface="Times New Roman"/>
                        </a:rPr>
                        <a:t>90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xmlns=""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770999876"/>
              </p:ext>
            </p:extLst>
          </p:nvPr>
        </p:nvGraphicFramePr>
        <p:xfrm>
          <a:off x="539386" y="930889"/>
          <a:ext cx="8575490" cy="5285736"/>
        </p:xfrm>
        <a:graphic>
          <a:graphicData uri="http://schemas.openxmlformats.org/drawingml/2006/table">
            <a:tbl>
              <a:tblPr/>
              <a:tblGrid>
                <a:gridCol w="1241657">
                  <a:extLst>
                    <a:ext uri="{9D8B030D-6E8A-4147-A177-3AD203B41FA5}">
                      <a16:colId xmlns:a16="http://schemas.microsoft.com/office/drawing/2014/main" xmlns="" val="20000"/>
                    </a:ext>
                  </a:extLst>
                </a:gridCol>
                <a:gridCol w="2943357">
                  <a:extLst>
                    <a:ext uri="{9D8B030D-6E8A-4147-A177-3AD203B41FA5}">
                      <a16:colId xmlns:a16="http://schemas.microsoft.com/office/drawing/2014/main" xmlns="" val="296547959"/>
                    </a:ext>
                  </a:extLst>
                </a:gridCol>
                <a:gridCol w="1769301">
                  <a:extLst>
                    <a:ext uri="{9D8B030D-6E8A-4147-A177-3AD203B41FA5}">
                      <a16:colId xmlns:a16="http://schemas.microsoft.com/office/drawing/2014/main" xmlns="" val="20001"/>
                    </a:ext>
                  </a:extLst>
                </a:gridCol>
                <a:gridCol w="800850">
                  <a:extLst>
                    <a:ext uri="{9D8B030D-6E8A-4147-A177-3AD203B41FA5}">
                      <a16:colId xmlns:a16="http://schemas.microsoft.com/office/drawing/2014/main" xmlns="" val="20002"/>
                    </a:ext>
                  </a:extLst>
                </a:gridCol>
                <a:gridCol w="763099">
                  <a:extLst>
                    <a:ext uri="{9D8B030D-6E8A-4147-A177-3AD203B41FA5}">
                      <a16:colId xmlns:a16="http://schemas.microsoft.com/office/drawing/2014/main" xmlns="" val="20003"/>
                    </a:ext>
                  </a:extLst>
                </a:gridCol>
                <a:gridCol w="1057226">
                  <a:extLst>
                    <a:ext uri="{9D8B030D-6E8A-4147-A177-3AD203B41FA5}">
                      <a16:colId xmlns:a16="http://schemas.microsoft.com/office/drawing/2014/main" xmlns="" val="20004"/>
                    </a:ext>
                  </a:extLst>
                </a:gridCol>
              </a:tblGrid>
              <a:tr h="678833">
                <a:tc>
                  <a:txBody>
                    <a:bodyPr/>
                    <a:lstStyle/>
                    <a:p>
                      <a:pPr marL="0" marR="0" algn="l">
                        <a:lnSpc>
                          <a:spcPct val="115000"/>
                        </a:lnSpc>
                        <a:spcBef>
                          <a:spcPts val="0"/>
                        </a:spcBef>
                        <a:spcAft>
                          <a:spcPts val="0"/>
                        </a:spcAft>
                      </a:pPr>
                      <a:r>
                        <a:rPr lang="en-US" sz="1500" b="1" i="0" dirty="0">
                          <a:solidFill>
                            <a:schemeClr val="bg1"/>
                          </a:solidFill>
                          <a:latin typeface="Calibri"/>
                          <a:ea typeface="Calibri"/>
                          <a:cs typeface="Times New Roman"/>
                        </a:rPr>
                        <a:t>Drug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500" b="1" i="0" dirty="0">
                          <a:solidFill>
                            <a:schemeClr val="bg1"/>
                          </a:solidFill>
                          <a:latin typeface="Calibri"/>
                          <a:ea typeface="Calibri"/>
                          <a:cs typeface="Times New Roman"/>
                        </a:rPr>
                        <a:t>Initiation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500" b="1" i="0" dirty="0">
                          <a:solidFill>
                            <a:schemeClr val="bg1"/>
                          </a:solidFill>
                          <a:latin typeface="Calibri"/>
                          <a:ea typeface="Calibri"/>
                          <a:cs typeface="Times New Roman"/>
                        </a:rPr>
                        <a:t>Maintenance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500" b="1" i="0" dirty="0">
                          <a:solidFill>
                            <a:schemeClr val="bg1"/>
                          </a:solidFill>
                          <a:latin typeface="Calibri"/>
                          <a:ea typeface="Calibri"/>
                          <a:cs typeface="Times New Roman"/>
                        </a:rPr>
                        <a:t>Peak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500" b="1" i="0" dirty="0">
                          <a:solidFill>
                            <a:schemeClr val="bg1"/>
                          </a:solidFill>
                          <a:latin typeface="Calibri"/>
                          <a:ea typeface="Calibri"/>
                          <a:cs typeface="Times New Roman"/>
                        </a:rPr>
                        <a:t>T</a:t>
                      </a:r>
                      <a:r>
                        <a:rPr lang="en-US" sz="1500" b="1" i="0" baseline="-25000" dirty="0">
                          <a:solidFill>
                            <a:schemeClr val="bg1"/>
                          </a:solidFill>
                          <a:latin typeface="Calibri"/>
                          <a:ea typeface="Calibri"/>
                          <a:cs typeface="Times New Roman"/>
                        </a:rPr>
                        <a:t>1/2</a:t>
                      </a:r>
                      <a:r>
                        <a:rPr lang="en-US" sz="1500" b="1" i="0" baseline="0" dirty="0">
                          <a:solidFill>
                            <a:schemeClr val="bg1"/>
                          </a:solidFill>
                          <a:latin typeface="Calibri"/>
                          <a:ea typeface="Calibri"/>
                          <a:cs typeface="Times New Roman"/>
                        </a:rPr>
                        <a:t> </a:t>
                      </a:r>
                      <a:endParaRPr lang="en-US" sz="1500" b="1" i="0" dirty="0">
                        <a:solidFill>
                          <a:schemeClr val="bg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1500" b="1" i="0" dirty="0">
                          <a:solidFill>
                            <a:schemeClr val="bg1"/>
                          </a:solidFill>
                          <a:latin typeface="Calibri"/>
                          <a:ea typeface="Calibri"/>
                          <a:cs typeface="Times New Roman"/>
                        </a:rPr>
                        <a:t>Steady State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xmlns="" val="10000"/>
                  </a:ext>
                </a:extLst>
              </a:tr>
              <a:tr h="1184619">
                <a:tc>
                  <a:txBody>
                    <a:bodyPr/>
                    <a:lstStyle/>
                    <a:p>
                      <a:pPr marL="0" marR="0" algn="l">
                        <a:lnSpc>
                          <a:spcPct val="115000"/>
                        </a:lnSpc>
                        <a:spcBef>
                          <a:spcPts val="0"/>
                        </a:spcBef>
                        <a:spcAft>
                          <a:spcPts val="0"/>
                        </a:spcAft>
                      </a:pPr>
                      <a:r>
                        <a:rPr lang="en-US" sz="1500" b="1" dirty="0">
                          <a:latin typeface="Calibri"/>
                          <a:ea typeface="Calibri"/>
                          <a:cs typeface="Times New Roman"/>
                        </a:rPr>
                        <a:t>Olanzapine pamoate</a:t>
                      </a:r>
                      <a:r>
                        <a:rPr lang="en-US" sz="1500" b="1" dirty="0">
                          <a:solidFill>
                            <a:schemeClr val="accent1">
                              <a:lumMod val="75000"/>
                            </a:schemeClr>
                          </a:solidFill>
                          <a:latin typeface="Calibri"/>
                          <a:ea typeface="Calibri"/>
                          <a:cs typeface="Times New Roman"/>
                        </a:rPr>
                        <a:t>* </a:t>
                      </a:r>
                      <a:r>
                        <a:rPr lang="en-US" sz="1500" b="1" dirty="0">
                          <a:solidFill>
                            <a:schemeClr val="tx1"/>
                          </a:solidFill>
                          <a:latin typeface="Calibri"/>
                          <a:ea typeface="Calibri"/>
                          <a:cs typeface="Times New Roman"/>
                        </a:rPr>
                        <a:t>(Zyprexa </a:t>
                      </a:r>
                      <a:r>
                        <a:rPr lang="en-US" sz="1500" b="1" dirty="0" err="1">
                          <a:solidFill>
                            <a:schemeClr val="tx1"/>
                          </a:solidFill>
                          <a:latin typeface="Calibri"/>
                          <a:ea typeface="Calibri"/>
                          <a:cs typeface="Times New Roman"/>
                        </a:rPr>
                        <a:t>Relprevv</a:t>
                      </a:r>
                      <a:r>
                        <a:rPr lang="en-US" sz="1500" b="1" dirty="0">
                          <a:solidFill>
                            <a:schemeClr val="tx1"/>
                          </a:solidFill>
                          <a:latin typeface="Calibri"/>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dirty="0">
                          <a:latin typeface="Calibri"/>
                          <a:ea typeface="Calibri"/>
                          <a:cs typeface="Times New Roman"/>
                        </a:rPr>
                        <a:t>Dosing during first 8 weeks depends on established PO dose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dirty="0">
                          <a:latin typeface="Calibri"/>
                          <a:ea typeface="Calibri"/>
                          <a:cs typeface="Times New Roman"/>
                        </a:rPr>
                        <a:t>210-405</a:t>
                      </a:r>
                      <a:r>
                        <a:rPr lang="en-US" sz="1500" baseline="0" dirty="0">
                          <a:latin typeface="Calibri"/>
                          <a:ea typeface="Calibri"/>
                          <a:cs typeface="Times New Roman"/>
                        </a:rPr>
                        <a:t>mg  IM q2-4 weeks</a:t>
                      </a:r>
                      <a:endParaRPr lang="en-US" sz="15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dirty="0">
                          <a:latin typeface="Calibri"/>
                          <a:ea typeface="Calibri"/>
                          <a:cs typeface="Times New Roman"/>
                        </a:rPr>
                        <a:t>~7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dirty="0">
                          <a:latin typeface="Calibri"/>
                          <a:ea typeface="Calibri"/>
                          <a:cs typeface="Times New Roman"/>
                        </a:rPr>
                        <a:t>30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dirty="0">
                          <a:latin typeface="Calibri"/>
                          <a:ea typeface="Calibri"/>
                          <a:cs typeface="Times New Roman"/>
                        </a:rPr>
                        <a:t>90</a:t>
                      </a:r>
                      <a:r>
                        <a:rPr lang="en-US" sz="1500" baseline="0" dirty="0">
                          <a:latin typeface="Calibri"/>
                          <a:ea typeface="Calibri"/>
                          <a:cs typeface="Times New Roman"/>
                        </a:rPr>
                        <a:t> days</a:t>
                      </a:r>
                      <a:endParaRPr lang="en-US" sz="15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907684">
                <a:tc>
                  <a:txBody>
                    <a:bodyPr/>
                    <a:lstStyle/>
                    <a:p>
                      <a:pPr marL="0" marR="0" algn="l">
                        <a:lnSpc>
                          <a:spcPct val="115000"/>
                        </a:lnSpc>
                        <a:spcBef>
                          <a:spcPts val="0"/>
                        </a:spcBef>
                        <a:spcAft>
                          <a:spcPts val="0"/>
                        </a:spcAft>
                      </a:pPr>
                      <a:r>
                        <a:rPr lang="en-US" sz="1500" b="1" dirty="0">
                          <a:latin typeface="Calibri"/>
                          <a:ea typeface="Calibri"/>
                          <a:cs typeface="Times New Roman"/>
                        </a:rPr>
                        <a:t>Aripiprazole (</a:t>
                      </a:r>
                      <a:r>
                        <a:rPr lang="en-US" sz="1500" b="1" dirty="0" err="1">
                          <a:latin typeface="Calibri"/>
                          <a:ea typeface="Calibri"/>
                          <a:cs typeface="Times New Roman"/>
                        </a:rPr>
                        <a:t>Abilify</a:t>
                      </a:r>
                      <a:r>
                        <a:rPr lang="en-US" sz="1500" b="1" baseline="0" dirty="0">
                          <a:latin typeface="Calibri"/>
                          <a:ea typeface="Calibri"/>
                          <a:cs typeface="Times New Roman"/>
                        </a:rPr>
                        <a:t> </a:t>
                      </a:r>
                      <a:r>
                        <a:rPr lang="en-US" sz="1500" b="1" baseline="0" dirty="0" err="1">
                          <a:latin typeface="Calibri"/>
                          <a:ea typeface="Calibri"/>
                          <a:cs typeface="Times New Roman"/>
                        </a:rPr>
                        <a:t>Maintena</a:t>
                      </a:r>
                      <a:r>
                        <a:rPr lang="en-US" sz="1500" b="1" baseline="0" dirty="0">
                          <a:latin typeface="Calibri"/>
                          <a:ea typeface="Calibri"/>
                          <a:cs typeface="Times New Roman"/>
                        </a:rPr>
                        <a:t>)</a:t>
                      </a:r>
                      <a:endParaRPr lang="en-US" sz="15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aseline="0" dirty="0">
                          <a:latin typeface="+mn-lt"/>
                          <a:ea typeface="Calibri"/>
                          <a:cs typeface="Times New Roman"/>
                        </a:rPr>
                        <a:t>14 day PO overlap</a:t>
                      </a:r>
                      <a:endParaRPr lang="en-US" sz="1500" dirty="0">
                        <a:latin typeface="+mn-lt"/>
                        <a:ea typeface="Calibri"/>
                        <a:cs typeface="Times New Roman"/>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500" baseline="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dirty="0">
                          <a:latin typeface="Calibri"/>
                          <a:ea typeface="Calibri"/>
                          <a:cs typeface="Times New Roman"/>
                        </a:rPr>
                        <a:t>300-400</a:t>
                      </a:r>
                      <a:r>
                        <a:rPr lang="en-US" sz="1500" baseline="0" dirty="0">
                          <a:latin typeface="Calibri"/>
                          <a:ea typeface="Calibri"/>
                          <a:cs typeface="Times New Roman"/>
                        </a:rPr>
                        <a:t>mg IM q4wks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l">
                        <a:lnSpc>
                          <a:spcPct val="115000"/>
                        </a:lnSpc>
                        <a:spcBef>
                          <a:spcPts val="0"/>
                        </a:spcBef>
                        <a:spcAft>
                          <a:spcPts val="0"/>
                        </a:spcAft>
                      </a:pPr>
                      <a:r>
                        <a:rPr lang="en-US" sz="1500" dirty="0">
                          <a:latin typeface="Calibri"/>
                          <a:ea typeface="Calibri"/>
                          <a:cs typeface="Times New Roman"/>
                        </a:rPr>
                        <a:t>5-7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l">
                        <a:lnSpc>
                          <a:spcPct val="115000"/>
                        </a:lnSpc>
                        <a:spcBef>
                          <a:spcPts val="0"/>
                        </a:spcBef>
                        <a:spcAft>
                          <a:spcPts val="0"/>
                        </a:spcAft>
                      </a:pPr>
                      <a:r>
                        <a:rPr lang="en-US" sz="1500" dirty="0">
                          <a:latin typeface="Calibri"/>
                          <a:ea typeface="Calibri"/>
                          <a:cs typeface="Times New Roman"/>
                        </a:rPr>
                        <a:t>30-</a:t>
                      </a:r>
                      <a:r>
                        <a:rPr lang="en-US" sz="1500" baseline="0" dirty="0">
                          <a:latin typeface="Calibri"/>
                          <a:ea typeface="Calibri"/>
                          <a:cs typeface="Times New Roman"/>
                        </a:rPr>
                        <a:t>46.5 days</a:t>
                      </a:r>
                      <a:endParaRPr lang="en-US" sz="15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l">
                        <a:lnSpc>
                          <a:spcPct val="115000"/>
                        </a:lnSpc>
                        <a:spcBef>
                          <a:spcPts val="0"/>
                        </a:spcBef>
                        <a:spcAft>
                          <a:spcPts val="0"/>
                        </a:spcAft>
                      </a:pPr>
                      <a:r>
                        <a:rPr lang="en-US" sz="1500" dirty="0">
                          <a:latin typeface="Calibri"/>
                          <a:ea typeface="Calibri"/>
                          <a:cs typeface="Times New Roman"/>
                        </a:rPr>
                        <a:t>4-5</a:t>
                      </a:r>
                      <a:r>
                        <a:rPr lang="en-US" sz="1500" baseline="0" dirty="0">
                          <a:latin typeface="Calibri"/>
                          <a:ea typeface="Calibri"/>
                          <a:cs typeface="Times New Roman"/>
                        </a:rPr>
                        <a:t> months</a:t>
                      </a:r>
                      <a:endParaRPr lang="en-US" sz="15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2"/>
                  </a:ext>
                </a:extLst>
              </a:tr>
              <a:tr h="1802681">
                <a:tc>
                  <a:txBody>
                    <a:bodyPr/>
                    <a:lstStyle/>
                    <a:p>
                      <a:pPr marL="0" marR="0" algn="l">
                        <a:lnSpc>
                          <a:spcPct val="115000"/>
                        </a:lnSpc>
                        <a:spcBef>
                          <a:spcPts val="0"/>
                        </a:spcBef>
                        <a:spcAft>
                          <a:spcPts val="0"/>
                        </a:spcAft>
                      </a:pPr>
                      <a:r>
                        <a:rPr lang="en-US" sz="1500" b="1" dirty="0">
                          <a:latin typeface="Calibri"/>
                          <a:ea typeface="Calibri"/>
                          <a:cs typeface="Times New Roman"/>
                        </a:rPr>
                        <a:t>Aripiprazole </a:t>
                      </a:r>
                      <a:r>
                        <a:rPr lang="en-US" sz="1500" b="1" dirty="0" err="1">
                          <a:latin typeface="Calibri"/>
                          <a:ea typeface="Calibri"/>
                          <a:cs typeface="Times New Roman"/>
                        </a:rPr>
                        <a:t>Lauroxil</a:t>
                      </a:r>
                      <a:r>
                        <a:rPr lang="en-US" sz="1500" b="1" baseline="0" dirty="0">
                          <a:latin typeface="Calibri"/>
                          <a:ea typeface="Calibri"/>
                          <a:cs typeface="Times New Roman"/>
                        </a:rPr>
                        <a:t> (</a:t>
                      </a:r>
                      <a:r>
                        <a:rPr lang="en-US" sz="1500" b="1" baseline="0" dirty="0" err="1">
                          <a:latin typeface="Calibri"/>
                          <a:ea typeface="Calibri"/>
                          <a:cs typeface="Times New Roman"/>
                        </a:rPr>
                        <a:t>Aristada</a:t>
                      </a:r>
                      <a:r>
                        <a:rPr lang="en-US" sz="1500" b="1" baseline="0" dirty="0">
                          <a:latin typeface="Calibri"/>
                          <a:ea typeface="Calibri"/>
                          <a:cs typeface="Times New Roman"/>
                        </a:rPr>
                        <a:t>)</a:t>
                      </a:r>
                      <a:endParaRPr lang="en-US" sz="15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aseline="0" dirty="0">
                          <a:latin typeface="+mn-lt"/>
                          <a:ea typeface="Calibri"/>
                          <a:cs typeface="Times New Roman"/>
                        </a:rPr>
                        <a:t>2 options for initiation (pick one):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500" baseline="0" dirty="0" err="1">
                          <a:latin typeface="+mn-lt"/>
                          <a:ea typeface="Calibri"/>
                          <a:cs typeface="Times New Roman"/>
                        </a:rPr>
                        <a:t>Aristada</a:t>
                      </a:r>
                      <a:r>
                        <a:rPr lang="en-US" sz="1500" baseline="0" dirty="0">
                          <a:latin typeface="+mn-lt"/>
                          <a:ea typeface="Calibri"/>
                          <a:cs typeface="Times New Roman"/>
                        </a:rPr>
                        <a:t> INITIO: 675mg IM single dose + 1 dose PO aripiprazole 30mg </a:t>
                      </a:r>
                    </a:p>
                    <a:p>
                      <a:pPr marL="685800" marR="0" lvl="1" indent="-342900" algn="l" defTabSz="914400" rtl="0" eaLnBrk="1" fontAlgn="auto" latinLnBrk="0" hangingPunct="1">
                        <a:lnSpc>
                          <a:spcPct val="100000"/>
                        </a:lnSpc>
                        <a:spcBef>
                          <a:spcPts val="0"/>
                        </a:spcBef>
                        <a:spcAft>
                          <a:spcPts val="0"/>
                        </a:spcAft>
                        <a:buClrTx/>
                        <a:buSzTx/>
                        <a:buFont typeface="+mj-lt"/>
                        <a:buAutoNum type="alphaLcParenR"/>
                        <a:tabLst/>
                        <a:defRPr/>
                      </a:pPr>
                      <a:r>
                        <a:rPr lang="en-US" sz="1500" baseline="0" dirty="0">
                          <a:latin typeface="+mn-lt"/>
                          <a:ea typeface="Calibri"/>
                          <a:cs typeface="Times New Roman"/>
                        </a:rPr>
                        <a:t>Can give 1</a:t>
                      </a:r>
                      <a:r>
                        <a:rPr lang="en-US" sz="1500" baseline="30000" dirty="0">
                          <a:latin typeface="+mn-lt"/>
                          <a:ea typeface="Calibri"/>
                          <a:cs typeface="Times New Roman"/>
                        </a:rPr>
                        <a:t>st</a:t>
                      </a:r>
                      <a:r>
                        <a:rPr lang="en-US" sz="1500" baseline="0" dirty="0">
                          <a:latin typeface="+mn-lt"/>
                          <a:ea typeface="Calibri"/>
                          <a:cs typeface="Times New Roman"/>
                        </a:rPr>
                        <a:t> maintenance dose on the same day, OR</a:t>
                      </a:r>
                    </a:p>
                    <a:p>
                      <a:pPr marL="685800" marR="0" lvl="1" indent="-342900" algn="l" defTabSz="914400" rtl="0" eaLnBrk="1" fontAlgn="auto" latinLnBrk="0" hangingPunct="1">
                        <a:lnSpc>
                          <a:spcPct val="100000"/>
                        </a:lnSpc>
                        <a:spcBef>
                          <a:spcPts val="0"/>
                        </a:spcBef>
                        <a:spcAft>
                          <a:spcPts val="0"/>
                        </a:spcAft>
                        <a:buClrTx/>
                        <a:buSzTx/>
                        <a:buFont typeface="+mj-lt"/>
                        <a:buAutoNum type="alphaLcParenR"/>
                        <a:tabLst/>
                        <a:defRPr/>
                      </a:pPr>
                      <a:r>
                        <a:rPr lang="en-US" sz="1500" baseline="0" dirty="0">
                          <a:latin typeface="+mn-lt"/>
                          <a:ea typeface="Calibri"/>
                          <a:cs typeface="Times New Roman"/>
                        </a:rPr>
                        <a:t>Can give 1</a:t>
                      </a:r>
                      <a:r>
                        <a:rPr lang="en-US" sz="1500" baseline="30000" dirty="0">
                          <a:latin typeface="+mn-lt"/>
                          <a:ea typeface="Calibri"/>
                          <a:cs typeface="Times New Roman"/>
                        </a:rPr>
                        <a:t>st</a:t>
                      </a:r>
                      <a:r>
                        <a:rPr lang="en-US" sz="1500" baseline="0" dirty="0">
                          <a:latin typeface="+mn-lt"/>
                          <a:ea typeface="Calibri"/>
                          <a:cs typeface="Times New Roman"/>
                        </a:rPr>
                        <a:t> maintenance dose up to 10 days after INITIO dose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500" baseline="0" dirty="0">
                          <a:latin typeface="+mn-lt"/>
                          <a:ea typeface="Calibri"/>
                          <a:cs typeface="Times New Roman"/>
                        </a:rPr>
                        <a:t>If </a:t>
                      </a:r>
                      <a:r>
                        <a:rPr lang="en-US" sz="1500" b="1" u="sng" baseline="0" dirty="0">
                          <a:latin typeface="+mn-lt"/>
                          <a:ea typeface="Calibri"/>
                          <a:cs typeface="Times New Roman"/>
                        </a:rPr>
                        <a:t>not</a:t>
                      </a:r>
                      <a:r>
                        <a:rPr lang="en-US" sz="1500" baseline="0" dirty="0">
                          <a:latin typeface="+mn-lt"/>
                          <a:ea typeface="Calibri"/>
                          <a:cs typeface="Times New Roman"/>
                        </a:rPr>
                        <a:t> using INITIO, need 21 days PO overlap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dirty="0">
                          <a:latin typeface="Calibri"/>
                          <a:ea typeface="Calibri"/>
                          <a:cs typeface="Times New Roman"/>
                        </a:rPr>
                        <a:t>10mg PO/day = 441mg IM q4wks</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500" dirty="0">
                        <a:latin typeface="Calibri"/>
                        <a:ea typeface="Calibri"/>
                        <a:cs typeface="Times New Roman"/>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dirty="0">
                          <a:latin typeface="Calibri"/>
                          <a:ea typeface="Calibri"/>
                          <a:cs typeface="Times New Roman"/>
                        </a:rPr>
                        <a:t>15mg PO/day= 662mg</a:t>
                      </a:r>
                      <a:r>
                        <a:rPr lang="en-US" sz="1500" baseline="0" dirty="0">
                          <a:latin typeface="Calibri"/>
                          <a:ea typeface="Calibri"/>
                          <a:cs typeface="Times New Roman"/>
                        </a:rPr>
                        <a:t> q4wks, OR 882mg q6wks, OR</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aseline="0" dirty="0">
                          <a:latin typeface="Calibri"/>
                          <a:ea typeface="Calibri"/>
                          <a:cs typeface="Times New Roman"/>
                        </a:rPr>
                        <a:t>1064mg q8wks</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500" baseline="0" dirty="0">
                        <a:latin typeface="Calibri"/>
                        <a:ea typeface="Calibri"/>
                        <a:cs typeface="Times New Roman"/>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aseline="0" dirty="0">
                          <a:latin typeface="Calibri"/>
                          <a:ea typeface="Calibri"/>
                          <a:cs typeface="Times New Roman"/>
                        </a:rPr>
                        <a:t>≥20mg PO/day= 882mg q4weeks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gn="l">
                        <a:lnSpc>
                          <a:spcPct val="115000"/>
                        </a:lnSpc>
                        <a:spcBef>
                          <a:spcPts val="0"/>
                        </a:spcBef>
                        <a:spcAft>
                          <a:spcPts val="0"/>
                        </a:spcAft>
                      </a:pPr>
                      <a:r>
                        <a:rPr lang="en-US" sz="1500" dirty="0">
                          <a:latin typeface="Calibri"/>
                          <a:ea typeface="Calibri"/>
                          <a:cs typeface="Times New Roman"/>
                        </a:rPr>
                        <a:t>4 days</a:t>
                      </a:r>
                    </a:p>
                    <a:p>
                      <a:pPr marL="0" marR="0" algn="l">
                        <a:lnSpc>
                          <a:spcPct val="115000"/>
                        </a:lnSpc>
                        <a:spcBef>
                          <a:spcPts val="0"/>
                        </a:spcBef>
                        <a:spcAft>
                          <a:spcPts val="0"/>
                        </a:spcAft>
                      </a:pPr>
                      <a:endParaRPr lang="en-US" sz="1500" dirty="0">
                        <a:latin typeface="Calibri"/>
                        <a:ea typeface="Calibri"/>
                        <a:cs typeface="Times New Roman"/>
                      </a:endParaRPr>
                    </a:p>
                    <a:p>
                      <a:pPr marL="0" marR="0" algn="l">
                        <a:lnSpc>
                          <a:spcPct val="115000"/>
                        </a:lnSpc>
                        <a:spcBef>
                          <a:spcPts val="0"/>
                        </a:spcBef>
                        <a:spcAft>
                          <a:spcPts val="0"/>
                        </a:spcAft>
                      </a:pPr>
                      <a:endParaRPr lang="en-US" sz="1500" dirty="0">
                        <a:latin typeface="Calibri"/>
                        <a:ea typeface="Calibri"/>
                        <a:cs typeface="Times New Roman"/>
                      </a:endParaRPr>
                    </a:p>
                    <a:p>
                      <a:pPr marL="0" marR="0" algn="l">
                        <a:lnSpc>
                          <a:spcPct val="115000"/>
                        </a:lnSpc>
                        <a:spcBef>
                          <a:spcPts val="0"/>
                        </a:spcBef>
                        <a:spcAft>
                          <a:spcPts val="0"/>
                        </a:spcAft>
                      </a:pPr>
                      <a:r>
                        <a:rPr lang="en-US" sz="1500" dirty="0">
                          <a:latin typeface="Calibri"/>
                          <a:ea typeface="Calibri"/>
                          <a:cs typeface="Times New Roman"/>
                        </a:rPr>
                        <a:t>INITIO:</a:t>
                      </a:r>
                    </a:p>
                    <a:p>
                      <a:pPr marL="0" marR="0" algn="l">
                        <a:lnSpc>
                          <a:spcPct val="115000"/>
                        </a:lnSpc>
                        <a:spcBef>
                          <a:spcPts val="0"/>
                        </a:spcBef>
                        <a:spcAft>
                          <a:spcPts val="0"/>
                        </a:spcAft>
                      </a:pPr>
                      <a:r>
                        <a:rPr lang="en-US" sz="1500" dirty="0">
                          <a:latin typeface="Calibri"/>
                          <a:ea typeface="Calibri"/>
                          <a:cs typeface="Times New Roman"/>
                        </a:rPr>
                        <a:t>4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gn="l">
                        <a:lnSpc>
                          <a:spcPct val="115000"/>
                        </a:lnSpc>
                        <a:spcBef>
                          <a:spcPts val="0"/>
                        </a:spcBef>
                        <a:spcAft>
                          <a:spcPts val="0"/>
                        </a:spcAft>
                      </a:pPr>
                      <a:r>
                        <a:rPr lang="en-US" sz="1500" dirty="0">
                          <a:latin typeface="Calibri"/>
                          <a:ea typeface="Calibri"/>
                          <a:cs typeface="Times New Roman"/>
                        </a:rPr>
                        <a:t>53-57 days</a:t>
                      </a:r>
                    </a:p>
                    <a:p>
                      <a:pPr marL="0" marR="0" algn="l">
                        <a:lnSpc>
                          <a:spcPct val="115000"/>
                        </a:lnSpc>
                        <a:spcBef>
                          <a:spcPts val="0"/>
                        </a:spcBef>
                        <a:spcAft>
                          <a:spcPts val="0"/>
                        </a:spcAft>
                      </a:pPr>
                      <a:endParaRPr lang="en-US" sz="1500" dirty="0">
                        <a:latin typeface="Calibri"/>
                        <a:ea typeface="Calibri"/>
                        <a:cs typeface="Times New Roman"/>
                      </a:endParaRPr>
                    </a:p>
                    <a:p>
                      <a:pPr marL="0" marR="0" algn="l">
                        <a:lnSpc>
                          <a:spcPct val="115000"/>
                        </a:lnSpc>
                        <a:spcBef>
                          <a:spcPts val="0"/>
                        </a:spcBef>
                        <a:spcAft>
                          <a:spcPts val="0"/>
                        </a:spcAft>
                      </a:pPr>
                      <a:r>
                        <a:rPr lang="en-US" sz="1500" dirty="0">
                          <a:latin typeface="Calibri"/>
                          <a:ea typeface="Calibri"/>
                          <a:cs typeface="Times New Roman"/>
                        </a:rPr>
                        <a:t>INITIO:</a:t>
                      </a:r>
                    </a:p>
                    <a:p>
                      <a:pPr marL="0" marR="0" algn="l">
                        <a:lnSpc>
                          <a:spcPct val="115000"/>
                        </a:lnSpc>
                        <a:spcBef>
                          <a:spcPts val="0"/>
                        </a:spcBef>
                        <a:spcAft>
                          <a:spcPts val="0"/>
                        </a:spcAft>
                      </a:pPr>
                      <a:r>
                        <a:rPr lang="en-US" sz="1500" dirty="0">
                          <a:latin typeface="Calibri"/>
                          <a:ea typeface="Calibri"/>
                          <a:cs typeface="Times New Roman"/>
                        </a:rPr>
                        <a:t>15-18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gn="l">
                        <a:lnSpc>
                          <a:spcPct val="115000"/>
                        </a:lnSpc>
                        <a:spcBef>
                          <a:spcPts val="0"/>
                        </a:spcBef>
                        <a:spcAft>
                          <a:spcPts val="0"/>
                        </a:spcAft>
                      </a:pPr>
                      <a:r>
                        <a:rPr lang="en-US" sz="1500" dirty="0">
                          <a:latin typeface="Calibri"/>
                          <a:ea typeface="Calibri"/>
                          <a:cs typeface="Times New Roman"/>
                        </a:rPr>
                        <a:t>4 months</a:t>
                      </a:r>
                    </a:p>
                    <a:p>
                      <a:pPr marL="0" marR="0" algn="l">
                        <a:lnSpc>
                          <a:spcPct val="115000"/>
                        </a:lnSpc>
                        <a:spcBef>
                          <a:spcPts val="0"/>
                        </a:spcBef>
                        <a:spcAft>
                          <a:spcPts val="0"/>
                        </a:spcAft>
                      </a:pPr>
                      <a:endParaRPr lang="en-US" sz="1500" dirty="0">
                        <a:latin typeface="Calibri"/>
                        <a:ea typeface="Calibri"/>
                        <a:cs typeface="Times New Roman"/>
                      </a:endParaRPr>
                    </a:p>
                    <a:p>
                      <a:pPr marL="0" marR="0" algn="l">
                        <a:lnSpc>
                          <a:spcPct val="115000"/>
                        </a:lnSpc>
                        <a:spcBef>
                          <a:spcPts val="0"/>
                        </a:spcBef>
                        <a:spcAft>
                          <a:spcPts val="0"/>
                        </a:spcAft>
                      </a:pPr>
                      <a:endParaRPr lang="en-US" sz="1500" dirty="0">
                        <a:latin typeface="Calibri"/>
                        <a:ea typeface="Calibri"/>
                        <a:cs typeface="Times New Roman"/>
                      </a:endParaRPr>
                    </a:p>
                    <a:p>
                      <a:pPr marL="0" marR="0" algn="l">
                        <a:lnSpc>
                          <a:spcPct val="115000"/>
                        </a:lnSpc>
                        <a:spcBef>
                          <a:spcPts val="0"/>
                        </a:spcBef>
                        <a:spcAft>
                          <a:spcPts val="0"/>
                        </a:spcAft>
                      </a:pPr>
                      <a:r>
                        <a:rPr lang="en-US" sz="1500" dirty="0">
                          <a:latin typeface="Calibri"/>
                          <a:ea typeface="Calibri"/>
                          <a:cs typeface="Times New Roman"/>
                        </a:rPr>
                        <a:t>INITIO:</a:t>
                      </a:r>
                    </a:p>
                    <a:p>
                      <a:pPr marL="0" marR="0" algn="l">
                        <a:lnSpc>
                          <a:spcPct val="115000"/>
                        </a:lnSpc>
                        <a:spcBef>
                          <a:spcPts val="0"/>
                        </a:spcBef>
                        <a:spcAft>
                          <a:spcPts val="0"/>
                        </a:spcAft>
                      </a:pPr>
                      <a:r>
                        <a:rPr lang="en-US" sz="1500" dirty="0">
                          <a:latin typeface="Calibri"/>
                          <a:ea typeface="Calibri"/>
                          <a:cs typeface="Times New Roman"/>
                        </a:rPr>
                        <a:t>N/A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xmlns="" val="10003"/>
                  </a:ext>
                </a:extLst>
              </a:tr>
            </a:tbl>
          </a:graphicData>
        </a:graphic>
      </p:graphicFrame>
      <p:sp>
        <p:nvSpPr>
          <p:cNvPr id="7" name="Title 1"/>
          <p:cNvSpPr txBox="1">
            <a:spLocks/>
          </p:cNvSpPr>
          <p:nvPr/>
        </p:nvSpPr>
        <p:spPr>
          <a:xfrm>
            <a:off x="685800" y="250019"/>
            <a:ext cx="8131163" cy="1037897"/>
          </a:xfrm>
          <a:prstGeom prst="rect">
            <a:avLst/>
          </a:prstGeom>
        </p:spPr>
        <p:txBody>
          <a:bodyPr vert="horz" lIns="91440" tIns="45720" rIns="91440" bIns="45720" rtlCol="0" anchor="t">
            <a:normAutofit fontScale="92500"/>
          </a:bodyPr>
          <a:lst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4000" b="1" dirty="0"/>
              <a:t>2</a:t>
            </a:r>
            <a:r>
              <a:rPr lang="en-US" sz="4000" b="1" baseline="30000" dirty="0"/>
              <a:t>nd</a:t>
            </a:r>
            <a:r>
              <a:rPr lang="en-US" sz="4000" b="1" dirty="0"/>
              <a:t> Generation Antipsychotics: LAI</a:t>
            </a:r>
          </a:p>
        </p:txBody>
      </p:sp>
      <p:sp>
        <p:nvSpPr>
          <p:cNvPr id="2" name="Rectangle 1">
            <a:extLst>
              <a:ext uri="{FF2B5EF4-FFF2-40B4-BE49-F238E27FC236}">
                <a16:creationId xmlns:a16="http://schemas.microsoft.com/office/drawing/2014/main" xmlns="" id="{AC7D5AEA-15B4-4622-BCD4-39C910E5559F}"/>
              </a:ext>
            </a:extLst>
          </p:cNvPr>
          <p:cNvSpPr/>
          <p:nvPr/>
        </p:nvSpPr>
        <p:spPr>
          <a:xfrm>
            <a:off x="545030" y="6323758"/>
            <a:ext cx="8569846" cy="553998"/>
          </a:xfrm>
          <a:prstGeom prst="rect">
            <a:avLst/>
          </a:prstGeom>
        </p:spPr>
        <p:txBody>
          <a:bodyPr wrap="square">
            <a:spAutoFit/>
          </a:bodyPr>
          <a:lstStyle/>
          <a:p>
            <a:pPr lvl="0" defTabSz="914400">
              <a:defRPr/>
            </a:pPr>
            <a:r>
              <a:rPr lang="en-US" sz="1500" dirty="0"/>
              <a:t>*Patients receiving olanzapine LAI must be monitored 3 hours post injection for post-injection delirium sedation syndrome (&lt;1% incidence)</a:t>
            </a:r>
          </a:p>
        </p:txBody>
      </p:sp>
    </p:spTree>
    <p:extLst>
      <p:ext uri="{BB962C8B-B14F-4D97-AF65-F5344CB8AC3E}">
        <p14:creationId xmlns:p14="http://schemas.microsoft.com/office/powerpoint/2010/main" val="511158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769" y="1301361"/>
            <a:ext cx="7427231" cy="2584839"/>
          </a:xfrm>
        </p:spPr>
        <p:txBody>
          <a:bodyPr>
            <a:normAutofit fontScale="90000"/>
          </a:bodyPr>
          <a:lstStyle/>
          <a:p>
            <a:r>
              <a:rPr lang="en-US" sz="7000" dirty="0"/>
              <a:t>Adverse reaction profiles</a:t>
            </a:r>
          </a:p>
        </p:txBody>
      </p:sp>
      <p:sp>
        <p:nvSpPr>
          <p:cNvPr id="5" name="Text Placeholder 4">
            <a:extLst>
              <a:ext uri="{FF2B5EF4-FFF2-40B4-BE49-F238E27FC236}">
                <a16:creationId xmlns:a16="http://schemas.microsoft.com/office/drawing/2014/main" xmlns="" id="{A87DC659-B0F8-4C8E-9506-6C7FCCC749A4}"/>
              </a:ext>
            </a:extLst>
          </p:cNvPr>
          <p:cNvSpPr>
            <a:spLocks noGrp="1"/>
          </p:cNvSpPr>
          <p:nvPr>
            <p:ph type="body" idx="1"/>
          </p:nvPr>
        </p:nvSpPr>
        <p:spPr>
          <a:xfrm>
            <a:off x="573769" y="4216328"/>
            <a:ext cx="7209728" cy="1651072"/>
          </a:xfrm>
        </p:spPr>
        <p:txBody>
          <a:bodyPr>
            <a:normAutofit fontScale="92500" lnSpcReduction="20000"/>
          </a:bodyPr>
          <a:lstStyle/>
          <a:p>
            <a:pPr algn="l"/>
            <a:r>
              <a:rPr lang="en-US" dirty="0"/>
              <a:t>ROADMAP</a:t>
            </a:r>
          </a:p>
          <a:p>
            <a:pPr marL="342900" indent="-342900" algn="l">
              <a:buFont typeface="+mj-lt"/>
              <a:buAutoNum type="arabicPeriod"/>
            </a:pPr>
            <a:r>
              <a:rPr lang="en-US" dirty="0"/>
              <a:t>Extrapyramidal side effects</a:t>
            </a:r>
          </a:p>
          <a:p>
            <a:pPr marL="342900" indent="-342900" algn="l">
              <a:buFont typeface="+mj-lt"/>
              <a:buAutoNum type="arabicPeriod"/>
            </a:pPr>
            <a:r>
              <a:rPr lang="en-US" dirty="0"/>
              <a:t>Neuroleptic malignant syndrome</a:t>
            </a:r>
          </a:p>
          <a:p>
            <a:pPr marL="342900" indent="-342900" algn="l">
              <a:buFont typeface="+mj-lt"/>
              <a:buAutoNum type="arabicPeriod"/>
            </a:pPr>
            <a:r>
              <a:rPr lang="en-US" dirty="0"/>
              <a:t>EKG changes </a:t>
            </a:r>
          </a:p>
          <a:p>
            <a:pPr marL="342900" indent="-342900" algn="l">
              <a:buFont typeface="+mj-lt"/>
              <a:buAutoNum type="arabicPeriod"/>
            </a:pPr>
            <a:r>
              <a:rPr lang="en-US" dirty="0"/>
              <a:t>Endocrine </a:t>
            </a:r>
          </a:p>
          <a:p>
            <a:pPr marL="342900" indent="-342900" algn="l">
              <a:buFont typeface="+mj-lt"/>
              <a:buAutoNum type="arabicPeriod"/>
            </a:pPr>
            <a:r>
              <a:rPr lang="en-US" dirty="0"/>
              <a:t>Metabolic</a:t>
            </a:r>
          </a:p>
        </p:txBody>
      </p:sp>
    </p:spTree>
    <p:extLst>
      <p:ext uri="{BB962C8B-B14F-4D97-AF65-F5344CB8AC3E}">
        <p14:creationId xmlns:p14="http://schemas.microsoft.com/office/powerpoint/2010/main" val="2289705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243245"/>
            <a:ext cx="8458200" cy="1066800"/>
          </a:xfrm>
        </p:spPr>
        <p:txBody>
          <a:bodyPr>
            <a:normAutofit/>
          </a:bodyPr>
          <a:lstStyle/>
          <a:p>
            <a:r>
              <a:rPr lang="en-US" sz="4000" b="1" dirty="0"/>
              <a:t>Extrapyramidal Side Effects</a:t>
            </a:r>
          </a:p>
        </p:txBody>
      </p:sp>
      <p:sp>
        <p:nvSpPr>
          <p:cNvPr id="3" name="Content Placeholder 2"/>
          <p:cNvSpPr>
            <a:spLocks noGrp="1"/>
          </p:cNvSpPr>
          <p:nvPr>
            <p:ph idx="1"/>
          </p:nvPr>
        </p:nvSpPr>
        <p:spPr>
          <a:xfrm>
            <a:off x="685800" y="1219200"/>
            <a:ext cx="8534400" cy="4267200"/>
          </a:xfrm>
        </p:spPr>
        <p:txBody>
          <a:bodyPr>
            <a:normAutofit/>
          </a:bodyPr>
          <a:lstStyle/>
          <a:p>
            <a:r>
              <a:rPr lang="en-US" sz="2600" dirty="0"/>
              <a:t>More commonly seen with 1</a:t>
            </a:r>
            <a:r>
              <a:rPr lang="en-US" sz="2600" baseline="30000" dirty="0"/>
              <a:t>st</a:t>
            </a:r>
            <a:r>
              <a:rPr lang="en-US" sz="2600" dirty="0"/>
              <a:t> generation antipsychotics</a:t>
            </a:r>
          </a:p>
        </p:txBody>
      </p:sp>
      <p:graphicFrame>
        <p:nvGraphicFramePr>
          <p:cNvPr id="4" name="Diagram 3"/>
          <p:cNvGraphicFramePr/>
          <p:nvPr>
            <p:extLst>
              <p:ext uri="{D42A27DB-BD31-4B8C-83A1-F6EECF244321}">
                <p14:modId xmlns:p14="http://schemas.microsoft.com/office/powerpoint/2010/main" val="1625822856"/>
              </p:ext>
            </p:extLst>
          </p:nvPr>
        </p:nvGraphicFramePr>
        <p:xfrm>
          <a:off x="1562100" y="1634918"/>
          <a:ext cx="67818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762000" y="6447710"/>
            <a:ext cx="7772400" cy="246221"/>
          </a:xfrm>
          <a:prstGeom prst="rect">
            <a:avLst/>
          </a:prstGeom>
          <a:noFill/>
        </p:spPr>
        <p:txBody>
          <a:bodyPr wrap="square" rtlCol="0">
            <a:spAutoFit/>
          </a:bodyPr>
          <a:lstStyle/>
          <a:p>
            <a:r>
              <a:rPr lang="en-US" sz="1000" dirty="0"/>
              <a:t>Blanchet PJ. Antipsychotic drug-induced movement disorders. Can J </a:t>
            </a:r>
            <a:r>
              <a:rPr lang="en-US" sz="1000" dirty="0" err="1"/>
              <a:t>Neurol</a:t>
            </a:r>
            <a:r>
              <a:rPr lang="en-US" sz="1000" dirty="0"/>
              <a:t> Sci. 2003 Mar;30 </a:t>
            </a:r>
            <a:r>
              <a:rPr lang="en-US" sz="1000" dirty="0" err="1"/>
              <a:t>Suppl</a:t>
            </a:r>
            <a:r>
              <a:rPr lang="en-US" sz="1000" dirty="0"/>
              <a:t> 1:S101-7.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229600" cy="1066800"/>
          </a:xfrm>
        </p:spPr>
        <p:txBody>
          <a:bodyPr>
            <a:normAutofit/>
          </a:bodyPr>
          <a:lstStyle/>
          <a:p>
            <a:r>
              <a:rPr lang="en-US" sz="4000" b="1" dirty="0"/>
              <a:t>Acute Dystonia</a:t>
            </a:r>
          </a:p>
        </p:txBody>
      </p:sp>
      <p:sp>
        <p:nvSpPr>
          <p:cNvPr id="6" name="Content Placeholder 2"/>
          <p:cNvSpPr>
            <a:spLocks noGrp="1"/>
          </p:cNvSpPr>
          <p:nvPr>
            <p:ph idx="1"/>
          </p:nvPr>
        </p:nvSpPr>
        <p:spPr>
          <a:xfrm>
            <a:off x="914400" y="1219200"/>
            <a:ext cx="8001000" cy="5082206"/>
          </a:xfrm>
        </p:spPr>
        <p:txBody>
          <a:bodyPr>
            <a:normAutofit/>
          </a:bodyPr>
          <a:lstStyle/>
          <a:p>
            <a:r>
              <a:rPr lang="en-US" sz="2800" dirty="0"/>
              <a:t>Onset</a:t>
            </a:r>
          </a:p>
          <a:p>
            <a:pPr lvl="1"/>
            <a:r>
              <a:rPr lang="en-US" sz="2400" i="0" dirty="0"/>
              <a:t>1 to 3 days from initiation of medication </a:t>
            </a:r>
          </a:p>
          <a:p>
            <a:r>
              <a:rPr lang="en-US" sz="2800" dirty="0"/>
              <a:t>Presentation</a:t>
            </a:r>
          </a:p>
          <a:p>
            <a:pPr lvl="1"/>
            <a:r>
              <a:rPr lang="en-US" sz="2400" i="0" dirty="0"/>
              <a:t>Painful muscle contraction (more often face/neck)</a:t>
            </a:r>
          </a:p>
          <a:p>
            <a:pPr lvl="1"/>
            <a:r>
              <a:rPr lang="en-US" sz="2400" i="0" dirty="0"/>
              <a:t>Usually high-potency antipsychotics at high doses</a:t>
            </a:r>
          </a:p>
          <a:p>
            <a:r>
              <a:rPr lang="en-US" sz="2800" dirty="0"/>
              <a:t>Treatment</a:t>
            </a:r>
          </a:p>
          <a:p>
            <a:pPr lvl="1"/>
            <a:r>
              <a:rPr lang="en-US" sz="2400" i="0" dirty="0"/>
              <a:t>Anticholinergic Agents</a:t>
            </a:r>
          </a:p>
          <a:p>
            <a:pPr lvl="2"/>
            <a:r>
              <a:rPr lang="en-US" sz="2000" i="0" dirty="0"/>
              <a:t>Diphenhydramine (Benadryl®) 25-50mg IM</a:t>
            </a:r>
          </a:p>
          <a:p>
            <a:pPr lvl="2"/>
            <a:r>
              <a:rPr lang="en-US" sz="2000" i="0" dirty="0" err="1"/>
              <a:t>Benztropine</a:t>
            </a:r>
            <a:r>
              <a:rPr lang="en-US" sz="2000" i="0" dirty="0"/>
              <a:t> (Cogentin®) 1-2mg IM</a:t>
            </a:r>
          </a:p>
          <a:p>
            <a:pPr lvl="1"/>
            <a:endParaRPr lang="en-US" sz="2800" i="0" dirty="0"/>
          </a:p>
        </p:txBody>
      </p:sp>
      <p:sp>
        <p:nvSpPr>
          <p:cNvPr id="5" name="TextBox 4"/>
          <p:cNvSpPr txBox="1"/>
          <p:nvPr/>
        </p:nvSpPr>
        <p:spPr>
          <a:xfrm>
            <a:off x="762000" y="6447710"/>
            <a:ext cx="7772400" cy="246221"/>
          </a:xfrm>
          <a:prstGeom prst="rect">
            <a:avLst/>
          </a:prstGeom>
          <a:noFill/>
        </p:spPr>
        <p:txBody>
          <a:bodyPr wrap="square" rtlCol="0">
            <a:spAutoFit/>
          </a:bodyPr>
          <a:lstStyle/>
          <a:p>
            <a:r>
              <a:rPr lang="en-US" sz="1000" dirty="0"/>
              <a:t>Blanchet PJ. Antipsychotic drug-induced movement disorders. Can J </a:t>
            </a:r>
            <a:r>
              <a:rPr lang="en-US" sz="1000" dirty="0" err="1"/>
              <a:t>Neurol</a:t>
            </a:r>
            <a:r>
              <a:rPr lang="en-US" sz="1000" dirty="0"/>
              <a:t> Sci. 2003 Mar;30 </a:t>
            </a:r>
            <a:r>
              <a:rPr lang="en-US" sz="1000" dirty="0" err="1"/>
              <a:t>Suppl</a:t>
            </a:r>
            <a:r>
              <a:rPr lang="en-US" sz="1000" dirty="0"/>
              <a:t> 1:S101-7.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272" y="304800"/>
            <a:ext cx="8229600" cy="1066800"/>
          </a:xfrm>
        </p:spPr>
        <p:txBody>
          <a:bodyPr>
            <a:normAutofit/>
          </a:bodyPr>
          <a:lstStyle/>
          <a:p>
            <a:r>
              <a:rPr lang="en-US" sz="4000" b="1" dirty="0" err="1"/>
              <a:t>Pseudoparkinsonism</a:t>
            </a:r>
            <a:endParaRPr lang="en-US" sz="4000" b="1" dirty="0"/>
          </a:p>
        </p:txBody>
      </p:sp>
      <p:sp>
        <p:nvSpPr>
          <p:cNvPr id="6" name="Content Placeholder 2"/>
          <p:cNvSpPr>
            <a:spLocks noGrp="1"/>
          </p:cNvSpPr>
          <p:nvPr>
            <p:ph idx="1"/>
          </p:nvPr>
        </p:nvSpPr>
        <p:spPr>
          <a:xfrm>
            <a:off x="914400" y="1219200"/>
            <a:ext cx="8001000" cy="5228510"/>
          </a:xfrm>
        </p:spPr>
        <p:txBody>
          <a:bodyPr>
            <a:normAutofit/>
          </a:bodyPr>
          <a:lstStyle/>
          <a:p>
            <a:r>
              <a:rPr lang="en-US" sz="2800" dirty="0"/>
              <a:t>Onset</a:t>
            </a:r>
          </a:p>
          <a:p>
            <a:pPr lvl="1"/>
            <a:r>
              <a:rPr lang="en-US" sz="2400" i="0" dirty="0"/>
              <a:t>1 to 3 months from initiation of medication </a:t>
            </a:r>
          </a:p>
          <a:p>
            <a:r>
              <a:rPr lang="en-US" sz="2800" dirty="0"/>
              <a:t>Presentation</a:t>
            </a:r>
          </a:p>
          <a:p>
            <a:pPr lvl="1"/>
            <a:r>
              <a:rPr lang="en-US" sz="2400" i="0" dirty="0"/>
              <a:t>Gait disturbance, cogwheel rigidity, bradykinesia, etc.</a:t>
            </a:r>
          </a:p>
          <a:p>
            <a:pPr lvl="1"/>
            <a:r>
              <a:rPr lang="en-US" sz="2400" i="0" dirty="0"/>
              <a:t>Usually high-potency antipsychotics at high doses</a:t>
            </a:r>
          </a:p>
          <a:p>
            <a:r>
              <a:rPr lang="en-US" sz="2800" dirty="0"/>
              <a:t>Treatment</a:t>
            </a:r>
          </a:p>
          <a:p>
            <a:pPr lvl="1"/>
            <a:r>
              <a:rPr lang="en-US" sz="2400" i="0" dirty="0"/>
              <a:t>Change to a different agent or decrease the dose</a:t>
            </a:r>
          </a:p>
          <a:p>
            <a:pPr lvl="1"/>
            <a:r>
              <a:rPr lang="en-US" sz="2400" i="0" dirty="0"/>
              <a:t>Anticholinergic Agents</a:t>
            </a:r>
          </a:p>
          <a:p>
            <a:pPr lvl="2"/>
            <a:r>
              <a:rPr lang="en-US" sz="2000" i="0" dirty="0"/>
              <a:t>Diphenhydramine (Benadryl®) 50-200mg orally</a:t>
            </a:r>
          </a:p>
          <a:p>
            <a:pPr lvl="2"/>
            <a:r>
              <a:rPr lang="en-US" sz="2000" i="0" dirty="0" err="1"/>
              <a:t>Benztropine</a:t>
            </a:r>
            <a:r>
              <a:rPr lang="en-US" sz="2000" i="0" dirty="0"/>
              <a:t> (Cogentin®) 4-10mg orally</a:t>
            </a:r>
          </a:p>
          <a:p>
            <a:pPr lvl="2"/>
            <a:r>
              <a:rPr lang="en-US" sz="2000" i="0" dirty="0"/>
              <a:t>Trihexyphenidyl (</a:t>
            </a:r>
            <a:r>
              <a:rPr lang="en-US" sz="2000" i="0" dirty="0" err="1"/>
              <a:t>Artane</a:t>
            </a:r>
            <a:r>
              <a:rPr lang="en-US" sz="2000" i="0" dirty="0"/>
              <a:t>®) 4-20mg orally</a:t>
            </a:r>
          </a:p>
        </p:txBody>
      </p:sp>
      <p:sp>
        <p:nvSpPr>
          <p:cNvPr id="4" name="TextBox 3"/>
          <p:cNvSpPr txBox="1"/>
          <p:nvPr/>
        </p:nvSpPr>
        <p:spPr>
          <a:xfrm>
            <a:off x="880872" y="6447710"/>
            <a:ext cx="7772400" cy="246221"/>
          </a:xfrm>
          <a:prstGeom prst="rect">
            <a:avLst/>
          </a:prstGeom>
          <a:noFill/>
        </p:spPr>
        <p:txBody>
          <a:bodyPr wrap="square" rtlCol="0">
            <a:spAutoFit/>
          </a:bodyPr>
          <a:lstStyle/>
          <a:p>
            <a:r>
              <a:rPr lang="en-US" sz="1000" dirty="0"/>
              <a:t>Blanchet PJ. Antipsychotic drug-induced movement disorders. Can J </a:t>
            </a:r>
            <a:r>
              <a:rPr lang="en-US" sz="1000" dirty="0" err="1"/>
              <a:t>Neurol</a:t>
            </a:r>
            <a:r>
              <a:rPr lang="en-US" sz="1000" dirty="0"/>
              <a:t> Sci. 2003 Mar;30 </a:t>
            </a:r>
            <a:r>
              <a:rPr lang="en-US" sz="1000" dirty="0" err="1"/>
              <a:t>Suppl</a:t>
            </a:r>
            <a:r>
              <a:rPr lang="en-US" sz="1000" dirty="0"/>
              <a:t> 1:S101-7.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228600"/>
            <a:ext cx="8229600" cy="1066800"/>
          </a:xfrm>
        </p:spPr>
        <p:txBody>
          <a:bodyPr>
            <a:normAutofit/>
          </a:bodyPr>
          <a:lstStyle/>
          <a:p>
            <a:r>
              <a:rPr lang="en-US" sz="4000" b="1" dirty="0"/>
              <a:t>Akathisia</a:t>
            </a:r>
          </a:p>
        </p:txBody>
      </p:sp>
      <p:sp>
        <p:nvSpPr>
          <p:cNvPr id="6" name="Content Placeholder 2"/>
          <p:cNvSpPr>
            <a:spLocks noGrp="1"/>
          </p:cNvSpPr>
          <p:nvPr>
            <p:ph idx="1"/>
          </p:nvPr>
        </p:nvSpPr>
        <p:spPr>
          <a:xfrm>
            <a:off x="914400" y="1219200"/>
            <a:ext cx="8001000" cy="5228510"/>
          </a:xfrm>
        </p:spPr>
        <p:txBody>
          <a:bodyPr>
            <a:normAutofit/>
          </a:bodyPr>
          <a:lstStyle/>
          <a:p>
            <a:r>
              <a:rPr lang="en-US" sz="2800" dirty="0"/>
              <a:t>Onset</a:t>
            </a:r>
          </a:p>
          <a:p>
            <a:pPr lvl="1"/>
            <a:r>
              <a:rPr lang="en-US" sz="2400" i="0" dirty="0"/>
              <a:t>~3 months from initiation of medication </a:t>
            </a:r>
          </a:p>
          <a:p>
            <a:r>
              <a:rPr lang="en-US" sz="2800" dirty="0"/>
              <a:t>Presentation</a:t>
            </a:r>
          </a:p>
          <a:p>
            <a:pPr lvl="1"/>
            <a:r>
              <a:rPr lang="en-US" sz="2400" i="0" dirty="0"/>
              <a:t>Subjective restlessness, jitteriness, fidgeting, pacing</a:t>
            </a:r>
          </a:p>
          <a:p>
            <a:pPr lvl="1"/>
            <a:r>
              <a:rPr lang="en-US" sz="2400" i="0" dirty="0"/>
              <a:t>Usually high-potency APs at high doses, fast titration</a:t>
            </a:r>
          </a:p>
          <a:p>
            <a:r>
              <a:rPr lang="en-US" sz="2800" dirty="0"/>
              <a:t>Treatment</a:t>
            </a:r>
          </a:p>
          <a:p>
            <a:pPr lvl="1"/>
            <a:r>
              <a:rPr lang="en-US" sz="2400" i="0" dirty="0"/>
              <a:t>Decrease dose or change agent</a:t>
            </a:r>
          </a:p>
          <a:p>
            <a:pPr lvl="1"/>
            <a:r>
              <a:rPr lang="en-US" sz="2400" i="0" dirty="0"/>
              <a:t>Propranolol (Inderal®) 10-20mg TID</a:t>
            </a:r>
          </a:p>
          <a:p>
            <a:pPr lvl="1"/>
            <a:r>
              <a:rPr lang="en-US" sz="2400" i="0" dirty="0"/>
              <a:t>Mirtazapine 15mg daily </a:t>
            </a:r>
          </a:p>
          <a:p>
            <a:pPr lvl="1"/>
            <a:r>
              <a:rPr lang="en-US" sz="2400" i="0" dirty="0"/>
              <a:t>Rarely: Lorazepam (Ativan®)0.5-2mg daily</a:t>
            </a:r>
          </a:p>
          <a:p>
            <a:pPr lvl="1"/>
            <a:endParaRPr lang="en-US" sz="2400" i="0" dirty="0"/>
          </a:p>
        </p:txBody>
      </p:sp>
      <p:sp>
        <p:nvSpPr>
          <p:cNvPr id="4" name="TextBox 3"/>
          <p:cNvSpPr txBox="1"/>
          <p:nvPr/>
        </p:nvSpPr>
        <p:spPr>
          <a:xfrm>
            <a:off x="762000" y="6400800"/>
            <a:ext cx="7772400" cy="400110"/>
          </a:xfrm>
          <a:prstGeom prst="rect">
            <a:avLst/>
          </a:prstGeom>
          <a:noFill/>
        </p:spPr>
        <p:txBody>
          <a:bodyPr wrap="square" rtlCol="0">
            <a:spAutoFit/>
          </a:bodyPr>
          <a:lstStyle/>
          <a:p>
            <a:r>
              <a:rPr lang="en-US" sz="1000" dirty="0"/>
              <a:t>Salem H, </a:t>
            </a:r>
            <a:r>
              <a:rPr lang="en-US" sz="1000" dirty="0" err="1"/>
              <a:t>Nagpal</a:t>
            </a:r>
            <a:r>
              <a:rPr lang="en-US" sz="1000" dirty="0"/>
              <a:t> C, </a:t>
            </a:r>
            <a:r>
              <a:rPr lang="en-US" sz="1000" dirty="0" err="1"/>
              <a:t>Pigott</a:t>
            </a:r>
            <a:r>
              <a:rPr lang="en-US" sz="1000" dirty="0"/>
              <a:t> T, </a:t>
            </a:r>
            <a:r>
              <a:rPr lang="en-US" sz="1000" dirty="0" err="1"/>
              <a:t>Teizeira</a:t>
            </a:r>
            <a:r>
              <a:rPr lang="en-US" sz="1000" dirty="0"/>
              <a:t> AL. Revisiting Antipsychotic-induced Akathisia: Current Issues and Prospective Challenges. </a:t>
            </a:r>
            <a:r>
              <a:rPr lang="en-US" sz="1000" dirty="0" err="1"/>
              <a:t>Curr</a:t>
            </a:r>
            <a:r>
              <a:rPr lang="en-US" sz="1000" dirty="0"/>
              <a:t> </a:t>
            </a:r>
            <a:r>
              <a:rPr lang="en-US" sz="1000" dirty="0" err="1"/>
              <a:t>Neuropharmacol</a:t>
            </a:r>
            <a:r>
              <a:rPr lang="en-US" sz="1000" dirty="0"/>
              <a:t>. 2017;15(5):789-98.</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229600" cy="1066800"/>
          </a:xfrm>
        </p:spPr>
        <p:txBody>
          <a:bodyPr>
            <a:normAutofit/>
          </a:bodyPr>
          <a:lstStyle/>
          <a:p>
            <a:r>
              <a:rPr lang="en-US" sz="4000" b="1" dirty="0"/>
              <a:t>Tardive Dyskinesia</a:t>
            </a:r>
          </a:p>
        </p:txBody>
      </p:sp>
      <p:sp>
        <p:nvSpPr>
          <p:cNvPr id="6" name="Content Placeholder 2"/>
          <p:cNvSpPr>
            <a:spLocks noGrp="1"/>
          </p:cNvSpPr>
          <p:nvPr>
            <p:ph idx="1"/>
          </p:nvPr>
        </p:nvSpPr>
        <p:spPr>
          <a:xfrm>
            <a:off x="914400" y="1219200"/>
            <a:ext cx="8001000" cy="5228510"/>
          </a:xfrm>
        </p:spPr>
        <p:txBody>
          <a:bodyPr>
            <a:normAutofit lnSpcReduction="10000"/>
          </a:bodyPr>
          <a:lstStyle/>
          <a:p>
            <a:r>
              <a:rPr lang="en-US" sz="2800" dirty="0"/>
              <a:t>Onset</a:t>
            </a:r>
          </a:p>
          <a:p>
            <a:pPr lvl="1"/>
            <a:r>
              <a:rPr lang="en-US" sz="2400" i="0" dirty="0"/>
              <a:t>Rate of 3% per year</a:t>
            </a:r>
          </a:p>
          <a:p>
            <a:r>
              <a:rPr lang="en-US" sz="2800" dirty="0"/>
              <a:t>Presentation</a:t>
            </a:r>
          </a:p>
          <a:p>
            <a:pPr lvl="1"/>
            <a:r>
              <a:rPr lang="en-US" sz="2400" i="0" dirty="0"/>
              <a:t>Repetitive involuntary movements (typically mouth/face)</a:t>
            </a:r>
          </a:p>
          <a:p>
            <a:pPr lvl="1"/>
            <a:r>
              <a:rPr lang="en-US" sz="2400" i="0" dirty="0"/>
              <a:t>May be irreversible</a:t>
            </a:r>
          </a:p>
          <a:p>
            <a:pPr lvl="1"/>
            <a:r>
              <a:rPr lang="en-US" sz="2400" i="0" dirty="0"/>
              <a:t>More likely in elderly, females</a:t>
            </a:r>
          </a:p>
          <a:p>
            <a:r>
              <a:rPr lang="en-US" sz="2800" dirty="0"/>
              <a:t>Treatment</a:t>
            </a:r>
          </a:p>
          <a:p>
            <a:pPr lvl="1"/>
            <a:r>
              <a:rPr lang="en-US" sz="2400" i="0" dirty="0"/>
              <a:t>Remove anticholinergic drugs </a:t>
            </a:r>
          </a:p>
          <a:p>
            <a:pPr lvl="1"/>
            <a:r>
              <a:rPr lang="en-US" sz="2400" i="0" dirty="0"/>
              <a:t>Give minimum effective dose of antipsychotic</a:t>
            </a:r>
          </a:p>
          <a:p>
            <a:pPr lvl="1"/>
            <a:r>
              <a:rPr lang="en-US" sz="2400" i="0" dirty="0"/>
              <a:t>Switch to an atypical antipsychotic (</a:t>
            </a:r>
            <a:r>
              <a:rPr lang="en-US" sz="2400" i="0" dirty="0" err="1"/>
              <a:t>ie</a:t>
            </a:r>
            <a:r>
              <a:rPr lang="en-US" sz="2400" i="0" dirty="0"/>
              <a:t>. clozapine)</a:t>
            </a:r>
          </a:p>
          <a:p>
            <a:pPr lvl="1"/>
            <a:r>
              <a:rPr lang="en-US" sz="2400" i="0" dirty="0"/>
              <a:t>VMAT</a:t>
            </a:r>
            <a:r>
              <a:rPr lang="en-US" sz="2400" i="0" baseline="-25000" dirty="0"/>
              <a:t>2</a:t>
            </a:r>
            <a:r>
              <a:rPr lang="en-US" sz="2400" i="0" dirty="0"/>
              <a:t>-inhibitors</a:t>
            </a:r>
          </a:p>
        </p:txBody>
      </p:sp>
      <p:sp>
        <p:nvSpPr>
          <p:cNvPr id="5" name="TextBox 4"/>
          <p:cNvSpPr txBox="1"/>
          <p:nvPr/>
        </p:nvSpPr>
        <p:spPr>
          <a:xfrm>
            <a:off x="762000" y="6447710"/>
            <a:ext cx="7772400" cy="246221"/>
          </a:xfrm>
          <a:prstGeom prst="rect">
            <a:avLst/>
          </a:prstGeom>
          <a:noFill/>
        </p:spPr>
        <p:txBody>
          <a:bodyPr wrap="square" rtlCol="0">
            <a:spAutoFit/>
          </a:bodyPr>
          <a:lstStyle/>
          <a:p>
            <a:r>
              <a:rPr lang="en-US" sz="1000" dirty="0"/>
              <a:t>Blanchet PJ. Antipsychotic drug-induced movement disorders. Can J </a:t>
            </a:r>
            <a:r>
              <a:rPr lang="en-US" sz="1000" dirty="0" err="1"/>
              <a:t>Neurol</a:t>
            </a:r>
            <a:r>
              <a:rPr lang="en-US" sz="1000" dirty="0"/>
              <a:t> Sci. 2003 Mar;30 </a:t>
            </a:r>
            <a:r>
              <a:rPr lang="en-US" sz="1000" dirty="0" err="1"/>
              <a:t>Suppl</a:t>
            </a:r>
            <a:r>
              <a:rPr lang="en-US" sz="1000" dirty="0"/>
              <a:t> 1:S101-7.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9FBF5F-7B0A-4EC7-886D-277D22877DC7}"/>
              </a:ext>
            </a:extLst>
          </p:cNvPr>
          <p:cNvSpPr>
            <a:spLocks noGrp="1"/>
          </p:cNvSpPr>
          <p:nvPr>
            <p:ph type="title"/>
          </p:nvPr>
        </p:nvSpPr>
        <p:spPr/>
        <p:txBody>
          <a:bodyPr>
            <a:normAutofit/>
          </a:bodyPr>
          <a:lstStyle/>
          <a:p>
            <a:r>
              <a:rPr lang="en-US" sz="4000" b="1" dirty="0"/>
              <a:t>VMAT</a:t>
            </a:r>
            <a:r>
              <a:rPr lang="en-US" sz="4000" b="1" baseline="-25000" dirty="0"/>
              <a:t>2</a:t>
            </a:r>
            <a:r>
              <a:rPr lang="en-US" sz="4000" b="1" dirty="0"/>
              <a:t>-inhibitors</a:t>
            </a:r>
          </a:p>
        </p:txBody>
      </p:sp>
      <p:sp>
        <p:nvSpPr>
          <p:cNvPr id="3" name="Content Placeholder 2">
            <a:extLst>
              <a:ext uri="{FF2B5EF4-FFF2-40B4-BE49-F238E27FC236}">
                <a16:creationId xmlns:a16="http://schemas.microsoft.com/office/drawing/2014/main" xmlns="" id="{DA170C5B-416B-4590-A3FD-9E044C91AE7A}"/>
              </a:ext>
            </a:extLst>
          </p:cNvPr>
          <p:cNvSpPr>
            <a:spLocks noGrp="1"/>
          </p:cNvSpPr>
          <p:nvPr>
            <p:ph idx="1"/>
          </p:nvPr>
        </p:nvSpPr>
        <p:spPr>
          <a:xfrm>
            <a:off x="1028700" y="1524000"/>
            <a:ext cx="7200900" cy="4648200"/>
          </a:xfrm>
        </p:spPr>
        <p:txBody>
          <a:bodyPr>
            <a:normAutofit lnSpcReduction="10000"/>
          </a:bodyPr>
          <a:lstStyle/>
          <a:p>
            <a:r>
              <a:rPr lang="en-US" dirty="0"/>
              <a:t>Decrease uptake of monoamines into synaptic vesicles, depletes monoamine stores</a:t>
            </a:r>
          </a:p>
          <a:p>
            <a:r>
              <a:rPr lang="en-US" dirty="0" err="1"/>
              <a:t>Valbenazine</a:t>
            </a:r>
            <a:endParaRPr lang="en-US" dirty="0"/>
          </a:p>
          <a:p>
            <a:pPr lvl="1"/>
            <a:r>
              <a:rPr lang="en-US" i="0" dirty="0"/>
              <a:t>40-80mg once daily </a:t>
            </a:r>
          </a:p>
          <a:p>
            <a:pPr lvl="1"/>
            <a:r>
              <a:rPr lang="en-US" i="0" dirty="0"/>
              <a:t>Dose adjust for CYP3A4 and CYP2D6 inhibitors/inducers</a:t>
            </a:r>
          </a:p>
          <a:p>
            <a:pPr lvl="1"/>
            <a:r>
              <a:rPr lang="en-US" i="0" dirty="0"/>
              <a:t>Side effects: drowsiness, sedation</a:t>
            </a:r>
          </a:p>
          <a:p>
            <a:r>
              <a:rPr lang="en-US" dirty="0" err="1"/>
              <a:t>Deutetrabenazine</a:t>
            </a:r>
            <a:endParaRPr lang="en-US" dirty="0"/>
          </a:p>
          <a:p>
            <a:pPr lvl="1"/>
            <a:r>
              <a:rPr lang="en-US" i="0" u="sng" dirty="0"/>
              <a:t>Boxed warning: </a:t>
            </a:r>
            <a:r>
              <a:rPr lang="en-US" i="0" dirty="0"/>
              <a:t>depression and suicidality in patients with Huntington disease</a:t>
            </a:r>
          </a:p>
          <a:p>
            <a:pPr lvl="1"/>
            <a:r>
              <a:rPr lang="en-US" i="0" dirty="0"/>
              <a:t>Contraindicated in hepatic impairment</a:t>
            </a:r>
          </a:p>
          <a:p>
            <a:pPr lvl="1"/>
            <a:r>
              <a:rPr lang="en-US" i="0" dirty="0"/>
              <a:t>6- 48mg daily in 2 divided doses</a:t>
            </a:r>
          </a:p>
          <a:p>
            <a:pPr lvl="1"/>
            <a:r>
              <a:rPr lang="en-US" i="0" dirty="0"/>
              <a:t>Dose adjust for CYP2D6 inhibitors</a:t>
            </a:r>
          </a:p>
          <a:p>
            <a:pPr lvl="1"/>
            <a:r>
              <a:rPr lang="en-US" i="0" dirty="0"/>
              <a:t>Side effects: drowsiness, insomnia, anxiety</a:t>
            </a:r>
            <a:endParaRPr lang="en-US" dirty="0"/>
          </a:p>
        </p:txBody>
      </p:sp>
      <p:sp>
        <p:nvSpPr>
          <p:cNvPr id="4" name="Rectangle 3">
            <a:extLst>
              <a:ext uri="{FF2B5EF4-FFF2-40B4-BE49-F238E27FC236}">
                <a16:creationId xmlns:a16="http://schemas.microsoft.com/office/drawing/2014/main" xmlns="" id="{A347A62E-2A08-43C9-AF1B-865E29A3D089}"/>
              </a:ext>
            </a:extLst>
          </p:cNvPr>
          <p:cNvSpPr/>
          <p:nvPr/>
        </p:nvSpPr>
        <p:spPr>
          <a:xfrm>
            <a:off x="685800" y="6257836"/>
            <a:ext cx="8077200" cy="423193"/>
          </a:xfrm>
          <a:prstGeom prst="rect">
            <a:avLst/>
          </a:prstGeom>
        </p:spPr>
        <p:txBody>
          <a:bodyPr wrap="square">
            <a:spAutoFit/>
          </a:bodyPr>
          <a:lstStyle/>
          <a:p>
            <a:r>
              <a:rPr lang="en-US" sz="1050" dirty="0" err="1">
                <a:latin typeface="Calibri" panose="020F0502020204030204" pitchFamily="34" charset="0"/>
                <a:ea typeface="Calibri" panose="020F0502020204030204" pitchFamily="34" charset="0"/>
                <a:cs typeface="Times New Roman" panose="02020603050405020304" pitchFamily="18" charset="0"/>
              </a:rPr>
              <a:t>Ingrezza</a:t>
            </a:r>
            <a:r>
              <a:rPr lang="en-US" sz="1050" dirty="0">
                <a:latin typeface="Calibri" panose="020F0502020204030204" pitchFamily="34" charset="0"/>
                <a:ea typeface="Calibri" panose="020F0502020204030204" pitchFamily="34" charset="0"/>
                <a:cs typeface="Times New Roman" panose="02020603050405020304" pitchFamily="18" charset="0"/>
              </a:rPr>
              <a:t> [package insert]. San Diego, CA: </a:t>
            </a:r>
            <a:r>
              <a:rPr lang="en-US" sz="1050" dirty="0" err="1">
                <a:latin typeface="Calibri" panose="020F0502020204030204" pitchFamily="34" charset="0"/>
                <a:ea typeface="Calibri" panose="020F0502020204030204" pitchFamily="34" charset="0"/>
                <a:cs typeface="Times New Roman" panose="02020603050405020304" pitchFamily="18" charset="0"/>
              </a:rPr>
              <a:t>Neurocrine</a:t>
            </a:r>
            <a:r>
              <a:rPr lang="en-US" sz="1050" dirty="0">
                <a:latin typeface="Calibri" panose="020F0502020204030204" pitchFamily="34" charset="0"/>
                <a:ea typeface="Calibri" panose="020F0502020204030204" pitchFamily="34" charset="0"/>
                <a:cs typeface="Times New Roman" panose="02020603050405020304" pitchFamily="18" charset="0"/>
              </a:rPr>
              <a:t> Biosciences, Inc; Oct 2017.</a:t>
            </a:r>
          </a:p>
          <a:p>
            <a:r>
              <a:rPr lang="en-US" sz="1050" dirty="0" err="1">
                <a:latin typeface="Calibri" panose="020F0502020204030204" pitchFamily="34" charset="0"/>
                <a:cs typeface="Times New Roman" panose="02020603050405020304" pitchFamily="18" charset="0"/>
              </a:rPr>
              <a:t>Austedo</a:t>
            </a:r>
            <a:r>
              <a:rPr lang="en-US" sz="1050" dirty="0">
                <a:latin typeface="Calibri" panose="020F0502020204030204" pitchFamily="34" charset="0"/>
                <a:cs typeface="Times New Roman" panose="02020603050405020304" pitchFamily="18" charset="0"/>
              </a:rPr>
              <a:t> [package insert]. North Wales, PA: Teva Pharmaceuticals, Inc; April 2017.</a:t>
            </a:r>
            <a:endParaRPr lang="en-US" sz="1100" dirty="0"/>
          </a:p>
        </p:txBody>
      </p:sp>
    </p:spTree>
    <p:extLst>
      <p:ext uri="{BB962C8B-B14F-4D97-AF65-F5344CB8AC3E}">
        <p14:creationId xmlns:p14="http://schemas.microsoft.com/office/powerpoint/2010/main" val="741699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229600" cy="1066800"/>
          </a:xfrm>
        </p:spPr>
        <p:txBody>
          <a:bodyPr>
            <a:noAutofit/>
          </a:bodyPr>
          <a:lstStyle/>
          <a:p>
            <a:r>
              <a:rPr lang="en-US" sz="3600" b="1" dirty="0"/>
              <a:t>Rating Scales: Extrapyramidal Effects</a:t>
            </a:r>
          </a:p>
        </p:txBody>
      </p:sp>
      <p:sp>
        <p:nvSpPr>
          <p:cNvPr id="3" name="Content Placeholder 2"/>
          <p:cNvSpPr>
            <a:spLocks noGrp="1"/>
          </p:cNvSpPr>
          <p:nvPr>
            <p:ph idx="1"/>
          </p:nvPr>
        </p:nvSpPr>
        <p:spPr>
          <a:xfrm>
            <a:off x="685800" y="1143000"/>
            <a:ext cx="8229600" cy="4898136"/>
          </a:xfrm>
        </p:spPr>
        <p:txBody>
          <a:bodyPr>
            <a:normAutofit/>
          </a:bodyPr>
          <a:lstStyle/>
          <a:p>
            <a:r>
              <a:rPr lang="en-US" sz="2800" dirty="0"/>
              <a:t>Abnormal Involuntary Movement Scale (AIMS)</a:t>
            </a:r>
          </a:p>
          <a:p>
            <a:pPr lvl="1"/>
            <a:r>
              <a:rPr lang="en-US" sz="2400" i="0" dirty="0"/>
              <a:t>Used for tardive dyskinesia</a:t>
            </a:r>
          </a:p>
          <a:p>
            <a:pPr lvl="1"/>
            <a:r>
              <a:rPr lang="en-US" sz="2400" i="0" dirty="0"/>
              <a:t>Rates severity of abnormal movements in 7 areas of body with score 0 (best) - 4 (worst)</a:t>
            </a:r>
          </a:p>
          <a:p>
            <a:pPr lvl="1"/>
            <a:r>
              <a:rPr lang="en-US" sz="2400" i="0" dirty="0"/>
              <a:t>Positive if 2 in ≥ 2 areas, or ≥ 3 in 1 area</a:t>
            </a:r>
            <a:endParaRPr lang="en-US" i="0" dirty="0"/>
          </a:p>
          <a:p>
            <a:r>
              <a:rPr lang="en-US" sz="2800" dirty="0"/>
              <a:t>Barnes Akathisia Rating Scale (BARS)</a:t>
            </a:r>
          </a:p>
          <a:p>
            <a:pPr lvl="1"/>
            <a:r>
              <a:rPr lang="en-US" sz="2400" i="0" dirty="0"/>
              <a:t>4- item scale examining subjective and objective signs</a:t>
            </a:r>
            <a:endParaRPr lang="en-US" i="0" dirty="0"/>
          </a:p>
          <a:p>
            <a:r>
              <a:rPr lang="en-US" sz="2800" dirty="0"/>
              <a:t>Simpson-Angus Scale (SAS)</a:t>
            </a:r>
          </a:p>
          <a:p>
            <a:pPr lvl="1"/>
            <a:r>
              <a:rPr lang="en-US" sz="2400" i="0" dirty="0"/>
              <a:t>10- item scale, range 0-4</a:t>
            </a:r>
          </a:p>
          <a:p>
            <a:pPr lvl="1"/>
            <a:r>
              <a:rPr lang="en-US" sz="2400" i="0" dirty="0"/>
              <a:t>Examines gait, rigidity, tremor,  </a:t>
            </a:r>
            <a:r>
              <a:rPr lang="en-US" sz="2400" i="0" dirty="0" err="1"/>
              <a:t>sialorrhea</a:t>
            </a:r>
            <a:r>
              <a:rPr lang="en-US" sz="2400" i="0" dirty="0"/>
              <a:t>, etc.</a:t>
            </a:r>
          </a:p>
          <a:p>
            <a:pPr lvl="1"/>
            <a:endParaRPr lang="en-US" dirty="0"/>
          </a:p>
        </p:txBody>
      </p:sp>
      <p:sp>
        <p:nvSpPr>
          <p:cNvPr id="4" name="TextBox 3"/>
          <p:cNvSpPr txBox="1"/>
          <p:nvPr/>
        </p:nvSpPr>
        <p:spPr>
          <a:xfrm>
            <a:off x="685800" y="6150114"/>
            <a:ext cx="7391400" cy="707886"/>
          </a:xfrm>
          <a:prstGeom prst="rect">
            <a:avLst/>
          </a:prstGeom>
          <a:noFill/>
        </p:spPr>
        <p:txBody>
          <a:bodyPr wrap="square" rtlCol="0">
            <a:spAutoFit/>
          </a:bodyPr>
          <a:lstStyle/>
          <a:p>
            <a:r>
              <a:rPr lang="en-US" sz="1000" dirty="0"/>
              <a:t>Guy, W. ECDEU Assessment Manual for Psychopharmacology: Publication ADM 76-358. U.S. Department of Public Health, Education, and Welfare, Washington, DC 1976. p.534.</a:t>
            </a:r>
          </a:p>
          <a:p>
            <a:r>
              <a:rPr lang="en-US" sz="1000" dirty="0"/>
              <a:t>Barnes TR: A Rating Scale for Drug-Induced </a:t>
            </a:r>
            <a:r>
              <a:rPr lang="en-US" sz="1000" dirty="0" err="1"/>
              <a:t>Akathisia</a:t>
            </a:r>
            <a:r>
              <a:rPr lang="en-US" sz="1000" dirty="0"/>
              <a:t>. British Journal of Psychiatry 154:672-676,1989.</a:t>
            </a:r>
          </a:p>
          <a:p>
            <a:r>
              <a:rPr lang="en-US" sz="1000" dirty="0"/>
              <a:t>Simpson GM, Angus JWS: A rating scale for extrapyramidal side effects. </a:t>
            </a:r>
            <a:r>
              <a:rPr lang="en-US" sz="1000" dirty="0" err="1"/>
              <a:t>Acta</a:t>
            </a:r>
            <a:r>
              <a:rPr lang="en-US" sz="1000" dirty="0"/>
              <a:t> </a:t>
            </a:r>
            <a:r>
              <a:rPr lang="en-US" sz="1000" dirty="0" err="1"/>
              <a:t>Psychiatrica</a:t>
            </a:r>
            <a:r>
              <a:rPr lang="en-US" sz="1000" dirty="0"/>
              <a:t> </a:t>
            </a:r>
            <a:r>
              <a:rPr lang="en-US" sz="1000" dirty="0" err="1"/>
              <a:t>Scandinavica</a:t>
            </a:r>
            <a:r>
              <a:rPr lang="en-US" sz="1000" dirty="0"/>
              <a:t> 212:11-19,1970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848" y="228600"/>
            <a:ext cx="8458200" cy="1066800"/>
          </a:xfrm>
        </p:spPr>
        <p:txBody>
          <a:bodyPr>
            <a:noAutofit/>
          </a:bodyPr>
          <a:lstStyle/>
          <a:p>
            <a:r>
              <a:rPr lang="en-US" sz="3600" b="1" dirty="0"/>
              <a:t>Mortality in Dementia-Related Psychosis</a:t>
            </a:r>
          </a:p>
        </p:txBody>
      </p:sp>
      <p:sp>
        <p:nvSpPr>
          <p:cNvPr id="3" name="Content Placeholder 2"/>
          <p:cNvSpPr>
            <a:spLocks noGrp="1"/>
          </p:cNvSpPr>
          <p:nvPr>
            <p:ph idx="1"/>
          </p:nvPr>
        </p:nvSpPr>
        <p:spPr>
          <a:xfrm>
            <a:off x="803148" y="1676400"/>
            <a:ext cx="8229600" cy="4669536"/>
          </a:xfrm>
        </p:spPr>
        <p:txBody>
          <a:bodyPr>
            <a:normAutofit/>
          </a:bodyPr>
          <a:lstStyle/>
          <a:p>
            <a:r>
              <a:rPr lang="en-US" sz="2800" dirty="0"/>
              <a:t>FDA boxed warning for </a:t>
            </a:r>
            <a:r>
              <a:rPr lang="en-US" sz="2800" u="sng" dirty="0"/>
              <a:t>ALL</a:t>
            </a:r>
            <a:r>
              <a:rPr lang="en-US" sz="2800" dirty="0"/>
              <a:t> antipsychotics</a:t>
            </a:r>
          </a:p>
          <a:p>
            <a:pPr marL="0" indent="0">
              <a:buNone/>
            </a:pPr>
            <a:endParaRPr lang="en-US" sz="2800" dirty="0"/>
          </a:p>
          <a:p>
            <a:r>
              <a:rPr lang="en-US" sz="2800" dirty="0"/>
              <a:t>Elderly patients with dementia-related psychosis</a:t>
            </a:r>
          </a:p>
          <a:p>
            <a:pPr lvl="1"/>
            <a:r>
              <a:rPr lang="en-US" sz="2400" i="0" dirty="0"/>
              <a:t>Meta-analysis of 15 placebo-controlled trials</a:t>
            </a:r>
          </a:p>
          <a:p>
            <a:pPr lvl="1"/>
            <a:r>
              <a:rPr lang="en-US" sz="2400" i="0" dirty="0"/>
              <a:t>Mortality increased ~1.6x compared to placebo</a:t>
            </a:r>
          </a:p>
          <a:p>
            <a:pPr lvl="1"/>
            <a:r>
              <a:rPr lang="en-US" sz="2400" i="0" dirty="0"/>
              <a:t>Causes:  </a:t>
            </a:r>
          </a:p>
          <a:p>
            <a:pPr lvl="2"/>
            <a:r>
              <a:rPr lang="en-US" sz="2400" dirty="0"/>
              <a:t>Increased risk of stroke and MI</a:t>
            </a:r>
          </a:p>
          <a:p>
            <a:pPr lvl="1">
              <a:buNone/>
            </a:pPr>
            <a:endParaRPr lang="en-US" dirty="0"/>
          </a:p>
        </p:txBody>
      </p:sp>
      <p:sp>
        <p:nvSpPr>
          <p:cNvPr id="4" name="TextBox 3"/>
          <p:cNvSpPr txBox="1"/>
          <p:nvPr/>
        </p:nvSpPr>
        <p:spPr>
          <a:xfrm>
            <a:off x="716280" y="6305490"/>
            <a:ext cx="8010490" cy="400110"/>
          </a:xfrm>
          <a:prstGeom prst="rect">
            <a:avLst/>
          </a:prstGeom>
          <a:noFill/>
        </p:spPr>
        <p:txBody>
          <a:bodyPr wrap="square" rtlCol="0">
            <a:spAutoFit/>
          </a:bodyPr>
          <a:lstStyle/>
          <a:p>
            <a:r>
              <a:rPr lang="en-US" sz="1000" dirty="0"/>
              <a:t>Schneider LS, </a:t>
            </a:r>
            <a:r>
              <a:rPr lang="en-US" sz="1000" dirty="0" err="1"/>
              <a:t>Dagerman</a:t>
            </a:r>
            <a:r>
              <a:rPr lang="en-US" sz="1000" dirty="0"/>
              <a:t> KS, </a:t>
            </a:r>
            <a:r>
              <a:rPr lang="en-US" sz="1000" dirty="0" err="1"/>
              <a:t>Insel</a:t>
            </a:r>
            <a:r>
              <a:rPr lang="en-US" sz="1000" dirty="0"/>
              <a:t> P. Risk of death with atypical antipsychotic drug treatment for dementia: meta-analysis of randomized placebo-controlled trials. JAMA. 2005 Oct 19;294(15):1934-43.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8229600" cy="1066800"/>
          </a:xfrm>
        </p:spPr>
        <p:txBody>
          <a:bodyPr>
            <a:normAutofit/>
          </a:bodyPr>
          <a:lstStyle/>
          <a:p>
            <a:r>
              <a:rPr lang="en-US" sz="4000" b="1" dirty="0"/>
              <a:t>Endocrine Adverse Effects</a:t>
            </a:r>
          </a:p>
        </p:txBody>
      </p:sp>
      <p:sp>
        <p:nvSpPr>
          <p:cNvPr id="3" name="Content Placeholder 2"/>
          <p:cNvSpPr>
            <a:spLocks noGrp="1"/>
          </p:cNvSpPr>
          <p:nvPr>
            <p:ph idx="1"/>
          </p:nvPr>
        </p:nvSpPr>
        <p:spPr>
          <a:xfrm>
            <a:off x="914400" y="1368552"/>
            <a:ext cx="8077200" cy="4821936"/>
          </a:xfrm>
        </p:spPr>
        <p:txBody>
          <a:bodyPr/>
          <a:lstStyle/>
          <a:p>
            <a:r>
              <a:rPr lang="en-US" sz="2800" dirty="0"/>
              <a:t>Hyperprolactinemia from hypothalamic dopamine blockade </a:t>
            </a:r>
          </a:p>
          <a:p>
            <a:pPr lvl="1"/>
            <a:r>
              <a:rPr lang="en-US" sz="2400" i="0" dirty="0"/>
              <a:t>Galactorrhea</a:t>
            </a:r>
          </a:p>
          <a:p>
            <a:pPr lvl="1"/>
            <a:r>
              <a:rPr lang="en-US" sz="2400" i="0" dirty="0"/>
              <a:t>Gynecomastia</a:t>
            </a:r>
          </a:p>
          <a:p>
            <a:pPr lvl="1"/>
            <a:r>
              <a:rPr lang="en-US" sz="2400" i="0" dirty="0"/>
              <a:t>Amenorrhea</a:t>
            </a:r>
          </a:p>
          <a:p>
            <a:pPr lvl="1"/>
            <a:r>
              <a:rPr lang="en-US" sz="2400" i="0" dirty="0"/>
              <a:t>Sexual dysfunction</a:t>
            </a:r>
          </a:p>
          <a:p>
            <a:pPr lvl="1"/>
            <a:r>
              <a:rPr lang="en-US" sz="2400" i="0" dirty="0"/>
              <a:t>Osteoporosis</a:t>
            </a:r>
            <a:endParaRPr lang="en-US" sz="2200" i="0" dirty="0"/>
          </a:p>
          <a:p>
            <a:pPr lvl="1"/>
            <a:endParaRPr lang="en-US" sz="2400" dirty="0"/>
          </a:p>
          <a:p>
            <a:r>
              <a:rPr lang="en-US" sz="2800" dirty="0"/>
              <a:t>More common with “typical” antipsychotics</a:t>
            </a:r>
          </a:p>
        </p:txBody>
      </p:sp>
      <p:sp>
        <p:nvSpPr>
          <p:cNvPr id="4" name="TextBox 3"/>
          <p:cNvSpPr txBox="1"/>
          <p:nvPr/>
        </p:nvSpPr>
        <p:spPr>
          <a:xfrm>
            <a:off x="762000" y="6324600"/>
            <a:ext cx="8077200" cy="400110"/>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0903"/>
            <a:ext cx="8686800" cy="1066800"/>
          </a:xfrm>
        </p:spPr>
        <p:txBody>
          <a:bodyPr>
            <a:noAutofit/>
          </a:bodyPr>
          <a:lstStyle/>
          <a:p>
            <a:r>
              <a:rPr lang="en-US" sz="3600" b="1" dirty="0"/>
              <a:t>Neuroleptic Malignant Syndrome (NMS)</a:t>
            </a:r>
          </a:p>
        </p:txBody>
      </p:sp>
      <p:sp>
        <p:nvSpPr>
          <p:cNvPr id="3" name="Content Placeholder 2"/>
          <p:cNvSpPr>
            <a:spLocks noGrp="1"/>
          </p:cNvSpPr>
          <p:nvPr>
            <p:ph idx="1"/>
          </p:nvPr>
        </p:nvSpPr>
        <p:spPr>
          <a:xfrm>
            <a:off x="762000" y="914400"/>
            <a:ext cx="8382000" cy="6629401"/>
          </a:xfrm>
        </p:spPr>
        <p:txBody>
          <a:bodyPr>
            <a:normAutofit/>
          </a:bodyPr>
          <a:lstStyle/>
          <a:p>
            <a:r>
              <a:rPr lang="en-US" sz="2600" dirty="0"/>
              <a:t>Rare but life threatening, occurrence ~1%</a:t>
            </a:r>
          </a:p>
          <a:p>
            <a:pPr lvl="1"/>
            <a:r>
              <a:rPr lang="en-US" sz="2100" i="0" dirty="0"/>
              <a:t>~40% mortality </a:t>
            </a:r>
            <a:r>
              <a:rPr lang="en-US" sz="2100" dirty="0"/>
              <a:t> </a:t>
            </a:r>
          </a:p>
          <a:p>
            <a:r>
              <a:rPr lang="en-US" sz="2600" dirty="0"/>
              <a:t>Symptoms include:</a:t>
            </a:r>
          </a:p>
          <a:p>
            <a:pPr lvl="1"/>
            <a:r>
              <a:rPr lang="en-US" sz="2100" i="0" dirty="0"/>
              <a:t>Fever</a:t>
            </a:r>
          </a:p>
          <a:p>
            <a:pPr lvl="1"/>
            <a:r>
              <a:rPr lang="en-US" sz="2100" i="0" dirty="0"/>
              <a:t>Lead-pipe rigidity</a:t>
            </a:r>
          </a:p>
          <a:p>
            <a:pPr lvl="1"/>
            <a:r>
              <a:rPr lang="en-US" sz="2100" i="0" dirty="0"/>
              <a:t>Mental status changes</a:t>
            </a:r>
          </a:p>
          <a:p>
            <a:pPr lvl="1"/>
            <a:r>
              <a:rPr lang="en-US" sz="2100" i="0" dirty="0"/>
              <a:t>Autonomic dysfunction</a:t>
            </a:r>
          </a:p>
          <a:p>
            <a:r>
              <a:rPr lang="en-US" sz="2600" dirty="0"/>
              <a:t>Manage with supportive care</a:t>
            </a:r>
          </a:p>
          <a:p>
            <a:pPr lvl="1"/>
            <a:r>
              <a:rPr lang="en-US" sz="2100" i="0" dirty="0"/>
              <a:t>D/C antipsychotic (for at least 2 weeks)</a:t>
            </a:r>
          </a:p>
          <a:p>
            <a:pPr lvl="1"/>
            <a:r>
              <a:rPr lang="en-US" sz="2100" i="0" dirty="0"/>
              <a:t>No other psychotropic during 2 week time period– except benzodiazepines</a:t>
            </a:r>
          </a:p>
          <a:p>
            <a:pPr lvl="1"/>
            <a:r>
              <a:rPr lang="en-US" sz="2100" i="0" dirty="0"/>
              <a:t>Bromocriptine (</a:t>
            </a:r>
            <a:r>
              <a:rPr lang="en-US" sz="2100" i="0" dirty="0" err="1"/>
              <a:t>Parlodel</a:t>
            </a:r>
            <a:r>
              <a:rPr lang="en-US" sz="2100" i="0" baseline="30000" dirty="0"/>
              <a:t>®</a:t>
            </a:r>
            <a:r>
              <a:rPr lang="en-US" sz="2100" i="0" dirty="0"/>
              <a:t>, </a:t>
            </a:r>
            <a:r>
              <a:rPr lang="en-US" sz="2100" i="0" dirty="0" err="1"/>
              <a:t>Cycloset</a:t>
            </a:r>
            <a:r>
              <a:rPr lang="en-US" sz="2100" i="0" baseline="30000" dirty="0"/>
              <a:t>®</a:t>
            </a:r>
            <a:r>
              <a:rPr lang="en-US" sz="2100" i="0" dirty="0"/>
              <a:t>), </a:t>
            </a:r>
            <a:r>
              <a:rPr lang="en-US" sz="2100" i="0" dirty="0" err="1"/>
              <a:t>Dantrolene</a:t>
            </a:r>
            <a:r>
              <a:rPr lang="en-US" sz="2100" i="0" dirty="0"/>
              <a:t> (</a:t>
            </a:r>
            <a:r>
              <a:rPr lang="en-US" sz="2100" i="0" dirty="0" err="1"/>
              <a:t>Dantrium</a:t>
            </a:r>
            <a:r>
              <a:rPr lang="en-US" sz="2100" i="0" baseline="30000" dirty="0"/>
              <a:t>®</a:t>
            </a:r>
            <a:r>
              <a:rPr lang="en-US" sz="2100" i="0" dirty="0"/>
              <a:t>)</a:t>
            </a:r>
          </a:p>
          <a:p>
            <a:pPr lvl="1"/>
            <a:r>
              <a:rPr lang="en-US" sz="2100" i="0" dirty="0"/>
              <a:t>Alternative: Amantadine </a:t>
            </a:r>
          </a:p>
        </p:txBody>
      </p:sp>
      <p:sp>
        <p:nvSpPr>
          <p:cNvPr id="5" name="TextBox 4"/>
          <p:cNvSpPr txBox="1"/>
          <p:nvPr/>
        </p:nvSpPr>
        <p:spPr>
          <a:xfrm>
            <a:off x="762000" y="6353145"/>
            <a:ext cx="8229600" cy="400110"/>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p:txBody>
      </p:sp>
    </p:spTree>
    <p:extLst>
      <p:ext uri="{BB962C8B-B14F-4D97-AF65-F5344CB8AC3E}">
        <p14:creationId xmlns:p14="http://schemas.microsoft.com/office/powerpoint/2010/main" val="308348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66233"/>
            <a:ext cx="8229600" cy="1066800"/>
          </a:xfrm>
        </p:spPr>
        <p:txBody>
          <a:bodyPr>
            <a:normAutofit/>
          </a:bodyPr>
          <a:lstStyle/>
          <a:p>
            <a:r>
              <a:rPr lang="en-US" sz="4000" b="1" dirty="0"/>
              <a:t>EKG Changes: </a:t>
            </a:r>
            <a:r>
              <a:rPr lang="en-US" sz="4000" b="1" dirty="0" err="1"/>
              <a:t>QTc</a:t>
            </a:r>
            <a:r>
              <a:rPr lang="en-US" sz="4000" b="1" dirty="0"/>
              <a:t> Prolongation</a:t>
            </a:r>
          </a:p>
        </p:txBody>
      </p:sp>
      <p:sp>
        <p:nvSpPr>
          <p:cNvPr id="3" name="Content Placeholder 2"/>
          <p:cNvSpPr>
            <a:spLocks noGrp="1"/>
          </p:cNvSpPr>
          <p:nvPr>
            <p:ph idx="1"/>
          </p:nvPr>
        </p:nvSpPr>
        <p:spPr>
          <a:xfrm>
            <a:off x="5105400" y="4804884"/>
            <a:ext cx="4038600" cy="3119915"/>
          </a:xfrm>
        </p:spPr>
        <p:txBody>
          <a:bodyPr>
            <a:normAutofit/>
          </a:bodyPr>
          <a:lstStyle/>
          <a:p>
            <a:r>
              <a:rPr lang="en-US" dirty="0"/>
              <a:t>Caution in pre-existing abnormalities, other QTc prolonging agents, patients with QTc near 500 </a:t>
            </a:r>
            <a:r>
              <a:rPr lang="en-US" dirty="0" err="1"/>
              <a:t>ms</a:t>
            </a:r>
            <a:endParaRPr lang="en-US" dirty="0"/>
          </a:p>
        </p:txBody>
      </p:sp>
      <p:pic>
        <p:nvPicPr>
          <p:cNvPr id="7" name="Picture 2"/>
          <p:cNvPicPr>
            <a:picLocks noChangeAspect="1" noChangeArrowheads="1"/>
          </p:cNvPicPr>
          <p:nvPr/>
        </p:nvPicPr>
        <p:blipFill rotWithShape="1">
          <a:blip r:embed="rId3">
            <a:lum bright="-26000" contrast="35000"/>
            <a:extLst>
              <a:ext uri="{28A0092B-C50C-407E-A947-70E740481C1C}">
                <a14:useLocalDpi xmlns:a14="http://schemas.microsoft.com/office/drawing/2010/main" val="0"/>
              </a:ext>
            </a:extLst>
          </a:blip>
          <a:srcRect t="23" b="32770"/>
          <a:stretch/>
        </p:blipFill>
        <p:spPr bwMode="auto">
          <a:xfrm>
            <a:off x="670560" y="914400"/>
            <a:ext cx="5825180" cy="382772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710184" y="6536097"/>
            <a:ext cx="5105400" cy="246221"/>
          </a:xfrm>
          <a:prstGeom prst="rect">
            <a:avLst/>
          </a:prstGeom>
        </p:spPr>
        <p:txBody>
          <a:bodyPr wrap="square">
            <a:spAutoFit/>
          </a:bodyPr>
          <a:lstStyle/>
          <a:p>
            <a:r>
              <a:rPr lang="en-US" sz="1000" dirty="0"/>
              <a:t>http://emcrit.org/pulmcrit/intravenous-olanzapine-haloperidol/</a:t>
            </a:r>
          </a:p>
        </p:txBody>
      </p:sp>
      <p:sp>
        <p:nvSpPr>
          <p:cNvPr id="4" name="TextBox 3"/>
          <p:cNvSpPr txBox="1"/>
          <p:nvPr/>
        </p:nvSpPr>
        <p:spPr>
          <a:xfrm>
            <a:off x="710184" y="6216568"/>
            <a:ext cx="4395216" cy="400110"/>
          </a:xfrm>
          <a:prstGeom prst="rect">
            <a:avLst/>
          </a:prstGeom>
          <a:noFill/>
        </p:spPr>
        <p:txBody>
          <a:bodyPr wrap="square" rtlCol="0">
            <a:spAutoFit/>
          </a:bodyPr>
          <a:lstStyle/>
          <a:p>
            <a:r>
              <a:rPr lang="en-US" sz="1000" dirty="0"/>
              <a:t>Al-</a:t>
            </a:r>
            <a:r>
              <a:rPr lang="en-US" sz="1000" dirty="0" err="1"/>
              <a:t>Khatib</a:t>
            </a:r>
            <a:r>
              <a:rPr lang="en-US" sz="1000" dirty="0"/>
              <a:t>, Sana M., et al. "What clinicians should know about the QT interval." </a:t>
            </a:r>
            <a:r>
              <a:rPr lang="en-US" sz="1000" i="1" dirty="0"/>
              <a:t>Jama</a:t>
            </a:r>
            <a:r>
              <a:rPr lang="en-US" sz="1000" dirty="0"/>
              <a:t> 289.16 (2003): 2120-2127.</a:t>
            </a:r>
          </a:p>
        </p:txBody>
      </p:sp>
      <p:pic>
        <p:nvPicPr>
          <p:cNvPr id="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270" t="66015" r="733" b="2953"/>
          <a:stretch/>
        </p:blipFill>
        <p:spPr bwMode="auto">
          <a:xfrm>
            <a:off x="685800" y="4867642"/>
            <a:ext cx="4154214" cy="128616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90172"/>
            <a:ext cx="8229600" cy="686169"/>
          </a:xfrm>
        </p:spPr>
        <p:txBody>
          <a:bodyPr>
            <a:normAutofit/>
          </a:bodyPr>
          <a:lstStyle/>
          <a:p>
            <a:r>
              <a:rPr lang="en-US" sz="4000" b="1" dirty="0"/>
              <a:t>Metabolic Adverse Effects</a:t>
            </a:r>
          </a:p>
        </p:txBody>
      </p:sp>
      <p:sp>
        <p:nvSpPr>
          <p:cNvPr id="3" name="Content Placeholder 2"/>
          <p:cNvSpPr>
            <a:spLocks noGrp="1"/>
          </p:cNvSpPr>
          <p:nvPr>
            <p:ph idx="1"/>
          </p:nvPr>
        </p:nvSpPr>
        <p:spPr>
          <a:xfrm>
            <a:off x="685800" y="1195459"/>
            <a:ext cx="8229600" cy="1447800"/>
          </a:xfrm>
        </p:spPr>
        <p:txBody>
          <a:bodyPr/>
          <a:lstStyle/>
          <a:p>
            <a:r>
              <a:rPr lang="en-US" sz="2800" dirty="0"/>
              <a:t>“Metabolic syndrome” (≥3 criteria)</a:t>
            </a:r>
          </a:p>
          <a:p>
            <a:pPr lvl="1"/>
            <a:r>
              <a:rPr lang="en-US" sz="2400" i="0" dirty="0"/>
              <a:t>Much more common with </a:t>
            </a:r>
            <a:r>
              <a:rPr lang="en-US" sz="2400" i="0" dirty="0" err="1"/>
              <a:t>atypicals</a:t>
            </a:r>
            <a:endParaRPr lang="en-US" sz="2400" i="0" dirty="0"/>
          </a:p>
          <a:p>
            <a:pPr>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073372763"/>
              </p:ext>
            </p:extLst>
          </p:nvPr>
        </p:nvGraphicFramePr>
        <p:xfrm>
          <a:off x="657726" y="2299528"/>
          <a:ext cx="4648200" cy="3700645"/>
        </p:xfrm>
        <a:graphic>
          <a:graphicData uri="http://schemas.openxmlformats.org/drawingml/2006/table">
            <a:tbl>
              <a:tblPr/>
              <a:tblGrid>
                <a:gridCol w="1981200">
                  <a:extLst>
                    <a:ext uri="{9D8B030D-6E8A-4147-A177-3AD203B41FA5}">
                      <a16:colId xmlns:a16="http://schemas.microsoft.com/office/drawing/2014/main" xmlns="" val="20000"/>
                    </a:ext>
                  </a:extLst>
                </a:gridCol>
                <a:gridCol w="2667000">
                  <a:extLst>
                    <a:ext uri="{9D8B030D-6E8A-4147-A177-3AD203B41FA5}">
                      <a16:colId xmlns:a16="http://schemas.microsoft.com/office/drawing/2014/main" xmlns="" val="20001"/>
                    </a:ext>
                  </a:extLst>
                </a:gridCol>
              </a:tblGrid>
              <a:tr h="817689">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Waist</a:t>
                      </a:r>
                      <a:r>
                        <a:rPr lang="en-US" sz="2200" b="1" baseline="0" dirty="0">
                          <a:latin typeface="Calibri" pitchFamily="34" charset="0"/>
                          <a:ea typeface="Calibri"/>
                          <a:cs typeface="Times New Roman"/>
                        </a:rPr>
                        <a:t> circumference</a:t>
                      </a:r>
                      <a:endParaRPr lang="en-US" sz="2200" b="1"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2200" dirty="0">
                          <a:latin typeface="Calibri" pitchFamily="34" charset="0"/>
                          <a:ea typeface="Calibri"/>
                          <a:cs typeface="Times New Roman"/>
                        </a:rPr>
                        <a:t>M: &gt;40 inches</a:t>
                      </a:r>
                    </a:p>
                    <a:p>
                      <a:pPr marL="0" marR="0" algn="l">
                        <a:lnSpc>
                          <a:spcPct val="115000"/>
                        </a:lnSpc>
                        <a:spcBef>
                          <a:spcPts val="0"/>
                        </a:spcBef>
                        <a:spcAft>
                          <a:spcPts val="0"/>
                        </a:spcAft>
                      </a:pPr>
                      <a:r>
                        <a:rPr lang="en-US" sz="2200" dirty="0">
                          <a:latin typeface="Calibri" pitchFamily="34" charset="0"/>
                          <a:ea typeface="Calibri"/>
                          <a:cs typeface="Times New Roman"/>
                        </a:rPr>
                        <a:t>F: &gt;35 inches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522979">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Blood</a:t>
                      </a:r>
                      <a:r>
                        <a:rPr lang="en-US" sz="2200" b="1" baseline="0" dirty="0">
                          <a:latin typeface="Calibri" pitchFamily="34" charset="0"/>
                          <a:ea typeface="Calibri"/>
                          <a:cs typeface="Times New Roman"/>
                        </a:rPr>
                        <a:t> pressure</a:t>
                      </a:r>
                      <a:endParaRPr lang="en-US" sz="2200" b="1"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l">
                        <a:lnSpc>
                          <a:spcPct val="115000"/>
                        </a:lnSpc>
                        <a:spcBef>
                          <a:spcPts val="0"/>
                        </a:spcBef>
                        <a:spcAft>
                          <a:spcPts val="0"/>
                        </a:spcAft>
                      </a:pPr>
                      <a:r>
                        <a:rPr lang="en-US" sz="2200" dirty="0">
                          <a:latin typeface="Calibri" pitchFamily="34" charset="0"/>
                          <a:ea typeface="Calibri"/>
                          <a:cs typeface="Times New Roman"/>
                        </a:rPr>
                        <a:t>≥130/85 mmHg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1"/>
                  </a:ext>
                </a:extLst>
              </a:tr>
              <a:tr h="590718">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Fasting blood</a:t>
                      </a:r>
                      <a:r>
                        <a:rPr lang="en-US" sz="2200" b="1" baseline="0" dirty="0">
                          <a:latin typeface="Calibri" pitchFamily="34" charset="0"/>
                          <a:ea typeface="Calibri"/>
                          <a:cs typeface="Times New Roman"/>
                        </a:rPr>
                        <a:t> glucose</a:t>
                      </a:r>
                      <a:endParaRPr lang="en-US" sz="2200" b="1"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Calibri" pitchFamily="34" charset="0"/>
                          <a:ea typeface="Calibri"/>
                          <a:cs typeface="Times New Roman"/>
                        </a:rPr>
                        <a:t>≥110 mg/</a:t>
                      </a:r>
                      <a:r>
                        <a:rPr lang="en-US" sz="2200" dirty="0" err="1">
                          <a:latin typeface="Calibri" pitchFamily="34" charset="0"/>
                          <a:ea typeface="Calibri"/>
                          <a:cs typeface="Times New Roman"/>
                        </a:rPr>
                        <a:t>dL</a:t>
                      </a:r>
                      <a:endParaRPr lang="en-US" sz="22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756125">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HDL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l">
                        <a:lnSpc>
                          <a:spcPct val="115000"/>
                        </a:lnSpc>
                        <a:spcBef>
                          <a:spcPts val="0"/>
                        </a:spcBef>
                        <a:spcAft>
                          <a:spcPts val="0"/>
                        </a:spcAft>
                      </a:pPr>
                      <a:r>
                        <a:rPr lang="en-US" sz="2200" dirty="0">
                          <a:latin typeface="Calibri" pitchFamily="34" charset="0"/>
                          <a:ea typeface="Calibri"/>
                          <a:cs typeface="Times New Roman"/>
                        </a:rPr>
                        <a:t>M: &lt;40 mg/</a:t>
                      </a:r>
                      <a:r>
                        <a:rPr lang="en-US" sz="2200" dirty="0" err="1">
                          <a:latin typeface="Calibri" pitchFamily="34" charset="0"/>
                          <a:ea typeface="Calibri"/>
                          <a:cs typeface="Times New Roman"/>
                        </a:rPr>
                        <a:t>dL</a:t>
                      </a:r>
                      <a:endParaRPr lang="en-US" sz="2200" dirty="0">
                        <a:latin typeface="Calibri" pitchFamily="34" charset="0"/>
                        <a:ea typeface="Calibri"/>
                        <a:cs typeface="Times New Roman"/>
                      </a:endParaRPr>
                    </a:p>
                    <a:p>
                      <a:pPr marL="0" marR="0" algn="l">
                        <a:lnSpc>
                          <a:spcPct val="115000"/>
                        </a:lnSpc>
                        <a:spcBef>
                          <a:spcPts val="0"/>
                        </a:spcBef>
                        <a:spcAft>
                          <a:spcPts val="0"/>
                        </a:spcAft>
                      </a:pPr>
                      <a:r>
                        <a:rPr lang="en-US" sz="2200" baseline="0" dirty="0">
                          <a:latin typeface="Calibri" pitchFamily="34" charset="0"/>
                          <a:ea typeface="Calibri"/>
                          <a:cs typeface="Times New Roman"/>
                        </a:rPr>
                        <a:t>F: &lt;50 mg/</a:t>
                      </a:r>
                      <a:r>
                        <a:rPr lang="en-US" sz="2200" baseline="0" dirty="0" err="1">
                          <a:latin typeface="Calibri" pitchFamily="34" charset="0"/>
                          <a:ea typeface="Calibri"/>
                          <a:cs typeface="Times New Roman"/>
                        </a:rPr>
                        <a:t>dL</a:t>
                      </a:r>
                      <a:endParaRPr lang="en-US" sz="2200" baseline="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3"/>
                  </a:ext>
                </a:extLst>
              </a:tr>
              <a:tr h="817689">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Triglycerides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l">
                        <a:lnSpc>
                          <a:spcPct val="115000"/>
                        </a:lnSpc>
                        <a:spcBef>
                          <a:spcPts val="0"/>
                        </a:spcBef>
                        <a:spcAft>
                          <a:spcPts val="0"/>
                        </a:spcAft>
                      </a:pPr>
                      <a:r>
                        <a:rPr lang="en-US" sz="2200" dirty="0">
                          <a:latin typeface="Calibri" pitchFamily="34" charset="0"/>
                          <a:ea typeface="Calibri"/>
                          <a:cs typeface="Times New Roman"/>
                        </a:rPr>
                        <a:t>≥150 mg/</a:t>
                      </a:r>
                      <a:r>
                        <a:rPr lang="en-US" sz="2200" dirty="0" err="1">
                          <a:latin typeface="Calibri" pitchFamily="34" charset="0"/>
                          <a:ea typeface="Calibri"/>
                          <a:cs typeface="Times New Roman"/>
                        </a:rPr>
                        <a:t>dL</a:t>
                      </a:r>
                      <a:endParaRPr lang="en-US" sz="2200" baseline="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bl>
          </a:graphicData>
        </a:graphic>
      </p:graphicFrame>
      <p:grpSp>
        <p:nvGrpSpPr>
          <p:cNvPr id="5" name="Group 4"/>
          <p:cNvGrpSpPr/>
          <p:nvPr/>
        </p:nvGrpSpPr>
        <p:grpSpPr>
          <a:xfrm>
            <a:off x="5338010" y="2299528"/>
            <a:ext cx="3605463" cy="3700645"/>
            <a:chOff x="5667375" y="2438400"/>
            <a:chExt cx="3295650" cy="3204865"/>
          </a:xfrm>
        </p:grpSpPr>
        <p:pic>
          <p:nvPicPr>
            <p:cNvPr id="18434" name="Picture 2" descr="http://thenpmom.files.wordpress.com/2012/04/metabolic-syndrome.jpg"/>
            <p:cNvPicPr>
              <a:picLocks noChangeAspect="1" noChangeArrowheads="1"/>
            </p:cNvPicPr>
            <p:nvPr/>
          </p:nvPicPr>
          <p:blipFill>
            <a:blip r:embed="rId3" cstate="print"/>
            <a:srcRect/>
            <a:stretch>
              <a:fillRect/>
            </a:stretch>
          </p:blipFill>
          <p:spPr bwMode="auto">
            <a:xfrm>
              <a:off x="5667375" y="2438400"/>
              <a:ext cx="3295650" cy="2771775"/>
            </a:xfrm>
            <a:prstGeom prst="rect">
              <a:avLst/>
            </a:prstGeom>
            <a:noFill/>
            <a:ln>
              <a:solidFill>
                <a:schemeClr val="tx1"/>
              </a:solidFill>
            </a:ln>
          </p:spPr>
        </p:pic>
        <p:sp>
          <p:nvSpPr>
            <p:cNvPr id="7" name="Rectangle 6"/>
            <p:cNvSpPr/>
            <p:nvPr/>
          </p:nvSpPr>
          <p:spPr>
            <a:xfrm>
              <a:off x="5667375" y="5181600"/>
              <a:ext cx="3295649" cy="461665"/>
            </a:xfrm>
            <a:prstGeom prst="rect">
              <a:avLst/>
            </a:prstGeom>
            <a:solidFill>
              <a:schemeClr val="bg1"/>
            </a:solidFill>
            <a:ln>
              <a:solidFill>
                <a:schemeClr val="tx1"/>
              </a:solidFill>
            </a:ln>
          </p:spPr>
          <p:txBody>
            <a:bodyPr wrap="square">
              <a:spAutoFit/>
            </a:bodyPr>
            <a:lstStyle/>
            <a:p>
              <a:r>
                <a:rPr lang="en-US" sz="1200" dirty="0"/>
                <a:t>http://thenpmom.files.wordpress.com/2012/04/metabolic-syndrome.jpg</a:t>
              </a:r>
            </a:p>
          </p:txBody>
        </p:sp>
      </p:grpSp>
      <p:sp>
        <p:nvSpPr>
          <p:cNvPr id="8" name="TextBox 7"/>
          <p:cNvSpPr txBox="1"/>
          <p:nvPr/>
        </p:nvSpPr>
        <p:spPr>
          <a:xfrm>
            <a:off x="657726" y="6404100"/>
            <a:ext cx="8201025" cy="400110"/>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41110"/>
            <a:ext cx="8229600" cy="1066800"/>
          </a:xfrm>
        </p:spPr>
        <p:txBody>
          <a:bodyPr>
            <a:normAutofit/>
          </a:bodyPr>
          <a:lstStyle/>
          <a:p>
            <a:r>
              <a:rPr lang="en-US" sz="4000" b="1" dirty="0"/>
              <a:t>Monitoring of Metabolic Effects</a:t>
            </a:r>
          </a:p>
        </p:txBody>
      </p:sp>
      <p:sp>
        <p:nvSpPr>
          <p:cNvPr id="3" name="Content Placeholder 2"/>
          <p:cNvSpPr>
            <a:spLocks noGrp="1"/>
          </p:cNvSpPr>
          <p:nvPr>
            <p:ph idx="1"/>
          </p:nvPr>
        </p:nvSpPr>
        <p:spPr>
          <a:xfrm>
            <a:off x="701842" y="1066800"/>
            <a:ext cx="8229600" cy="5029200"/>
          </a:xfrm>
        </p:spPr>
        <p:txBody>
          <a:bodyPr>
            <a:normAutofit lnSpcReduction="10000"/>
          </a:bodyPr>
          <a:lstStyle/>
          <a:p>
            <a:r>
              <a:rPr lang="en-US" sz="2800" dirty="0"/>
              <a:t>Weight (BMI)</a:t>
            </a:r>
          </a:p>
          <a:p>
            <a:pPr lvl="1"/>
            <a:r>
              <a:rPr lang="en-US" sz="2400" i="0" dirty="0"/>
              <a:t>Baseline, monthly (x3-4 months), annually</a:t>
            </a:r>
          </a:p>
          <a:p>
            <a:r>
              <a:rPr lang="en-US" sz="2800" dirty="0"/>
              <a:t>Fasting blood glucose</a:t>
            </a:r>
          </a:p>
          <a:p>
            <a:pPr lvl="1"/>
            <a:r>
              <a:rPr lang="en-US" sz="2400" i="0" dirty="0"/>
              <a:t>Baseline, monthly (x3-4 months), annually</a:t>
            </a:r>
          </a:p>
          <a:p>
            <a:r>
              <a:rPr lang="en-US" sz="2800" dirty="0"/>
              <a:t>Fasting lipid panel</a:t>
            </a:r>
          </a:p>
          <a:p>
            <a:pPr lvl="1"/>
            <a:r>
              <a:rPr lang="en-US" sz="2400" i="0" dirty="0"/>
              <a:t>Baseline, at 3-4 months, annually</a:t>
            </a:r>
          </a:p>
          <a:p>
            <a:pPr>
              <a:lnSpc>
                <a:spcPct val="104000"/>
              </a:lnSpc>
            </a:pPr>
            <a:r>
              <a:rPr lang="en-US" sz="2800" dirty="0"/>
              <a:t>Also: </a:t>
            </a:r>
          </a:p>
          <a:p>
            <a:pPr lvl="1">
              <a:lnSpc>
                <a:spcPct val="104000"/>
              </a:lnSpc>
            </a:pPr>
            <a:r>
              <a:rPr lang="en-US" sz="2400" i="0" dirty="0"/>
              <a:t>Blood pressure</a:t>
            </a:r>
          </a:p>
          <a:p>
            <a:pPr lvl="2"/>
            <a:r>
              <a:rPr lang="en-US" sz="2200" dirty="0"/>
              <a:t>Baseline, 12 weeks, annually</a:t>
            </a:r>
          </a:p>
          <a:p>
            <a:pPr lvl="1">
              <a:lnSpc>
                <a:spcPct val="114000"/>
              </a:lnSpc>
            </a:pPr>
            <a:r>
              <a:rPr lang="en-US" sz="2400" i="0" dirty="0"/>
              <a:t>Waist circumference</a:t>
            </a:r>
          </a:p>
          <a:p>
            <a:pPr lvl="2"/>
            <a:r>
              <a:rPr lang="en-US" sz="2200" dirty="0"/>
              <a:t>Baseline, annually</a:t>
            </a:r>
          </a:p>
          <a:p>
            <a:endParaRPr lang="en-US" dirty="0"/>
          </a:p>
        </p:txBody>
      </p:sp>
      <p:pic>
        <p:nvPicPr>
          <p:cNvPr id="2050" name="Picture 2" descr="C:\Users\vhaclecarrc\AppData\Local\Microsoft\Windows\Temporary Internet Files\Content.IE5\Z1V8X3H0\MP900390539[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24259" y="1106329"/>
            <a:ext cx="1752600" cy="17526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2" name="Picture 4" descr="C:\Users\vhaclecarrc\AppData\Local\Microsoft\Windows\Temporary Internet Files\Content.IE5\Z1V8X3H0\MP90040130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38788" y="3806874"/>
            <a:ext cx="1523541" cy="228419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36293" y="6292973"/>
            <a:ext cx="8528613" cy="553998"/>
          </a:xfrm>
          <a:prstGeom prst="rect">
            <a:avLst/>
          </a:prstGeom>
          <a:noFill/>
        </p:spPr>
        <p:txBody>
          <a:bodyPr wrap="square" rtlCol="0">
            <a:spAutoFit/>
          </a:bodyPr>
          <a:lstStyle/>
          <a:p>
            <a:r>
              <a:rPr lang="en-US" sz="1000" dirty="0" err="1"/>
              <a:t>U.S.Department</a:t>
            </a:r>
            <a:r>
              <a:rPr lang="en-US" sz="1000" dirty="0"/>
              <a:t> of Veterans Affairs. VA/DoD clinical practice guidelines for management of persons with psychosis. Washington, DC; 2004. </a:t>
            </a:r>
          </a:p>
          <a:p>
            <a:r>
              <a:rPr lang="en-US" sz="1000" dirty="0"/>
              <a:t>American Diabetes Association., American Psychiatric Association., American Association of Clinical Endocrinologists., North American Association for the Study of Obesity. Review Consensus development conference on antipsychotic drugs and obesity and diabetes. J </a:t>
            </a:r>
            <a:r>
              <a:rPr lang="en-US" sz="1000" dirty="0" err="1"/>
              <a:t>Clin</a:t>
            </a:r>
            <a:r>
              <a:rPr lang="en-US" sz="1000" dirty="0"/>
              <a:t> Psychiatry. 2004 Feb; 65(2):267-72.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228600"/>
            <a:ext cx="8229600" cy="1485900"/>
          </a:xfrm>
        </p:spPr>
        <p:txBody>
          <a:bodyPr>
            <a:normAutofit/>
          </a:bodyPr>
          <a:lstStyle/>
          <a:p>
            <a:r>
              <a:rPr lang="en-US" sz="3600" b="1" dirty="0"/>
              <a:t>Adverse Effect Profile: 1</a:t>
            </a:r>
            <a:r>
              <a:rPr lang="en-US" sz="3600" b="1" baseline="30000" dirty="0"/>
              <a:t>St</a:t>
            </a:r>
            <a:r>
              <a:rPr lang="en-US" sz="3600" b="1" dirty="0"/>
              <a:t> Generation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71848024"/>
              </p:ext>
            </p:extLst>
          </p:nvPr>
        </p:nvGraphicFramePr>
        <p:xfrm>
          <a:off x="673768" y="990600"/>
          <a:ext cx="8241632" cy="5105397"/>
        </p:xfrm>
        <a:graphic>
          <a:graphicData uri="http://schemas.openxmlformats.org/drawingml/2006/table">
            <a:tbl>
              <a:tblPr firstRow="1" bandRow="1">
                <a:tableStyleId>{21E4AEA4-8DFA-4A89-87EB-49C32662AFE0}</a:tableStyleId>
              </a:tblPr>
              <a:tblGrid>
                <a:gridCol w="1718044">
                  <a:extLst>
                    <a:ext uri="{9D8B030D-6E8A-4147-A177-3AD203B41FA5}">
                      <a16:colId xmlns:a16="http://schemas.microsoft.com/office/drawing/2014/main" xmlns="" val="20000"/>
                    </a:ext>
                  </a:extLst>
                </a:gridCol>
                <a:gridCol w="1718044">
                  <a:extLst>
                    <a:ext uri="{9D8B030D-6E8A-4147-A177-3AD203B41FA5}">
                      <a16:colId xmlns:a16="http://schemas.microsoft.com/office/drawing/2014/main" xmlns="" val="20001"/>
                    </a:ext>
                  </a:extLst>
                </a:gridCol>
                <a:gridCol w="1942137">
                  <a:extLst>
                    <a:ext uri="{9D8B030D-6E8A-4147-A177-3AD203B41FA5}">
                      <a16:colId xmlns:a16="http://schemas.microsoft.com/office/drawing/2014/main" xmlns="" val="20002"/>
                    </a:ext>
                  </a:extLst>
                </a:gridCol>
                <a:gridCol w="1215081">
                  <a:extLst>
                    <a:ext uri="{9D8B030D-6E8A-4147-A177-3AD203B41FA5}">
                      <a16:colId xmlns:a16="http://schemas.microsoft.com/office/drawing/2014/main" xmlns="" val="20003"/>
                    </a:ext>
                  </a:extLst>
                </a:gridCol>
                <a:gridCol w="1648326">
                  <a:extLst>
                    <a:ext uri="{9D8B030D-6E8A-4147-A177-3AD203B41FA5}">
                      <a16:colId xmlns:a16="http://schemas.microsoft.com/office/drawing/2014/main" xmlns="" val="20004"/>
                    </a:ext>
                  </a:extLst>
                </a:gridCol>
              </a:tblGrid>
              <a:tr h="821559">
                <a:tc>
                  <a:txBody>
                    <a:bodyPr/>
                    <a:lstStyle/>
                    <a:p>
                      <a:endParaRPr lang="en-US" sz="1800" b="1" dirty="0">
                        <a:solidFill>
                          <a:schemeClr val="tx1"/>
                        </a:solidFill>
                      </a:endParaRPr>
                    </a:p>
                  </a:txBody>
                  <a:tcPr marL="78318" marR="78318"/>
                </a:tc>
                <a:tc>
                  <a:txBody>
                    <a:bodyPr/>
                    <a:lstStyle/>
                    <a:p>
                      <a:pPr algn="ctr"/>
                      <a:r>
                        <a:rPr lang="en-US" sz="2000" dirty="0">
                          <a:solidFill>
                            <a:schemeClr val="tx1"/>
                          </a:solidFill>
                        </a:rPr>
                        <a:t>Weight Gain/DM</a:t>
                      </a:r>
                    </a:p>
                  </a:txBody>
                  <a:tcPr marL="78318" marR="78318"/>
                </a:tc>
                <a:tc>
                  <a:txBody>
                    <a:bodyPr/>
                    <a:lstStyle/>
                    <a:p>
                      <a:pPr algn="ctr"/>
                      <a:r>
                        <a:rPr lang="en-US" sz="2000" dirty="0">
                          <a:solidFill>
                            <a:schemeClr val="tx1"/>
                          </a:solidFill>
                        </a:rPr>
                        <a:t>Dyslipidemia</a:t>
                      </a:r>
                    </a:p>
                  </a:txBody>
                  <a:tcPr marL="78318" marR="78318"/>
                </a:tc>
                <a:tc>
                  <a:txBody>
                    <a:bodyPr/>
                    <a:lstStyle/>
                    <a:p>
                      <a:pPr algn="ctr"/>
                      <a:r>
                        <a:rPr lang="en-US" sz="2000" dirty="0">
                          <a:solidFill>
                            <a:schemeClr val="tx1"/>
                          </a:solidFill>
                        </a:rPr>
                        <a:t>EPS/TD</a:t>
                      </a:r>
                    </a:p>
                  </a:txBody>
                  <a:tcPr marL="78318" marR="78318"/>
                </a:tc>
                <a:tc>
                  <a:txBody>
                    <a:bodyPr/>
                    <a:lstStyle/>
                    <a:p>
                      <a:pPr algn="ctr"/>
                      <a:r>
                        <a:rPr lang="en-US" sz="2000" dirty="0">
                          <a:solidFill>
                            <a:schemeClr val="tx1"/>
                          </a:solidFill>
                        </a:rPr>
                        <a:t>Prolactin Elevation</a:t>
                      </a:r>
                    </a:p>
                  </a:txBody>
                  <a:tcPr marL="78318" marR="78318"/>
                </a:tc>
                <a:extLst>
                  <a:ext uri="{0D108BD9-81ED-4DB2-BD59-A6C34878D82A}">
                    <a16:rowId xmlns:a16="http://schemas.microsoft.com/office/drawing/2014/main" xmlns="" val="10000"/>
                  </a:ext>
                </a:extLst>
              </a:tr>
              <a:tr h="475982">
                <a:tc>
                  <a:txBody>
                    <a:bodyPr/>
                    <a:lstStyle/>
                    <a:p>
                      <a:r>
                        <a:rPr lang="en-US" sz="1800" b="1" dirty="0"/>
                        <a:t>Chlorpromazine</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extLst>
                  <a:ext uri="{0D108BD9-81ED-4DB2-BD59-A6C34878D82A}">
                    <a16:rowId xmlns:a16="http://schemas.microsoft.com/office/drawing/2014/main" xmlns="" val="10001"/>
                  </a:ext>
                </a:extLst>
              </a:tr>
              <a:tr h="475982">
                <a:tc>
                  <a:txBody>
                    <a:bodyPr/>
                    <a:lstStyle/>
                    <a:p>
                      <a:r>
                        <a:rPr lang="en-US" sz="1800" b="1" dirty="0"/>
                        <a:t>Fluphenazine</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extLst>
                  <a:ext uri="{0D108BD9-81ED-4DB2-BD59-A6C34878D82A}">
                    <a16:rowId xmlns:a16="http://schemas.microsoft.com/office/drawing/2014/main" xmlns="" val="10002"/>
                  </a:ext>
                </a:extLst>
              </a:tr>
              <a:tr h="475982">
                <a:tc>
                  <a:txBody>
                    <a:bodyPr/>
                    <a:lstStyle/>
                    <a:p>
                      <a:r>
                        <a:rPr lang="en-US" sz="1800" b="1" dirty="0"/>
                        <a:t>Haloperidol</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extLst>
                  <a:ext uri="{0D108BD9-81ED-4DB2-BD59-A6C34878D82A}">
                    <a16:rowId xmlns:a16="http://schemas.microsoft.com/office/drawing/2014/main" xmlns="" val="10003"/>
                  </a:ext>
                </a:extLst>
              </a:tr>
              <a:tr h="475982">
                <a:tc>
                  <a:txBody>
                    <a:bodyPr/>
                    <a:lstStyle/>
                    <a:p>
                      <a:r>
                        <a:rPr lang="en-US" sz="1800" b="1" dirty="0" err="1"/>
                        <a:t>Loxapine</a:t>
                      </a:r>
                      <a:endParaRPr lang="en-US" sz="1800" b="1" dirty="0"/>
                    </a:p>
                  </a:txBody>
                  <a:tcPr marL="78318" marR="78318"/>
                </a:tc>
                <a:tc>
                  <a:txBody>
                    <a:bodyPr/>
                    <a:lstStyle/>
                    <a:p>
                      <a:pPr algn="ctr"/>
                      <a:r>
                        <a:rPr lang="en-US" sz="1800" dirty="0"/>
                        <a:t>++</a:t>
                      </a:r>
                    </a:p>
                  </a:txBody>
                  <a:tcPr marL="78318" marR="78318"/>
                </a:tc>
                <a:tc>
                  <a:txBody>
                    <a:bodyPr/>
                    <a:lstStyle/>
                    <a:p>
                      <a:pPr algn="ctr"/>
                      <a:r>
                        <a:rPr lang="en-US" sz="1800" dirty="0"/>
                        <a:t>No data</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extLst>
                  <a:ext uri="{0D108BD9-81ED-4DB2-BD59-A6C34878D82A}">
                    <a16:rowId xmlns:a16="http://schemas.microsoft.com/office/drawing/2014/main" xmlns="" val="10004"/>
                  </a:ext>
                </a:extLst>
              </a:tr>
              <a:tr h="475982">
                <a:tc>
                  <a:txBody>
                    <a:bodyPr/>
                    <a:lstStyle/>
                    <a:p>
                      <a:r>
                        <a:rPr lang="en-US" sz="1800" b="1" dirty="0" err="1"/>
                        <a:t>Perphenazine</a:t>
                      </a:r>
                      <a:endParaRPr lang="en-US" sz="1800" b="1" dirty="0"/>
                    </a:p>
                  </a:txBody>
                  <a:tcPr marL="78318" marR="78318"/>
                </a:tc>
                <a:tc>
                  <a:txBody>
                    <a:bodyPr/>
                    <a:lstStyle/>
                    <a:p>
                      <a:pPr algn="ctr"/>
                      <a:r>
                        <a:rPr lang="en-US" sz="1800" dirty="0"/>
                        <a:t>++</a:t>
                      </a:r>
                    </a:p>
                  </a:txBody>
                  <a:tcPr marL="78318" marR="7831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No data</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extLst>
                  <a:ext uri="{0D108BD9-81ED-4DB2-BD59-A6C34878D82A}">
                    <a16:rowId xmlns:a16="http://schemas.microsoft.com/office/drawing/2014/main" xmlns="" val="10005"/>
                  </a:ext>
                </a:extLst>
              </a:tr>
              <a:tr h="475982">
                <a:tc>
                  <a:txBody>
                    <a:bodyPr/>
                    <a:lstStyle/>
                    <a:p>
                      <a:r>
                        <a:rPr lang="en-US" sz="1800" b="1" dirty="0" err="1"/>
                        <a:t>Pimozide</a:t>
                      </a:r>
                      <a:endParaRPr lang="en-US" sz="1800" b="1" dirty="0"/>
                    </a:p>
                  </a:txBody>
                  <a:tcPr marL="78318" marR="78318"/>
                </a:tc>
                <a:tc>
                  <a:txBody>
                    <a:bodyPr/>
                    <a:lstStyle/>
                    <a:p>
                      <a:pPr algn="ctr"/>
                      <a:r>
                        <a:rPr lang="en-US" sz="1800" dirty="0"/>
                        <a:t>+</a:t>
                      </a:r>
                    </a:p>
                  </a:txBody>
                  <a:tcPr marL="78318" marR="7831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No data</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extLst>
                  <a:ext uri="{0D108BD9-81ED-4DB2-BD59-A6C34878D82A}">
                    <a16:rowId xmlns:a16="http://schemas.microsoft.com/office/drawing/2014/main" xmlns="" val="10006"/>
                  </a:ext>
                </a:extLst>
              </a:tr>
              <a:tr h="475982">
                <a:tc>
                  <a:txBody>
                    <a:bodyPr/>
                    <a:lstStyle/>
                    <a:p>
                      <a:r>
                        <a:rPr lang="en-US" sz="1800" b="1" dirty="0" err="1"/>
                        <a:t>Thioridazine</a:t>
                      </a:r>
                      <a:r>
                        <a:rPr lang="en-US" sz="1800" b="1" dirty="0"/>
                        <a:t> </a:t>
                      </a:r>
                    </a:p>
                  </a:txBody>
                  <a:tcPr marL="78318" marR="78318"/>
                </a:tc>
                <a:tc>
                  <a:txBody>
                    <a:bodyPr/>
                    <a:lstStyle/>
                    <a:p>
                      <a:pPr algn="ctr"/>
                      <a:r>
                        <a:rPr lang="en-US" sz="1800" dirty="0"/>
                        <a:t>++</a:t>
                      </a:r>
                    </a:p>
                  </a:txBody>
                  <a:tcPr marL="78318" marR="7831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No data</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extLst>
                  <a:ext uri="{0D108BD9-81ED-4DB2-BD59-A6C34878D82A}">
                    <a16:rowId xmlns:a16="http://schemas.microsoft.com/office/drawing/2014/main" xmlns="" val="10007"/>
                  </a:ext>
                </a:extLst>
              </a:tr>
              <a:tr h="475982">
                <a:tc>
                  <a:txBody>
                    <a:bodyPr/>
                    <a:lstStyle/>
                    <a:p>
                      <a:r>
                        <a:rPr lang="en-US" sz="1800" b="1" dirty="0" err="1"/>
                        <a:t>Thiothixene</a:t>
                      </a:r>
                      <a:endParaRPr lang="en-US" sz="1800" b="1" dirty="0"/>
                    </a:p>
                  </a:txBody>
                  <a:tcPr marL="78318" marR="78318"/>
                </a:tc>
                <a:tc>
                  <a:txBody>
                    <a:bodyPr/>
                    <a:lstStyle/>
                    <a:p>
                      <a:pPr algn="ctr"/>
                      <a:r>
                        <a:rPr lang="en-US" sz="1800" dirty="0"/>
                        <a:t>++</a:t>
                      </a:r>
                    </a:p>
                  </a:txBody>
                  <a:tcPr marL="78318" marR="7831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No data</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extLst>
                  <a:ext uri="{0D108BD9-81ED-4DB2-BD59-A6C34878D82A}">
                    <a16:rowId xmlns:a16="http://schemas.microsoft.com/office/drawing/2014/main" xmlns="" val="10008"/>
                  </a:ext>
                </a:extLst>
              </a:tr>
              <a:tr h="475982">
                <a:tc>
                  <a:txBody>
                    <a:bodyPr/>
                    <a:lstStyle/>
                    <a:p>
                      <a:r>
                        <a:rPr lang="en-US" sz="1800" b="1" dirty="0" err="1"/>
                        <a:t>Trifluoperazine</a:t>
                      </a:r>
                      <a:r>
                        <a:rPr lang="en-US" sz="1800" b="1" baseline="0" dirty="0"/>
                        <a:t> </a:t>
                      </a:r>
                      <a:endParaRPr lang="en-US" sz="1800" b="1" dirty="0"/>
                    </a:p>
                  </a:txBody>
                  <a:tcPr marL="78318" marR="78318"/>
                </a:tc>
                <a:tc>
                  <a:txBody>
                    <a:bodyPr/>
                    <a:lstStyle/>
                    <a:p>
                      <a:pPr algn="ctr"/>
                      <a:r>
                        <a:rPr lang="en-US" sz="1800" dirty="0"/>
                        <a:t>++</a:t>
                      </a:r>
                    </a:p>
                  </a:txBody>
                  <a:tcPr marL="78318" marR="7831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No data</a:t>
                      </a:r>
                    </a:p>
                  </a:txBody>
                  <a:tcPr marL="78318" marR="78318"/>
                </a:tc>
                <a:tc>
                  <a:txBody>
                    <a:bodyPr/>
                    <a:lstStyle/>
                    <a:p>
                      <a:pPr algn="ctr"/>
                      <a:r>
                        <a:rPr lang="en-US" sz="1800" dirty="0"/>
                        <a:t>+++</a:t>
                      </a:r>
                    </a:p>
                  </a:txBody>
                  <a:tcPr marL="78318" marR="78318"/>
                </a:tc>
                <a:tc>
                  <a:txBody>
                    <a:bodyPr/>
                    <a:lstStyle/>
                    <a:p>
                      <a:pPr algn="ctr"/>
                      <a:r>
                        <a:rPr lang="en-US" sz="1800" dirty="0"/>
                        <a:t>++</a:t>
                      </a:r>
                    </a:p>
                  </a:txBody>
                  <a:tcPr marL="78318" marR="78318"/>
                </a:tc>
                <a:extLst>
                  <a:ext uri="{0D108BD9-81ED-4DB2-BD59-A6C34878D82A}">
                    <a16:rowId xmlns:a16="http://schemas.microsoft.com/office/drawing/2014/main" xmlns="" val="10009"/>
                  </a:ext>
                </a:extLst>
              </a:tr>
            </a:tbl>
          </a:graphicData>
        </a:graphic>
      </p:graphicFrame>
      <p:sp>
        <p:nvSpPr>
          <p:cNvPr id="5" name="TextBox 4"/>
          <p:cNvSpPr txBox="1"/>
          <p:nvPr/>
        </p:nvSpPr>
        <p:spPr>
          <a:xfrm>
            <a:off x="685800" y="6148623"/>
            <a:ext cx="8458200" cy="861774"/>
          </a:xfrm>
          <a:prstGeom prst="rect">
            <a:avLst/>
          </a:prstGeom>
          <a:noFill/>
        </p:spPr>
        <p:txBody>
          <a:bodyPr wrap="square" rtlCol="0">
            <a:spAutoFit/>
          </a:bodyPr>
          <a:lstStyle/>
          <a:p>
            <a:r>
              <a:rPr lang="en-US" sz="800" dirty="0"/>
              <a:t>Medical Letter on Drugs and Therapeutics (April 2016); Some Relative Adverse Effects of Second-Generation Antipsychotics (table 3); Vol. 58 (1493):52. </a:t>
            </a:r>
          </a:p>
          <a:p>
            <a:r>
              <a:rPr lang="en-US" sz="800" dirty="0" err="1"/>
              <a:t>Rummel</a:t>
            </a:r>
            <a:r>
              <a:rPr lang="en-US" sz="800" dirty="0"/>
              <a:t>-Kluge C, et al. Head-to-head comparisons of metabolic side effects of second generation antipsychotics in the treatment of schizophrenia: a systematic review and meta-analysis. </a:t>
            </a:r>
            <a:r>
              <a:rPr lang="en-US" sz="800" dirty="0" err="1"/>
              <a:t>Schizophr</a:t>
            </a:r>
            <a:r>
              <a:rPr lang="en-US" sz="800" dirty="0"/>
              <a:t> Res 2010; 123:225.</a:t>
            </a:r>
          </a:p>
          <a:p>
            <a:r>
              <a:rPr lang="en-US" sz="800" dirty="0" err="1"/>
              <a:t>Durán</a:t>
            </a:r>
            <a:r>
              <a:rPr lang="en-US" sz="800" dirty="0"/>
              <a:t> CE, </a:t>
            </a:r>
            <a:r>
              <a:rPr lang="en-US" sz="800" dirty="0" err="1"/>
              <a:t>Azermai</a:t>
            </a:r>
            <a:r>
              <a:rPr lang="en-US" sz="800" dirty="0"/>
              <a:t> M, Vander </a:t>
            </a:r>
            <a:r>
              <a:rPr lang="en-US" sz="800" dirty="0" err="1"/>
              <a:t>Stichele</a:t>
            </a:r>
            <a:r>
              <a:rPr lang="en-US" sz="800" dirty="0"/>
              <a:t> RH. Systematic review of anticholinergic risk scales in older adults. </a:t>
            </a:r>
            <a:r>
              <a:rPr lang="en-US" sz="800" dirty="0" err="1"/>
              <a:t>Eur</a:t>
            </a:r>
            <a:r>
              <a:rPr lang="en-US" sz="800" dirty="0"/>
              <a:t> J </a:t>
            </a:r>
            <a:r>
              <a:rPr lang="en-US" sz="800" dirty="0" err="1"/>
              <a:t>Clin</a:t>
            </a:r>
            <a:r>
              <a:rPr lang="en-US" sz="800" dirty="0"/>
              <a:t> </a:t>
            </a:r>
            <a:r>
              <a:rPr lang="en-US" sz="800" dirty="0" err="1"/>
              <a:t>Pharmacol</a:t>
            </a:r>
            <a:r>
              <a:rPr lang="en-US" sz="800" dirty="0"/>
              <a:t> 2013; 69:1485.</a:t>
            </a:r>
          </a:p>
          <a:p>
            <a:endParaRPr lang="en-US" dirty="0"/>
          </a:p>
        </p:txBody>
      </p:sp>
    </p:spTree>
    <p:extLst>
      <p:ext uri="{BB962C8B-B14F-4D97-AF65-F5344CB8AC3E}">
        <p14:creationId xmlns:p14="http://schemas.microsoft.com/office/powerpoint/2010/main" val="7153476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228600"/>
            <a:ext cx="8877300" cy="742950"/>
          </a:xfrm>
        </p:spPr>
        <p:txBody>
          <a:bodyPr>
            <a:normAutofit/>
          </a:bodyPr>
          <a:lstStyle/>
          <a:p>
            <a:r>
              <a:rPr lang="en-US" sz="3600" b="1" dirty="0"/>
              <a:t>Adverse Effect Profile: 1</a:t>
            </a:r>
            <a:r>
              <a:rPr lang="en-US" sz="3600" b="1" baseline="30000" dirty="0"/>
              <a:t>st</a:t>
            </a:r>
            <a:r>
              <a:rPr lang="en-US" sz="3600" b="1" dirty="0"/>
              <a:t> Generation</a:t>
            </a:r>
          </a:p>
        </p:txBody>
      </p:sp>
      <p:sp>
        <p:nvSpPr>
          <p:cNvPr id="2" name="Content Placeholder 1"/>
          <p:cNvSpPr>
            <a:spLocks noGrp="1"/>
          </p:cNvSpPr>
          <p:nvPr>
            <p:ph idx="1"/>
          </p:nvPr>
        </p:nvSpPr>
        <p:spPr/>
        <p:txBody>
          <a:bodyPr/>
          <a:lstStyle/>
          <a:p>
            <a:endParaRPr lang="en-US" dirty="0"/>
          </a:p>
        </p:txBody>
      </p:sp>
      <p:graphicFrame>
        <p:nvGraphicFramePr>
          <p:cNvPr id="4" name="Content Placeholder 3"/>
          <p:cNvGraphicFramePr>
            <a:graphicFrameLocks/>
          </p:cNvGraphicFramePr>
          <p:nvPr>
            <p:extLst>
              <p:ext uri="{D42A27DB-BD31-4B8C-83A1-F6EECF244321}">
                <p14:modId xmlns:p14="http://schemas.microsoft.com/office/powerpoint/2010/main" val="2009540753"/>
              </p:ext>
            </p:extLst>
          </p:nvPr>
        </p:nvGraphicFramePr>
        <p:xfrm>
          <a:off x="685799" y="971552"/>
          <a:ext cx="8229601" cy="5200644"/>
        </p:xfrm>
        <a:graphic>
          <a:graphicData uri="http://schemas.openxmlformats.org/drawingml/2006/table">
            <a:tbl>
              <a:tblPr firstRow="1" bandRow="1">
                <a:tableStyleId>{21E4AEA4-8DFA-4A89-87EB-49C32662AFE0}</a:tableStyleId>
              </a:tblPr>
              <a:tblGrid>
                <a:gridCol w="1715536">
                  <a:extLst>
                    <a:ext uri="{9D8B030D-6E8A-4147-A177-3AD203B41FA5}">
                      <a16:colId xmlns:a16="http://schemas.microsoft.com/office/drawing/2014/main" xmlns="" val="20000"/>
                    </a:ext>
                  </a:extLst>
                </a:gridCol>
                <a:gridCol w="1193416">
                  <a:extLst>
                    <a:ext uri="{9D8B030D-6E8A-4147-A177-3AD203B41FA5}">
                      <a16:colId xmlns:a16="http://schemas.microsoft.com/office/drawing/2014/main" xmlns="" val="20001"/>
                    </a:ext>
                  </a:extLst>
                </a:gridCol>
                <a:gridCol w="1790125">
                  <a:extLst>
                    <a:ext uri="{9D8B030D-6E8A-4147-A177-3AD203B41FA5}">
                      <a16:colId xmlns:a16="http://schemas.microsoft.com/office/drawing/2014/main" xmlns="" val="20002"/>
                    </a:ext>
                  </a:extLst>
                </a:gridCol>
                <a:gridCol w="1884604">
                  <a:extLst>
                    <a:ext uri="{9D8B030D-6E8A-4147-A177-3AD203B41FA5}">
                      <a16:colId xmlns:a16="http://schemas.microsoft.com/office/drawing/2014/main" xmlns="" val="20003"/>
                    </a:ext>
                  </a:extLst>
                </a:gridCol>
                <a:gridCol w="1645920">
                  <a:extLst>
                    <a:ext uri="{9D8B030D-6E8A-4147-A177-3AD203B41FA5}">
                      <a16:colId xmlns:a16="http://schemas.microsoft.com/office/drawing/2014/main" xmlns="" val="20004"/>
                    </a:ext>
                  </a:extLst>
                </a:gridCol>
              </a:tblGrid>
              <a:tr h="836886">
                <a:tc>
                  <a:txBody>
                    <a:bodyPr/>
                    <a:lstStyle/>
                    <a:p>
                      <a:endParaRPr lang="en-US" sz="2000" b="1" dirty="0">
                        <a:solidFill>
                          <a:schemeClr val="tx1"/>
                        </a:solidFill>
                      </a:endParaRPr>
                    </a:p>
                  </a:txBody>
                  <a:tcPr/>
                </a:tc>
                <a:tc>
                  <a:txBody>
                    <a:bodyPr/>
                    <a:lstStyle/>
                    <a:p>
                      <a:pPr algn="ctr"/>
                      <a:r>
                        <a:rPr lang="en-US" sz="2000" dirty="0">
                          <a:solidFill>
                            <a:schemeClr val="tx1"/>
                          </a:solidFill>
                        </a:rPr>
                        <a:t>Sedation</a:t>
                      </a:r>
                    </a:p>
                  </a:txBody>
                  <a:tcPr/>
                </a:tc>
                <a:tc>
                  <a:txBody>
                    <a:bodyPr/>
                    <a:lstStyle/>
                    <a:p>
                      <a:pPr algn="ctr"/>
                      <a:r>
                        <a:rPr lang="en-US" sz="2000" dirty="0">
                          <a:solidFill>
                            <a:schemeClr val="tx1"/>
                          </a:solidFill>
                        </a:rPr>
                        <a:t>Anti-</a:t>
                      </a:r>
                    </a:p>
                    <a:p>
                      <a:pPr algn="ctr"/>
                      <a:r>
                        <a:rPr lang="en-US" sz="2000" baseline="0" dirty="0">
                          <a:solidFill>
                            <a:schemeClr val="tx1"/>
                          </a:solidFill>
                        </a:rPr>
                        <a:t>Muscarinic </a:t>
                      </a:r>
                      <a:endParaRPr lang="en-US" sz="2000" dirty="0">
                        <a:solidFill>
                          <a:schemeClr val="tx1"/>
                        </a:solidFill>
                      </a:endParaRPr>
                    </a:p>
                  </a:txBody>
                  <a:tcPr/>
                </a:tc>
                <a:tc>
                  <a:txBody>
                    <a:bodyPr/>
                    <a:lstStyle/>
                    <a:p>
                      <a:pPr algn="ctr"/>
                      <a:r>
                        <a:rPr lang="en-US" sz="2000" dirty="0">
                          <a:solidFill>
                            <a:schemeClr val="tx1"/>
                          </a:solidFill>
                        </a:rPr>
                        <a:t>Orthostatic Hypotension</a:t>
                      </a:r>
                    </a:p>
                  </a:txBody>
                  <a:tcPr/>
                </a:tc>
                <a:tc>
                  <a:txBody>
                    <a:bodyPr/>
                    <a:lstStyle/>
                    <a:p>
                      <a:pPr algn="ctr"/>
                      <a:r>
                        <a:rPr lang="en-US" sz="2000" dirty="0" err="1">
                          <a:solidFill>
                            <a:schemeClr val="tx1"/>
                          </a:solidFill>
                        </a:rPr>
                        <a:t>QTc</a:t>
                      </a:r>
                      <a:r>
                        <a:rPr lang="en-US" sz="2000" dirty="0">
                          <a:solidFill>
                            <a:schemeClr val="tx1"/>
                          </a:solidFill>
                        </a:rPr>
                        <a:t> Prolongation</a:t>
                      </a:r>
                    </a:p>
                  </a:txBody>
                  <a:tcPr/>
                </a:tc>
                <a:extLst>
                  <a:ext uri="{0D108BD9-81ED-4DB2-BD59-A6C34878D82A}">
                    <a16:rowId xmlns:a16="http://schemas.microsoft.com/office/drawing/2014/main" xmlns="" val="10000"/>
                  </a:ext>
                </a:extLst>
              </a:tr>
              <a:tr h="484862">
                <a:tc>
                  <a:txBody>
                    <a:bodyPr/>
                    <a:lstStyle/>
                    <a:p>
                      <a:r>
                        <a:rPr lang="en-US" sz="1800" b="1" dirty="0"/>
                        <a:t>Chlorpromazine</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1"/>
                  </a:ext>
                </a:extLst>
              </a:tr>
              <a:tr h="484862">
                <a:tc>
                  <a:txBody>
                    <a:bodyPr/>
                    <a:lstStyle/>
                    <a:p>
                      <a:r>
                        <a:rPr lang="en-US" sz="1800" b="1" dirty="0" err="1"/>
                        <a:t>Fluphenazine</a:t>
                      </a:r>
                      <a:endParaRPr lang="en-US" sz="1800" b="1" dirty="0"/>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No data</a:t>
                      </a:r>
                    </a:p>
                  </a:txBody>
                  <a:tcPr/>
                </a:tc>
                <a:extLst>
                  <a:ext uri="{0D108BD9-81ED-4DB2-BD59-A6C34878D82A}">
                    <a16:rowId xmlns:a16="http://schemas.microsoft.com/office/drawing/2014/main" xmlns="" val="10002"/>
                  </a:ext>
                </a:extLst>
              </a:tr>
              <a:tr h="484862">
                <a:tc>
                  <a:txBody>
                    <a:bodyPr/>
                    <a:lstStyle/>
                    <a:p>
                      <a:r>
                        <a:rPr lang="en-US" sz="1800" b="1" dirty="0"/>
                        <a:t>Haloperidol</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3"/>
                  </a:ext>
                </a:extLst>
              </a:tr>
              <a:tr h="484862">
                <a:tc>
                  <a:txBody>
                    <a:bodyPr/>
                    <a:lstStyle/>
                    <a:p>
                      <a:r>
                        <a:rPr lang="en-US" sz="1800" b="1" dirty="0" err="1"/>
                        <a:t>Loxapine</a:t>
                      </a:r>
                      <a:endParaRPr lang="en-US" sz="1800" b="1" dirty="0"/>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4"/>
                  </a:ext>
                </a:extLst>
              </a:tr>
              <a:tr h="484862">
                <a:tc>
                  <a:txBody>
                    <a:bodyPr/>
                    <a:lstStyle/>
                    <a:p>
                      <a:r>
                        <a:rPr lang="en-US" sz="1800" b="1" dirty="0" err="1"/>
                        <a:t>Perphenazine</a:t>
                      </a:r>
                      <a:endParaRPr lang="en-US" sz="1800" b="1" dirty="0"/>
                    </a:p>
                  </a:txBody>
                  <a:tcPr/>
                </a:tc>
                <a:tc>
                  <a:txBody>
                    <a:bodyPr/>
                    <a:lstStyle/>
                    <a:p>
                      <a:pPr algn="ctr"/>
                      <a:r>
                        <a:rPr lang="en-US" sz="18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tc>
                <a:tc>
                  <a:txBody>
                    <a:bodyPr/>
                    <a:lstStyle/>
                    <a:p>
                      <a:pPr algn="ctr"/>
                      <a:r>
                        <a:rPr lang="en-US" sz="1800" dirty="0"/>
                        <a:t>-</a:t>
                      </a:r>
                    </a:p>
                  </a:txBody>
                  <a:tcPr/>
                </a:tc>
                <a:tc>
                  <a:txBody>
                    <a:bodyPr/>
                    <a:lstStyle/>
                    <a:p>
                      <a:pPr algn="ctr"/>
                      <a:r>
                        <a:rPr lang="en-US" sz="1800" dirty="0"/>
                        <a:t>No data</a:t>
                      </a:r>
                    </a:p>
                  </a:txBody>
                  <a:tcPr/>
                </a:tc>
                <a:extLst>
                  <a:ext uri="{0D108BD9-81ED-4DB2-BD59-A6C34878D82A}">
                    <a16:rowId xmlns:a16="http://schemas.microsoft.com/office/drawing/2014/main" xmlns="" val="10005"/>
                  </a:ext>
                </a:extLst>
              </a:tr>
              <a:tr h="484862">
                <a:tc>
                  <a:txBody>
                    <a:bodyPr/>
                    <a:lstStyle/>
                    <a:p>
                      <a:r>
                        <a:rPr lang="en-US" sz="1800" b="1" dirty="0" err="1"/>
                        <a:t>Pimozide</a:t>
                      </a:r>
                      <a:endParaRPr lang="en-US" sz="1800" b="1" dirty="0"/>
                    </a:p>
                  </a:txBody>
                  <a:tcPr/>
                </a:tc>
                <a:tc>
                  <a:txBody>
                    <a:bodyPr/>
                    <a:lstStyle/>
                    <a:p>
                      <a:pPr algn="ctr"/>
                      <a:r>
                        <a:rPr lang="en-US" sz="18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6"/>
                  </a:ext>
                </a:extLst>
              </a:tr>
              <a:tr h="484862">
                <a:tc>
                  <a:txBody>
                    <a:bodyPr/>
                    <a:lstStyle/>
                    <a:p>
                      <a:r>
                        <a:rPr lang="en-US" sz="1800" b="1" dirty="0" err="1"/>
                        <a:t>Thioridazine</a:t>
                      </a:r>
                      <a:r>
                        <a:rPr lang="en-US" sz="1800" b="1" dirty="0"/>
                        <a:t> </a:t>
                      </a:r>
                    </a:p>
                  </a:txBody>
                  <a:tcPr/>
                </a:tc>
                <a:tc>
                  <a:txBody>
                    <a:bodyPr/>
                    <a:lstStyle/>
                    <a:p>
                      <a:pPr algn="ctr"/>
                      <a:r>
                        <a:rPr lang="en-US" sz="18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7"/>
                  </a:ext>
                </a:extLst>
              </a:tr>
              <a:tr h="484862">
                <a:tc>
                  <a:txBody>
                    <a:bodyPr/>
                    <a:lstStyle/>
                    <a:p>
                      <a:r>
                        <a:rPr lang="en-US" sz="1800" b="1" dirty="0" err="1"/>
                        <a:t>Thiothixene</a:t>
                      </a:r>
                      <a:endParaRPr lang="en-US" sz="1800" b="1" dirty="0"/>
                    </a:p>
                  </a:txBody>
                  <a:tcPr/>
                </a:tc>
                <a:tc>
                  <a:txBody>
                    <a:bodyPr/>
                    <a:lstStyle/>
                    <a:p>
                      <a:pPr algn="ctr"/>
                      <a:r>
                        <a:rPr lang="en-US" sz="18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8"/>
                  </a:ext>
                </a:extLst>
              </a:tr>
              <a:tr h="484862">
                <a:tc>
                  <a:txBody>
                    <a:bodyPr/>
                    <a:lstStyle/>
                    <a:p>
                      <a:r>
                        <a:rPr lang="en-US" sz="1800" b="1" dirty="0" err="1"/>
                        <a:t>Trifluoperazine</a:t>
                      </a:r>
                      <a:r>
                        <a:rPr lang="en-US" sz="1800" b="1" baseline="0" dirty="0"/>
                        <a:t> </a:t>
                      </a:r>
                      <a:endParaRPr lang="en-US" sz="1800" b="1" dirty="0"/>
                    </a:p>
                  </a:txBody>
                  <a:tcPr/>
                </a:tc>
                <a:tc>
                  <a:txBody>
                    <a:bodyPr/>
                    <a:lstStyle/>
                    <a:p>
                      <a:pPr algn="ctr"/>
                      <a:r>
                        <a:rPr lang="en-US" sz="18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tc>
                <a:tc>
                  <a:txBody>
                    <a:bodyPr/>
                    <a:lstStyle/>
                    <a:p>
                      <a:pPr algn="ctr"/>
                      <a:r>
                        <a:rPr lang="en-US" sz="1800" dirty="0"/>
                        <a:t>+</a:t>
                      </a:r>
                    </a:p>
                  </a:txBody>
                  <a:tcPr/>
                </a:tc>
                <a:tc>
                  <a:txBody>
                    <a:bodyPr/>
                    <a:lstStyle/>
                    <a:p>
                      <a:pPr algn="ctr"/>
                      <a:r>
                        <a:rPr lang="en-US" sz="1800" dirty="0"/>
                        <a:t>No data</a:t>
                      </a:r>
                    </a:p>
                  </a:txBody>
                  <a:tcPr/>
                </a:tc>
                <a:extLst>
                  <a:ext uri="{0D108BD9-81ED-4DB2-BD59-A6C34878D82A}">
                    <a16:rowId xmlns:a16="http://schemas.microsoft.com/office/drawing/2014/main" xmlns="" val="10009"/>
                  </a:ext>
                </a:extLst>
              </a:tr>
            </a:tbl>
          </a:graphicData>
        </a:graphic>
      </p:graphicFrame>
      <p:sp>
        <p:nvSpPr>
          <p:cNvPr id="5" name="TextBox 4"/>
          <p:cNvSpPr txBox="1"/>
          <p:nvPr/>
        </p:nvSpPr>
        <p:spPr>
          <a:xfrm>
            <a:off x="685799" y="6172196"/>
            <a:ext cx="8229601" cy="861774"/>
          </a:xfrm>
          <a:prstGeom prst="rect">
            <a:avLst/>
          </a:prstGeom>
          <a:noFill/>
        </p:spPr>
        <p:txBody>
          <a:bodyPr wrap="square" rtlCol="0">
            <a:spAutoFit/>
          </a:bodyPr>
          <a:lstStyle/>
          <a:p>
            <a:r>
              <a:rPr lang="en-US" sz="800" dirty="0"/>
              <a:t>Medical Letter on Drugs and Therapeutics (April 2016); Some Relative Adverse Effects of Second-Generation Antipsychotics (table 3); Vol. 58 (1493):52. </a:t>
            </a:r>
          </a:p>
          <a:p>
            <a:r>
              <a:rPr lang="en-US" sz="800" dirty="0" err="1"/>
              <a:t>Rummel</a:t>
            </a:r>
            <a:r>
              <a:rPr lang="en-US" sz="800" dirty="0"/>
              <a:t>-Kluge C, et al. Head-to-head comparisons of metabolic side effects of second generation antipsychotics in the treatment of schizophrenia: a systematic review and meta-analysis. </a:t>
            </a:r>
            <a:r>
              <a:rPr lang="en-US" sz="800" dirty="0" err="1"/>
              <a:t>Schizophr</a:t>
            </a:r>
            <a:r>
              <a:rPr lang="en-US" sz="800" dirty="0"/>
              <a:t> Res 2010; 123:225.</a:t>
            </a:r>
          </a:p>
          <a:p>
            <a:r>
              <a:rPr lang="en-US" sz="800" dirty="0" err="1"/>
              <a:t>Durán</a:t>
            </a:r>
            <a:r>
              <a:rPr lang="en-US" sz="800" dirty="0"/>
              <a:t> CE, </a:t>
            </a:r>
            <a:r>
              <a:rPr lang="en-US" sz="800" dirty="0" err="1"/>
              <a:t>Azermai</a:t>
            </a:r>
            <a:r>
              <a:rPr lang="en-US" sz="800" dirty="0"/>
              <a:t> M, Vander </a:t>
            </a:r>
            <a:r>
              <a:rPr lang="en-US" sz="800" dirty="0" err="1"/>
              <a:t>Stichele</a:t>
            </a:r>
            <a:r>
              <a:rPr lang="en-US" sz="800" dirty="0"/>
              <a:t> RH. Systematic review of anticholinergic risk scales in older adults. </a:t>
            </a:r>
            <a:r>
              <a:rPr lang="en-US" sz="800" dirty="0" err="1"/>
              <a:t>Eur</a:t>
            </a:r>
            <a:r>
              <a:rPr lang="en-US" sz="800" dirty="0"/>
              <a:t> J </a:t>
            </a:r>
            <a:r>
              <a:rPr lang="en-US" sz="800" dirty="0" err="1"/>
              <a:t>Clin</a:t>
            </a:r>
            <a:r>
              <a:rPr lang="en-US" sz="800" dirty="0"/>
              <a:t> </a:t>
            </a:r>
            <a:r>
              <a:rPr lang="en-US" sz="800" dirty="0" err="1"/>
              <a:t>Pharmacol</a:t>
            </a:r>
            <a:r>
              <a:rPr lang="en-US" sz="800" dirty="0"/>
              <a:t> 2013; 69:1485.</a:t>
            </a:r>
          </a:p>
          <a:p>
            <a:endParaRPr lang="en-US" dirty="0"/>
          </a:p>
        </p:txBody>
      </p:sp>
    </p:spTree>
    <p:extLst>
      <p:ext uri="{BB962C8B-B14F-4D97-AF65-F5344CB8AC3E}">
        <p14:creationId xmlns:p14="http://schemas.microsoft.com/office/powerpoint/2010/main" val="16255195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1999" y="304800"/>
            <a:ext cx="8153401" cy="1485900"/>
          </a:xfrm>
        </p:spPr>
        <p:txBody>
          <a:bodyPr>
            <a:normAutofit/>
          </a:bodyPr>
          <a:lstStyle/>
          <a:p>
            <a:r>
              <a:rPr lang="en-US" sz="3600" b="1" dirty="0"/>
              <a:t>Adverse Effect Profile: 2</a:t>
            </a:r>
            <a:r>
              <a:rPr lang="en-US" sz="3600" b="1" baseline="30000" dirty="0"/>
              <a:t>nd </a:t>
            </a:r>
            <a:r>
              <a:rPr lang="en-US" sz="3600" b="1" dirty="0"/>
              <a:t>Generation</a:t>
            </a:r>
            <a:endParaRPr lang="en-US" sz="3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06087566"/>
              </p:ext>
            </p:extLst>
          </p:nvPr>
        </p:nvGraphicFramePr>
        <p:xfrm>
          <a:off x="757988" y="914400"/>
          <a:ext cx="8157412" cy="5354340"/>
        </p:xfrm>
        <a:graphic>
          <a:graphicData uri="http://schemas.openxmlformats.org/drawingml/2006/table">
            <a:tbl>
              <a:tblPr firstRow="1" bandRow="1">
                <a:tableStyleId>{21E4AEA4-8DFA-4A89-87EB-49C32662AFE0}</a:tableStyleId>
              </a:tblPr>
              <a:tblGrid>
                <a:gridCol w="1756612">
                  <a:extLst>
                    <a:ext uri="{9D8B030D-6E8A-4147-A177-3AD203B41FA5}">
                      <a16:colId xmlns:a16="http://schemas.microsoft.com/office/drawing/2014/main" xmlns="" val="20000"/>
                    </a:ext>
                  </a:extLst>
                </a:gridCol>
                <a:gridCol w="1676400">
                  <a:extLst>
                    <a:ext uri="{9D8B030D-6E8A-4147-A177-3AD203B41FA5}">
                      <a16:colId xmlns:a16="http://schemas.microsoft.com/office/drawing/2014/main" xmlns="" val="20001"/>
                    </a:ext>
                  </a:extLst>
                </a:gridCol>
                <a:gridCol w="1676400">
                  <a:extLst>
                    <a:ext uri="{9D8B030D-6E8A-4147-A177-3AD203B41FA5}">
                      <a16:colId xmlns:a16="http://schemas.microsoft.com/office/drawing/2014/main" xmlns="" val="20002"/>
                    </a:ext>
                  </a:extLst>
                </a:gridCol>
                <a:gridCol w="1524000">
                  <a:extLst>
                    <a:ext uri="{9D8B030D-6E8A-4147-A177-3AD203B41FA5}">
                      <a16:colId xmlns:a16="http://schemas.microsoft.com/office/drawing/2014/main" xmlns="" val="20003"/>
                    </a:ext>
                  </a:extLst>
                </a:gridCol>
                <a:gridCol w="1524000">
                  <a:extLst>
                    <a:ext uri="{9D8B030D-6E8A-4147-A177-3AD203B41FA5}">
                      <a16:colId xmlns:a16="http://schemas.microsoft.com/office/drawing/2014/main" xmlns="" val="20004"/>
                    </a:ext>
                  </a:extLst>
                </a:gridCol>
              </a:tblGrid>
              <a:tr h="680694">
                <a:tc>
                  <a:txBody>
                    <a:bodyPr/>
                    <a:lstStyle/>
                    <a:p>
                      <a:endParaRPr lang="en-US" sz="2000" b="1" dirty="0">
                        <a:solidFill>
                          <a:schemeClr val="tx1"/>
                        </a:solidFill>
                      </a:endParaRPr>
                    </a:p>
                  </a:txBody>
                  <a:tcPr/>
                </a:tc>
                <a:tc>
                  <a:txBody>
                    <a:bodyPr/>
                    <a:lstStyle/>
                    <a:p>
                      <a:pPr algn="ctr"/>
                      <a:r>
                        <a:rPr lang="en-US" sz="2000" dirty="0">
                          <a:solidFill>
                            <a:schemeClr val="tx1"/>
                          </a:solidFill>
                        </a:rPr>
                        <a:t>Weight Gain/DM</a:t>
                      </a:r>
                    </a:p>
                  </a:txBody>
                  <a:tcPr/>
                </a:tc>
                <a:tc>
                  <a:txBody>
                    <a:bodyPr/>
                    <a:lstStyle/>
                    <a:p>
                      <a:pPr algn="ctr"/>
                      <a:r>
                        <a:rPr lang="en-US" sz="2000" dirty="0">
                          <a:solidFill>
                            <a:schemeClr val="tx1"/>
                          </a:solidFill>
                        </a:rPr>
                        <a:t>Dyslipidemia</a:t>
                      </a:r>
                    </a:p>
                  </a:txBody>
                  <a:tcPr/>
                </a:tc>
                <a:tc>
                  <a:txBody>
                    <a:bodyPr/>
                    <a:lstStyle/>
                    <a:p>
                      <a:pPr algn="ctr"/>
                      <a:r>
                        <a:rPr lang="en-US" sz="2000" dirty="0">
                          <a:solidFill>
                            <a:schemeClr val="tx1"/>
                          </a:solidFill>
                        </a:rPr>
                        <a:t>EPS/TD</a:t>
                      </a:r>
                    </a:p>
                  </a:txBody>
                  <a:tcPr/>
                </a:tc>
                <a:tc>
                  <a:txBody>
                    <a:bodyPr/>
                    <a:lstStyle/>
                    <a:p>
                      <a:pPr algn="ctr"/>
                      <a:r>
                        <a:rPr lang="en-US" sz="2000" dirty="0">
                          <a:solidFill>
                            <a:schemeClr val="tx1"/>
                          </a:solidFill>
                        </a:rPr>
                        <a:t>Prolactin Elevation</a:t>
                      </a:r>
                    </a:p>
                  </a:txBody>
                  <a:tcPr/>
                </a:tc>
                <a:extLst>
                  <a:ext uri="{0D108BD9-81ED-4DB2-BD59-A6C34878D82A}">
                    <a16:rowId xmlns:a16="http://schemas.microsoft.com/office/drawing/2014/main" xmlns="" val="10000"/>
                  </a:ext>
                </a:extLst>
              </a:tr>
              <a:tr h="387775">
                <a:tc>
                  <a:txBody>
                    <a:bodyPr/>
                    <a:lstStyle/>
                    <a:p>
                      <a:r>
                        <a:rPr lang="en-US" sz="1800" b="1" dirty="0"/>
                        <a:t>Aripiprazole</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1"/>
                  </a:ext>
                </a:extLst>
              </a:tr>
              <a:tr h="387775">
                <a:tc>
                  <a:txBody>
                    <a:bodyPr/>
                    <a:lstStyle/>
                    <a:p>
                      <a:r>
                        <a:rPr lang="en-US" sz="1800" b="1" dirty="0" err="1"/>
                        <a:t>Asenapine</a:t>
                      </a:r>
                      <a:endParaRPr lang="en-US" sz="1800" b="1" dirty="0"/>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2"/>
                  </a:ext>
                </a:extLst>
              </a:tr>
              <a:tr h="387775">
                <a:tc>
                  <a:txBody>
                    <a:bodyPr/>
                    <a:lstStyle/>
                    <a:p>
                      <a:r>
                        <a:rPr lang="en-US" sz="1800" b="1" dirty="0" err="1"/>
                        <a:t>Brexpiprazole</a:t>
                      </a:r>
                      <a:endParaRPr lang="en-US" sz="1800" b="1" dirty="0"/>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3"/>
                  </a:ext>
                </a:extLst>
              </a:tr>
              <a:tr h="387775">
                <a:tc>
                  <a:txBody>
                    <a:bodyPr/>
                    <a:lstStyle/>
                    <a:p>
                      <a:r>
                        <a:rPr lang="en-US" sz="1800" b="1" dirty="0" err="1"/>
                        <a:t>Cariprazine</a:t>
                      </a:r>
                      <a:endParaRPr lang="en-US" sz="1800" b="1" dirty="0"/>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tc>
                <a:extLst>
                  <a:ext uri="{0D108BD9-81ED-4DB2-BD59-A6C34878D82A}">
                    <a16:rowId xmlns:a16="http://schemas.microsoft.com/office/drawing/2014/main" xmlns="" val="10004"/>
                  </a:ext>
                </a:extLst>
              </a:tr>
              <a:tr h="387775">
                <a:tc>
                  <a:txBody>
                    <a:bodyPr/>
                    <a:lstStyle/>
                    <a:p>
                      <a:r>
                        <a:rPr lang="en-US" sz="1800" b="1" dirty="0"/>
                        <a:t>Clozapine</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tc>
                <a:extLst>
                  <a:ext uri="{0D108BD9-81ED-4DB2-BD59-A6C34878D82A}">
                    <a16:rowId xmlns:a16="http://schemas.microsoft.com/office/drawing/2014/main" xmlns="" val="10005"/>
                  </a:ext>
                </a:extLst>
              </a:tr>
              <a:tr h="387775">
                <a:tc>
                  <a:txBody>
                    <a:bodyPr/>
                    <a:lstStyle/>
                    <a:p>
                      <a:r>
                        <a:rPr lang="en-US" sz="1800" b="1" dirty="0" err="1"/>
                        <a:t>Iloperidone</a:t>
                      </a:r>
                      <a:endParaRPr lang="en-US" sz="1800" b="1" dirty="0"/>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tc>
                <a:extLst>
                  <a:ext uri="{0D108BD9-81ED-4DB2-BD59-A6C34878D82A}">
                    <a16:rowId xmlns:a16="http://schemas.microsoft.com/office/drawing/2014/main" xmlns="" val="10006"/>
                  </a:ext>
                </a:extLst>
              </a:tr>
              <a:tr h="387775">
                <a:tc>
                  <a:txBody>
                    <a:bodyPr/>
                    <a:lstStyle/>
                    <a:p>
                      <a:r>
                        <a:rPr lang="en-US" sz="1800" b="1" dirty="0" err="1"/>
                        <a:t>Lurasidone</a:t>
                      </a:r>
                      <a:endParaRPr lang="en-US" sz="1800" b="1" dirty="0"/>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tc>
                <a:extLst>
                  <a:ext uri="{0D108BD9-81ED-4DB2-BD59-A6C34878D82A}">
                    <a16:rowId xmlns:a16="http://schemas.microsoft.com/office/drawing/2014/main" xmlns="" val="10007"/>
                  </a:ext>
                </a:extLst>
              </a:tr>
              <a:tr h="387775">
                <a:tc>
                  <a:txBody>
                    <a:bodyPr/>
                    <a:lstStyle/>
                    <a:p>
                      <a:r>
                        <a:rPr lang="en-US" sz="1800" b="1" dirty="0"/>
                        <a:t>Olanzapine</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8"/>
                  </a:ext>
                </a:extLst>
              </a:tr>
              <a:tr h="387775">
                <a:tc>
                  <a:txBody>
                    <a:bodyPr/>
                    <a:lstStyle/>
                    <a:p>
                      <a:r>
                        <a:rPr lang="en-US" sz="1800" b="1" dirty="0" err="1"/>
                        <a:t>Paliperidone</a:t>
                      </a:r>
                      <a:endParaRPr lang="en-US" sz="1800" b="1" dirty="0"/>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09"/>
                  </a:ext>
                </a:extLst>
              </a:tr>
              <a:tr h="387775">
                <a:tc>
                  <a:txBody>
                    <a:bodyPr/>
                    <a:lstStyle/>
                    <a:p>
                      <a:r>
                        <a:rPr lang="en-US" sz="1800" b="1" dirty="0"/>
                        <a:t>Quetiapine</a:t>
                      </a:r>
                      <a:r>
                        <a:rPr lang="en-US" sz="1800" b="1" baseline="0" dirty="0"/>
                        <a:t> </a:t>
                      </a:r>
                      <a:endParaRPr lang="en-US" sz="1800" b="1" dirty="0"/>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10"/>
                  </a:ext>
                </a:extLst>
              </a:tr>
              <a:tr h="387775">
                <a:tc>
                  <a:txBody>
                    <a:bodyPr/>
                    <a:lstStyle/>
                    <a:p>
                      <a:r>
                        <a:rPr lang="en-US" sz="1800" b="1" dirty="0"/>
                        <a:t>Risperidone</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11"/>
                  </a:ext>
                </a:extLst>
              </a:tr>
              <a:tr h="387775">
                <a:tc>
                  <a:txBody>
                    <a:bodyPr/>
                    <a:lstStyle/>
                    <a:p>
                      <a:r>
                        <a:rPr lang="en-US" sz="1800" b="1" dirty="0"/>
                        <a:t>Ziprasidone</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tc>
                  <a:txBody>
                    <a:bodyPr/>
                    <a:lstStyle/>
                    <a:p>
                      <a:pPr algn="ctr"/>
                      <a:r>
                        <a:rPr lang="en-US" sz="1800" dirty="0"/>
                        <a:t>+</a:t>
                      </a:r>
                    </a:p>
                  </a:txBody>
                  <a:tcPr/>
                </a:tc>
                <a:extLst>
                  <a:ext uri="{0D108BD9-81ED-4DB2-BD59-A6C34878D82A}">
                    <a16:rowId xmlns:a16="http://schemas.microsoft.com/office/drawing/2014/main" xmlns="" val="10012"/>
                  </a:ext>
                </a:extLst>
              </a:tr>
            </a:tbl>
          </a:graphicData>
        </a:graphic>
      </p:graphicFrame>
      <p:sp>
        <p:nvSpPr>
          <p:cNvPr id="5" name="TextBox 4"/>
          <p:cNvSpPr txBox="1"/>
          <p:nvPr/>
        </p:nvSpPr>
        <p:spPr>
          <a:xfrm>
            <a:off x="609600" y="6248398"/>
            <a:ext cx="8305800" cy="830997"/>
          </a:xfrm>
          <a:prstGeom prst="rect">
            <a:avLst/>
          </a:prstGeom>
          <a:noFill/>
        </p:spPr>
        <p:txBody>
          <a:bodyPr wrap="square" rtlCol="0">
            <a:spAutoFit/>
          </a:bodyPr>
          <a:lstStyle/>
          <a:p>
            <a:r>
              <a:rPr lang="en-US" sz="750" dirty="0"/>
              <a:t>Medical Letter on Drugs and Therapeutics (April 2016); Some Relative Adverse Effects of Second-Generation Antipsychotics (table 3); Vol. 58 (1493):52. </a:t>
            </a:r>
          </a:p>
          <a:p>
            <a:r>
              <a:rPr lang="en-US" sz="750" dirty="0" err="1"/>
              <a:t>Rummel</a:t>
            </a:r>
            <a:r>
              <a:rPr lang="en-US" sz="750" dirty="0"/>
              <a:t>-Kluge C, et al. Head-to-head comparisons of metabolic side effects of second generation antipsychotics in the treatment of schizophrenia: a systematic review and meta-analysis. </a:t>
            </a:r>
            <a:r>
              <a:rPr lang="en-US" sz="750" dirty="0" err="1"/>
              <a:t>Schizophr</a:t>
            </a:r>
            <a:r>
              <a:rPr lang="en-US" sz="750" dirty="0"/>
              <a:t> Res 2010; 123:225.</a:t>
            </a:r>
          </a:p>
          <a:p>
            <a:r>
              <a:rPr lang="en-US" sz="750" dirty="0" err="1"/>
              <a:t>Durán</a:t>
            </a:r>
            <a:r>
              <a:rPr lang="en-US" sz="750" dirty="0"/>
              <a:t> CE, </a:t>
            </a:r>
            <a:r>
              <a:rPr lang="en-US" sz="750" dirty="0" err="1"/>
              <a:t>Azermai</a:t>
            </a:r>
            <a:r>
              <a:rPr lang="en-US" sz="750" dirty="0"/>
              <a:t> M, Vander </a:t>
            </a:r>
            <a:r>
              <a:rPr lang="en-US" sz="750" dirty="0" err="1"/>
              <a:t>Stichele</a:t>
            </a:r>
            <a:r>
              <a:rPr lang="en-US" sz="750" dirty="0"/>
              <a:t> RH. Systematic review of anticholinergic risk scales in older adults. </a:t>
            </a:r>
            <a:r>
              <a:rPr lang="en-US" sz="750" dirty="0" err="1"/>
              <a:t>Eur</a:t>
            </a:r>
            <a:r>
              <a:rPr lang="en-US" sz="750" dirty="0"/>
              <a:t> J </a:t>
            </a:r>
            <a:r>
              <a:rPr lang="en-US" sz="750" dirty="0" err="1"/>
              <a:t>Clin</a:t>
            </a:r>
            <a:r>
              <a:rPr lang="en-US" sz="750" dirty="0"/>
              <a:t> </a:t>
            </a:r>
            <a:r>
              <a:rPr lang="en-US" sz="750" dirty="0" err="1"/>
              <a:t>Pharmacol</a:t>
            </a:r>
            <a:r>
              <a:rPr lang="en-US" sz="750" dirty="0"/>
              <a:t> 2013; 69:1485.</a:t>
            </a:r>
          </a:p>
          <a:p>
            <a:endParaRPr lang="en-US" dirty="0"/>
          </a:p>
        </p:txBody>
      </p:sp>
    </p:spTree>
    <p:extLst>
      <p:ext uri="{BB962C8B-B14F-4D97-AF65-F5344CB8AC3E}">
        <p14:creationId xmlns:p14="http://schemas.microsoft.com/office/powerpoint/2010/main" val="12234281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04800"/>
            <a:ext cx="8153400" cy="685800"/>
          </a:xfrm>
        </p:spPr>
        <p:txBody>
          <a:bodyPr>
            <a:noAutofit/>
          </a:bodyPr>
          <a:lstStyle/>
          <a:p>
            <a:r>
              <a:rPr lang="en-US" sz="3600" b="1" dirty="0"/>
              <a:t>Adverse Effect Profile: 2</a:t>
            </a:r>
            <a:r>
              <a:rPr lang="en-US" sz="3600" b="1" baseline="30000" dirty="0"/>
              <a:t>nd </a:t>
            </a:r>
            <a:r>
              <a:rPr lang="en-US" sz="3600" b="1" dirty="0"/>
              <a:t>Generation</a:t>
            </a:r>
          </a:p>
        </p:txBody>
      </p:sp>
      <p:sp>
        <p:nvSpPr>
          <p:cNvPr id="2" name="Content Placeholder 1"/>
          <p:cNvSpPr>
            <a:spLocks noGrp="1"/>
          </p:cNvSpPr>
          <p:nvPr>
            <p:ph idx="1"/>
          </p:nvPr>
        </p:nvSpPr>
        <p:spPr/>
        <p:txBody>
          <a:bodyPr/>
          <a:lstStyle/>
          <a:p>
            <a:endParaRPr lang="en-US"/>
          </a:p>
        </p:txBody>
      </p:sp>
      <p:graphicFrame>
        <p:nvGraphicFramePr>
          <p:cNvPr id="4" name="Content Placeholder 3"/>
          <p:cNvGraphicFramePr>
            <a:graphicFrameLocks/>
          </p:cNvGraphicFramePr>
          <p:nvPr>
            <p:extLst>
              <p:ext uri="{D42A27DB-BD31-4B8C-83A1-F6EECF244321}">
                <p14:modId xmlns:p14="http://schemas.microsoft.com/office/powerpoint/2010/main" val="1757528039"/>
              </p:ext>
            </p:extLst>
          </p:nvPr>
        </p:nvGraphicFramePr>
        <p:xfrm>
          <a:off x="757989" y="1026699"/>
          <a:ext cx="8157410" cy="5275320"/>
        </p:xfrm>
        <a:graphic>
          <a:graphicData uri="http://schemas.openxmlformats.org/drawingml/2006/table">
            <a:tbl>
              <a:tblPr firstRow="1" bandRow="1">
                <a:tableStyleId>{21E4AEA4-8DFA-4A89-87EB-49C32662AFE0}</a:tableStyleId>
              </a:tblPr>
              <a:tblGrid>
                <a:gridCol w="1631482">
                  <a:extLst>
                    <a:ext uri="{9D8B030D-6E8A-4147-A177-3AD203B41FA5}">
                      <a16:colId xmlns:a16="http://schemas.microsoft.com/office/drawing/2014/main" xmlns="" val="20000"/>
                    </a:ext>
                  </a:extLst>
                </a:gridCol>
                <a:gridCol w="1399821">
                  <a:extLst>
                    <a:ext uri="{9D8B030D-6E8A-4147-A177-3AD203B41FA5}">
                      <a16:colId xmlns:a16="http://schemas.microsoft.com/office/drawing/2014/main" xmlns="" val="20001"/>
                    </a:ext>
                  </a:extLst>
                </a:gridCol>
                <a:gridCol w="1774422">
                  <a:extLst>
                    <a:ext uri="{9D8B030D-6E8A-4147-A177-3AD203B41FA5}">
                      <a16:colId xmlns:a16="http://schemas.microsoft.com/office/drawing/2014/main" xmlns="" val="20002"/>
                    </a:ext>
                  </a:extLst>
                </a:gridCol>
                <a:gridCol w="1720203">
                  <a:extLst>
                    <a:ext uri="{9D8B030D-6E8A-4147-A177-3AD203B41FA5}">
                      <a16:colId xmlns:a16="http://schemas.microsoft.com/office/drawing/2014/main" xmlns="" val="20003"/>
                    </a:ext>
                  </a:extLst>
                </a:gridCol>
                <a:gridCol w="1631482">
                  <a:extLst>
                    <a:ext uri="{9D8B030D-6E8A-4147-A177-3AD203B41FA5}">
                      <a16:colId xmlns:a16="http://schemas.microsoft.com/office/drawing/2014/main" xmlns="" val="20004"/>
                    </a:ext>
                  </a:extLst>
                </a:gridCol>
              </a:tblGrid>
              <a:tr h="683524">
                <a:tc>
                  <a:txBody>
                    <a:bodyPr/>
                    <a:lstStyle/>
                    <a:p>
                      <a:endParaRPr lang="en-US" sz="2000" b="1" dirty="0">
                        <a:solidFill>
                          <a:schemeClr val="tx1"/>
                        </a:solidFill>
                      </a:endParaRPr>
                    </a:p>
                  </a:txBody>
                  <a:tcPr/>
                </a:tc>
                <a:tc>
                  <a:txBody>
                    <a:bodyPr/>
                    <a:lstStyle/>
                    <a:p>
                      <a:pPr algn="ctr"/>
                      <a:r>
                        <a:rPr lang="en-US" sz="2000" dirty="0">
                          <a:solidFill>
                            <a:schemeClr val="tx1"/>
                          </a:solidFill>
                        </a:rPr>
                        <a:t>Sedation</a:t>
                      </a:r>
                    </a:p>
                  </a:txBody>
                  <a:tcPr/>
                </a:tc>
                <a:tc>
                  <a:txBody>
                    <a:bodyPr/>
                    <a:lstStyle/>
                    <a:p>
                      <a:pPr algn="ctr"/>
                      <a:r>
                        <a:rPr lang="en-US" sz="2000" dirty="0">
                          <a:solidFill>
                            <a:schemeClr val="tx1"/>
                          </a:solidFill>
                        </a:rPr>
                        <a:t>Anti-</a:t>
                      </a:r>
                    </a:p>
                    <a:p>
                      <a:pPr algn="ctr"/>
                      <a:r>
                        <a:rPr lang="en-US" sz="2000" dirty="0">
                          <a:solidFill>
                            <a:schemeClr val="tx1"/>
                          </a:solidFill>
                        </a:rPr>
                        <a:t>Muscarinic</a:t>
                      </a:r>
                    </a:p>
                  </a:txBody>
                  <a:tcPr/>
                </a:tc>
                <a:tc>
                  <a:txBody>
                    <a:bodyPr/>
                    <a:lstStyle/>
                    <a:p>
                      <a:pPr algn="ctr"/>
                      <a:r>
                        <a:rPr lang="en-US" sz="2000" dirty="0">
                          <a:solidFill>
                            <a:schemeClr val="tx1"/>
                          </a:solidFill>
                        </a:rPr>
                        <a:t>Orthostatic Hypotension</a:t>
                      </a:r>
                    </a:p>
                  </a:txBody>
                  <a:tcPr/>
                </a:tc>
                <a:tc>
                  <a:txBody>
                    <a:bodyPr/>
                    <a:lstStyle/>
                    <a:p>
                      <a:pPr algn="ctr"/>
                      <a:r>
                        <a:rPr lang="en-US" sz="2000" dirty="0" err="1">
                          <a:solidFill>
                            <a:schemeClr val="tx1"/>
                          </a:solidFill>
                        </a:rPr>
                        <a:t>QTc</a:t>
                      </a:r>
                      <a:r>
                        <a:rPr lang="en-US" sz="2000" baseline="0" dirty="0">
                          <a:solidFill>
                            <a:schemeClr val="tx1"/>
                          </a:solidFill>
                        </a:rPr>
                        <a:t> Prolongation </a:t>
                      </a:r>
                      <a:endParaRPr lang="en-US" sz="2000" dirty="0">
                        <a:solidFill>
                          <a:schemeClr val="tx1"/>
                        </a:solidFill>
                      </a:endParaRPr>
                    </a:p>
                  </a:txBody>
                  <a:tcPr/>
                </a:tc>
                <a:extLst>
                  <a:ext uri="{0D108BD9-81ED-4DB2-BD59-A6C34878D82A}">
                    <a16:rowId xmlns:a16="http://schemas.microsoft.com/office/drawing/2014/main" xmlns="" val="10000"/>
                  </a:ext>
                </a:extLst>
              </a:tr>
              <a:tr h="381190">
                <a:tc>
                  <a:txBody>
                    <a:bodyPr/>
                    <a:lstStyle/>
                    <a:p>
                      <a:r>
                        <a:rPr lang="en-US" sz="1800" b="1" dirty="0">
                          <a:solidFill>
                            <a:schemeClr val="tx1"/>
                          </a:solidFill>
                        </a:rPr>
                        <a:t>Aripiprazole</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extLst>
                  <a:ext uri="{0D108BD9-81ED-4DB2-BD59-A6C34878D82A}">
                    <a16:rowId xmlns:a16="http://schemas.microsoft.com/office/drawing/2014/main" xmlns="" val="10001"/>
                  </a:ext>
                </a:extLst>
              </a:tr>
              <a:tr h="381190">
                <a:tc>
                  <a:txBody>
                    <a:bodyPr/>
                    <a:lstStyle/>
                    <a:p>
                      <a:r>
                        <a:rPr lang="en-US" sz="1800" b="1" dirty="0" err="1">
                          <a:solidFill>
                            <a:schemeClr val="tx1"/>
                          </a:solidFill>
                        </a:rPr>
                        <a:t>Asenapine</a:t>
                      </a:r>
                      <a:endParaRPr lang="en-US" sz="1800" b="1" dirty="0">
                        <a:solidFill>
                          <a:schemeClr val="tx1"/>
                        </a:solidFill>
                      </a:endParaRP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extLst>
                  <a:ext uri="{0D108BD9-81ED-4DB2-BD59-A6C34878D82A}">
                    <a16:rowId xmlns:a16="http://schemas.microsoft.com/office/drawing/2014/main" xmlns="" val="10002"/>
                  </a:ext>
                </a:extLst>
              </a:tr>
              <a:tr h="381190">
                <a:tc>
                  <a:txBody>
                    <a:bodyPr/>
                    <a:lstStyle/>
                    <a:p>
                      <a:r>
                        <a:rPr lang="en-US" sz="1800" b="1" dirty="0" err="1">
                          <a:solidFill>
                            <a:schemeClr val="tx1"/>
                          </a:solidFill>
                        </a:rPr>
                        <a:t>Brexpiprazole</a:t>
                      </a:r>
                      <a:endParaRPr lang="en-US" sz="1800" b="1" dirty="0">
                        <a:solidFill>
                          <a:schemeClr val="tx1"/>
                        </a:solidFill>
                      </a:endParaRP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extLst>
                  <a:ext uri="{0D108BD9-81ED-4DB2-BD59-A6C34878D82A}">
                    <a16:rowId xmlns:a16="http://schemas.microsoft.com/office/drawing/2014/main" xmlns="" val="10003"/>
                  </a:ext>
                </a:extLst>
              </a:tr>
              <a:tr h="381190">
                <a:tc>
                  <a:txBody>
                    <a:bodyPr/>
                    <a:lstStyle/>
                    <a:p>
                      <a:r>
                        <a:rPr lang="en-US" sz="1800" b="1" dirty="0" err="1">
                          <a:solidFill>
                            <a:schemeClr val="tx1"/>
                          </a:solidFill>
                        </a:rPr>
                        <a:t>Cariprazine</a:t>
                      </a:r>
                      <a:endParaRPr lang="en-US" sz="1800" b="1" dirty="0">
                        <a:solidFill>
                          <a:schemeClr val="tx1"/>
                        </a:solidFill>
                      </a:endParaRP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p>
                  </a:txBody>
                  <a:tcPr/>
                </a:tc>
                <a:extLst>
                  <a:ext uri="{0D108BD9-81ED-4DB2-BD59-A6C34878D82A}">
                    <a16:rowId xmlns:a16="http://schemas.microsoft.com/office/drawing/2014/main" xmlns="" val="10004"/>
                  </a:ext>
                </a:extLst>
              </a:tr>
              <a:tr h="381190">
                <a:tc>
                  <a:txBody>
                    <a:bodyPr/>
                    <a:lstStyle/>
                    <a:p>
                      <a:r>
                        <a:rPr lang="en-US" sz="1800" b="1" dirty="0">
                          <a:solidFill>
                            <a:schemeClr val="tx1"/>
                          </a:solidFill>
                        </a:rPr>
                        <a:t>Clozapine</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p>
                  </a:txBody>
                  <a:tcPr/>
                </a:tc>
                <a:extLst>
                  <a:ext uri="{0D108BD9-81ED-4DB2-BD59-A6C34878D82A}">
                    <a16:rowId xmlns:a16="http://schemas.microsoft.com/office/drawing/2014/main" xmlns="" val="10005"/>
                  </a:ext>
                </a:extLst>
              </a:tr>
              <a:tr h="381190">
                <a:tc>
                  <a:txBody>
                    <a:bodyPr/>
                    <a:lstStyle/>
                    <a:p>
                      <a:r>
                        <a:rPr lang="en-US" sz="1800" b="1" dirty="0" err="1">
                          <a:solidFill>
                            <a:schemeClr val="tx1"/>
                          </a:solidFill>
                        </a:rPr>
                        <a:t>Iloperidone</a:t>
                      </a:r>
                      <a:endParaRPr lang="en-US" sz="1800" b="1" dirty="0">
                        <a:solidFill>
                          <a:schemeClr val="tx1"/>
                        </a:solidFill>
                      </a:endParaRP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p>
                  </a:txBody>
                  <a:tcPr/>
                </a:tc>
                <a:extLst>
                  <a:ext uri="{0D108BD9-81ED-4DB2-BD59-A6C34878D82A}">
                    <a16:rowId xmlns:a16="http://schemas.microsoft.com/office/drawing/2014/main" xmlns="" val="10006"/>
                  </a:ext>
                </a:extLst>
              </a:tr>
              <a:tr h="381190">
                <a:tc>
                  <a:txBody>
                    <a:bodyPr/>
                    <a:lstStyle/>
                    <a:p>
                      <a:r>
                        <a:rPr lang="en-US" sz="1800" b="1" dirty="0" err="1">
                          <a:solidFill>
                            <a:schemeClr val="tx1"/>
                          </a:solidFill>
                        </a:rPr>
                        <a:t>Lurasidone</a:t>
                      </a:r>
                      <a:endParaRPr lang="en-US" sz="1800" b="1" dirty="0">
                        <a:solidFill>
                          <a:schemeClr val="tx1"/>
                        </a:solidFill>
                      </a:endParaRP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p>
                  </a:txBody>
                  <a:tcPr/>
                </a:tc>
                <a:extLst>
                  <a:ext uri="{0D108BD9-81ED-4DB2-BD59-A6C34878D82A}">
                    <a16:rowId xmlns:a16="http://schemas.microsoft.com/office/drawing/2014/main" xmlns="" val="10007"/>
                  </a:ext>
                </a:extLst>
              </a:tr>
              <a:tr h="381190">
                <a:tc>
                  <a:txBody>
                    <a:bodyPr/>
                    <a:lstStyle/>
                    <a:p>
                      <a:r>
                        <a:rPr lang="en-US" sz="1800" b="1" dirty="0">
                          <a:solidFill>
                            <a:schemeClr val="tx1"/>
                          </a:solidFill>
                        </a:rPr>
                        <a:t>Olanzapine</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extLst>
                  <a:ext uri="{0D108BD9-81ED-4DB2-BD59-A6C34878D82A}">
                    <a16:rowId xmlns:a16="http://schemas.microsoft.com/office/drawing/2014/main" xmlns="" val="10008"/>
                  </a:ext>
                </a:extLst>
              </a:tr>
              <a:tr h="381190">
                <a:tc>
                  <a:txBody>
                    <a:bodyPr/>
                    <a:lstStyle/>
                    <a:p>
                      <a:r>
                        <a:rPr lang="en-US" sz="1800" b="1" dirty="0" err="1">
                          <a:solidFill>
                            <a:schemeClr val="tx1"/>
                          </a:solidFill>
                        </a:rPr>
                        <a:t>Paliperidone</a:t>
                      </a:r>
                      <a:endParaRPr lang="en-US" sz="1800" b="1" dirty="0">
                        <a:solidFill>
                          <a:schemeClr val="tx1"/>
                        </a:solidFill>
                      </a:endParaRP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extLst>
                  <a:ext uri="{0D108BD9-81ED-4DB2-BD59-A6C34878D82A}">
                    <a16:rowId xmlns:a16="http://schemas.microsoft.com/office/drawing/2014/main" xmlns="" val="10009"/>
                  </a:ext>
                </a:extLst>
              </a:tr>
              <a:tr h="381190">
                <a:tc>
                  <a:txBody>
                    <a:bodyPr/>
                    <a:lstStyle/>
                    <a:p>
                      <a:r>
                        <a:rPr lang="en-US" sz="1800" b="1" dirty="0">
                          <a:solidFill>
                            <a:schemeClr val="tx1"/>
                          </a:solidFill>
                        </a:rPr>
                        <a:t>Quetiapine</a:t>
                      </a:r>
                      <a:r>
                        <a:rPr lang="en-US" sz="1800" b="1" baseline="0" dirty="0">
                          <a:solidFill>
                            <a:schemeClr val="tx1"/>
                          </a:solidFill>
                        </a:rPr>
                        <a:t> </a:t>
                      </a:r>
                      <a:endParaRPr lang="en-US" sz="1800" b="1" dirty="0">
                        <a:solidFill>
                          <a:schemeClr val="tx1"/>
                        </a:solidFill>
                      </a:endParaRP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extLst>
                  <a:ext uri="{0D108BD9-81ED-4DB2-BD59-A6C34878D82A}">
                    <a16:rowId xmlns:a16="http://schemas.microsoft.com/office/drawing/2014/main" xmlns="" val="10010"/>
                  </a:ext>
                </a:extLst>
              </a:tr>
              <a:tr h="381190">
                <a:tc>
                  <a:txBody>
                    <a:bodyPr/>
                    <a:lstStyle/>
                    <a:p>
                      <a:r>
                        <a:rPr lang="en-US" sz="1800" b="1" dirty="0">
                          <a:solidFill>
                            <a:schemeClr val="tx1"/>
                          </a:solidFill>
                        </a:rPr>
                        <a:t>Risperidone</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extLst>
                  <a:ext uri="{0D108BD9-81ED-4DB2-BD59-A6C34878D82A}">
                    <a16:rowId xmlns:a16="http://schemas.microsoft.com/office/drawing/2014/main" xmlns="" val="10011"/>
                  </a:ext>
                </a:extLst>
              </a:tr>
              <a:tr h="381190">
                <a:tc>
                  <a:txBody>
                    <a:bodyPr/>
                    <a:lstStyle/>
                    <a:p>
                      <a:r>
                        <a:rPr lang="en-US" sz="1800" b="1" dirty="0">
                          <a:solidFill>
                            <a:schemeClr val="tx1"/>
                          </a:solidFill>
                        </a:rPr>
                        <a:t>Ziprasidone</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tc>
                  <a:txBody>
                    <a:bodyPr/>
                    <a:lstStyle/>
                    <a:p>
                      <a:pPr algn="ctr"/>
                      <a:r>
                        <a:rPr lang="en-US" sz="1800" dirty="0">
                          <a:solidFill>
                            <a:schemeClr val="tx1"/>
                          </a:solidFill>
                        </a:rPr>
                        <a:t>++</a:t>
                      </a:r>
                    </a:p>
                  </a:txBody>
                  <a:tcPr/>
                </a:tc>
                <a:extLst>
                  <a:ext uri="{0D108BD9-81ED-4DB2-BD59-A6C34878D82A}">
                    <a16:rowId xmlns:a16="http://schemas.microsoft.com/office/drawing/2014/main" xmlns="" val="10012"/>
                  </a:ext>
                </a:extLst>
              </a:tr>
            </a:tbl>
          </a:graphicData>
        </a:graphic>
      </p:graphicFrame>
      <p:sp>
        <p:nvSpPr>
          <p:cNvPr id="5" name="TextBox 4"/>
          <p:cNvSpPr txBox="1"/>
          <p:nvPr/>
        </p:nvSpPr>
        <p:spPr>
          <a:xfrm>
            <a:off x="757989" y="6284498"/>
            <a:ext cx="8157410" cy="830997"/>
          </a:xfrm>
          <a:prstGeom prst="rect">
            <a:avLst/>
          </a:prstGeom>
          <a:noFill/>
        </p:spPr>
        <p:txBody>
          <a:bodyPr wrap="square" rtlCol="0">
            <a:spAutoFit/>
          </a:bodyPr>
          <a:lstStyle/>
          <a:p>
            <a:r>
              <a:rPr lang="en-US" sz="750" dirty="0"/>
              <a:t>Medical Letter on Drugs and Therapeutics (April 2016); Some Relative Adverse Effects of Second-Generation Antipsychotics (table 3); Vol. 58 (1493):52. </a:t>
            </a:r>
          </a:p>
          <a:p>
            <a:r>
              <a:rPr lang="en-US" sz="750" dirty="0" err="1"/>
              <a:t>Rummel</a:t>
            </a:r>
            <a:r>
              <a:rPr lang="en-US" sz="750" dirty="0"/>
              <a:t>-Kluge C, et al. Head-to-head comparisons of metabolic side effects of second generation antipsychotics in the treatment of schizophrenia: a systematic review and meta-analysis. </a:t>
            </a:r>
            <a:r>
              <a:rPr lang="en-US" sz="750" dirty="0" err="1"/>
              <a:t>Schizophr</a:t>
            </a:r>
            <a:r>
              <a:rPr lang="en-US" sz="750" dirty="0"/>
              <a:t> Res 2010; 123:225.</a:t>
            </a:r>
          </a:p>
          <a:p>
            <a:r>
              <a:rPr lang="en-US" sz="750" dirty="0" err="1"/>
              <a:t>Durán</a:t>
            </a:r>
            <a:r>
              <a:rPr lang="en-US" sz="750" dirty="0"/>
              <a:t> CE, </a:t>
            </a:r>
            <a:r>
              <a:rPr lang="en-US" sz="750" dirty="0" err="1"/>
              <a:t>Azermai</a:t>
            </a:r>
            <a:r>
              <a:rPr lang="en-US" sz="750" dirty="0"/>
              <a:t> M, Vander </a:t>
            </a:r>
            <a:r>
              <a:rPr lang="en-US" sz="750" dirty="0" err="1"/>
              <a:t>Stichele</a:t>
            </a:r>
            <a:r>
              <a:rPr lang="en-US" sz="750" dirty="0"/>
              <a:t> RH. Systematic review of anticholinergic risk scales in older adults. </a:t>
            </a:r>
            <a:r>
              <a:rPr lang="en-US" sz="750" dirty="0" err="1"/>
              <a:t>Eur</a:t>
            </a:r>
            <a:r>
              <a:rPr lang="en-US" sz="750" dirty="0"/>
              <a:t> J </a:t>
            </a:r>
            <a:r>
              <a:rPr lang="en-US" sz="750" dirty="0" err="1"/>
              <a:t>Clin</a:t>
            </a:r>
            <a:r>
              <a:rPr lang="en-US" sz="750" dirty="0"/>
              <a:t> </a:t>
            </a:r>
            <a:r>
              <a:rPr lang="en-US" sz="750" dirty="0" err="1"/>
              <a:t>Pharmacol</a:t>
            </a:r>
            <a:r>
              <a:rPr lang="en-US" sz="750" dirty="0"/>
              <a:t> 2013; 69:1485.</a:t>
            </a:r>
          </a:p>
          <a:p>
            <a:endParaRPr lang="en-US" dirty="0"/>
          </a:p>
        </p:txBody>
      </p:sp>
    </p:spTree>
    <p:extLst>
      <p:ext uri="{BB962C8B-B14F-4D97-AF65-F5344CB8AC3E}">
        <p14:creationId xmlns:p14="http://schemas.microsoft.com/office/powerpoint/2010/main" val="1677459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1066800"/>
          </a:xfrm>
        </p:spPr>
        <p:txBody>
          <a:bodyPr>
            <a:normAutofit fontScale="90000"/>
          </a:bodyPr>
          <a:lstStyle/>
          <a:p>
            <a:r>
              <a:rPr lang="en-US" sz="4000" b="1" dirty="0"/>
              <a:t>Comparative 2</a:t>
            </a:r>
            <a:r>
              <a:rPr lang="en-US" sz="4000" b="1" baseline="30000" dirty="0"/>
              <a:t>nd</a:t>
            </a:r>
            <a:r>
              <a:rPr lang="en-US" sz="4000" b="1" dirty="0"/>
              <a:t> Gen Adverse Events</a:t>
            </a:r>
          </a:p>
        </p:txBody>
      </p:sp>
      <p:graphicFrame>
        <p:nvGraphicFramePr>
          <p:cNvPr id="4" name="Table 3"/>
          <p:cNvGraphicFramePr>
            <a:graphicFrameLocks noGrp="1"/>
          </p:cNvGraphicFramePr>
          <p:nvPr>
            <p:extLst>
              <p:ext uri="{D42A27DB-BD31-4B8C-83A1-F6EECF244321}">
                <p14:modId xmlns:p14="http://schemas.microsoft.com/office/powerpoint/2010/main" val="1308251415"/>
              </p:ext>
            </p:extLst>
          </p:nvPr>
        </p:nvGraphicFramePr>
        <p:xfrm>
          <a:off x="609600" y="990600"/>
          <a:ext cx="8458200" cy="4419600"/>
        </p:xfrm>
        <a:graphic>
          <a:graphicData uri="http://schemas.openxmlformats.org/drawingml/2006/table">
            <a:tbl>
              <a:tblPr/>
              <a:tblGrid>
                <a:gridCol w="2590800">
                  <a:extLst>
                    <a:ext uri="{9D8B030D-6E8A-4147-A177-3AD203B41FA5}">
                      <a16:colId xmlns:a16="http://schemas.microsoft.com/office/drawing/2014/main" xmlns="" val="20000"/>
                    </a:ext>
                  </a:extLst>
                </a:gridCol>
                <a:gridCol w="5867400">
                  <a:extLst>
                    <a:ext uri="{9D8B030D-6E8A-4147-A177-3AD203B41FA5}">
                      <a16:colId xmlns:a16="http://schemas.microsoft.com/office/drawing/2014/main" xmlns="" val="20001"/>
                    </a:ext>
                  </a:extLst>
                </a:gridCol>
              </a:tblGrid>
              <a:tr h="525094">
                <a:tc>
                  <a:txBody>
                    <a:bodyPr/>
                    <a:lstStyle/>
                    <a:p>
                      <a:pPr marL="0" marR="0" algn="l">
                        <a:lnSpc>
                          <a:spcPct val="115000"/>
                        </a:lnSpc>
                        <a:spcBef>
                          <a:spcPts val="0"/>
                        </a:spcBef>
                        <a:spcAft>
                          <a:spcPts val="0"/>
                        </a:spcAft>
                      </a:pPr>
                      <a:r>
                        <a:rPr lang="en-US" sz="2400" b="1" i="0" dirty="0">
                          <a:solidFill>
                            <a:schemeClr val="bg1"/>
                          </a:solidFill>
                          <a:latin typeface="Calibri"/>
                          <a:ea typeface="Calibri"/>
                          <a:cs typeface="Times New Roman"/>
                        </a:rPr>
                        <a:t>Effect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2400" b="1" i="0" dirty="0">
                          <a:solidFill>
                            <a:schemeClr val="bg1"/>
                          </a:solidFill>
                          <a:latin typeface="Calibri"/>
                          <a:ea typeface="Calibri"/>
                          <a:cs typeface="Times New Roman"/>
                        </a:rPr>
                        <a:t>Drugs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xmlns="" val="10000"/>
                  </a:ext>
                </a:extLst>
              </a:tr>
              <a:tr h="685565">
                <a:tc>
                  <a:txBody>
                    <a:bodyPr/>
                    <a:lstStyle/>
                    <a:p>
                      <a:pPr marL="0" marR="0" algn="l">
                        <a:lnSpc>
                          <a:spcPct val="115000"/>
                        </a:lnSpc>
                        <a:spcBef>
                          <a:spcPts val="0"/>
                        </a:spcBef>
                        <a:spcAft>
                          <a:spcPts val="0"/>
                        </a:spcAft>
                      </a:pPr>
                      <a:r>
                        <a:rPr lang="en-US" sz="2200" b="1" dirty="0">
                          <a:latin typeface="Calibri" pitchFamily="34" charset="0"/>
                          <a:ea typeface="Calibri"/>
                          <a:cs typeface="Times New Roman"/>
                        </a:rPr>
                        <a:t>EPS (dose related)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2200" dirty="0" err="1">
                          <a:latin typeface="Calibri" pitchFamily="34" charset="0"/>
                          <a:ea typeface="Calibri"/>
                          <a:cs typeface="Times New Roman"/>
                        </a:rPr>
                        <a:t>Lur</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a:t>
                      </a: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&gt;Olan&gt;</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&gt;Zip=Ari=</a:t>
                      </a:r>
                      <a:r>
                        <a:rPr lang="en-US" sz="2200" dirty="0" err="1">
                          <a:latin typeface="Calibri" pitchFamily="34" charset="0"/>
                          <a:ea typeface="Calibri"/>
                          <a:cs typeface="Times New Roman"/>
                        </a:rPr>
                        <a:t>Brex</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Cloz</a:t>
                      </a:r>
                      <a:endParaRPr lang="en-US" sz="22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580728">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err="1">
                          <a:latin typeface="Calibri" pitchFamily="34" charset="0"/>
                          <a:ea typeface="Calibri"/>
                          <a:cs typeface="Times New Roman"/>
                        </a:rPr>
                        <a:t>Hyperprolactinemia</a:t>
                      </a:r>
                      <a:endParaRPr lang="en-US" sz="2200" b="1"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l">
                        <a:lnSpc>
                          <a:spcPct val="115000"/>
                        </a:lnSpc>
                        <a:spcBef>
                          <a:spcPts val="0"/>
                        </a:spcBef>
                        <a:spcAft>
                          <a:spcPts val="0"/>
                        </a:spcAft>
                      </a:pP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a:t>
                      </a:r>
                      <a:r>
                        <a:rPr lang="en-US" sz="2200" dirty="0" err="1">
                          <a:latin typeface="Calibri" pitchFamily="34" charset="0"/>
                          <a:ea typeface="Calibri"/>
                          <a:cs typeface="Times New Roman"/>
                        </a:rPr>
                        <a:t>Lur</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&gt;Olan=Zip=</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=Cloz&gt;Ari</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2"/>
                  </a:ext>
                </a:extLst>
              </a:tr>
              <a:tr h="852458">
                <a:tc>
                  <a:txBody>
                    <a:bodyPr/>
                    <a:lstStyle/>
                    <a:p>
                      <a:pPr marL="0" marR="0" algn="l">
                        <a:lnSpc>
                          <a:spcPct val="115000"/>
                        </a:lnSpc>
                        <a:spcBef>
                          <a:spcPts val="0"/>
                        </a:spcBef>
                        <a:spcAft>
                          <a:spcPts val="0"/>
                        </a:spcAft>
                      </a:pPr>
                      <a:r>
                        <a:rPr lang="en-US" sz="2200" b="1" dirty="0" err="1">
                          <a:latin typeface="Calibri" pitchFamily="34" charset="0"/>
                          <a:ea typeface="Calibri"/>
                          <a:cs typeface="Times New Roman"/>
                        </a:rPr>
                        <a:t>Tardive</a:t>
                      </a:r>
                      <a:r>
                        <a:rPr lang="en-US" sz="2200" b="1" baseline="0" dirty="0">
                          <a:latin typeface="Calibri" pitchFamily="34" charset="0"/>
                          <a:ea typeface="Calibri"/>
                          <a:cs typeface="Times New Roman"/>
                        </a:rPr>
                        <a:t> </a:t>
                      </a:r>
                      <a:r>
                        <a:rPr lang="en-US" sz="2200" b="1" baseline="0" dirty="0" err="1">
                          <a:latin typeface="Calibri" pitchFamily="34" charset="0"/>
                          <a:ea typeface="Calibri"/>
                          <a:cs typeface="Times New Roman"/>
                        </a:rPr>
                        <a:t>Dyskinesia</a:t>
                      </a:r>
                      <a:endParaRPr lang="en-US" sz="2200" b="1"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Calibri" pitchFamily="34" charset="0"/>
                          <a:ea typeface="Calibri"/>
                          <a:cs typeface="Times New Roman"/>
                        </a:rPr>
                        <a:t>Low for </a:t>
                      </a:r>
                      <a:r>
                        <a:rPr lang="en-US" sz="2200" dirty="0" err="1">
                          <a:latin typeface="Calibri" pitchFamily="34" charset="0"/>
                          <a:ea typeface="Calibri"/>
                          <a:cs typeface="Times New Roman"/>
                        </a:rPr>
                        <a:t>atypicals</a:t>
                      </a:r>
                      <a:r>
                        <a:rPr lang="en-US" sz="2200" dirty="0">
                          <a:latin typeface="Calibri" pitchFamily="34" charset="0"/>
                          <a:ea typeface="Calibri"/>
                          <a:cs typeface="Times New Roman"/>
                        </a:rPr>
                        <a:t>, may be </a:t>
                      </a:r>
                      <a:r>
                        <a:rPr lang="en-US" sz="2200" b="1" i="1" dirty="0">
                          <a:latin typeface="Calibri" pitchFamily="34" charset="0"/>
                          <a:ea typeface="Calibri"/>
                          <a:cs typeface="Times New Roman"/>
                        </a:rPr>
                        <a:t>improved</a:t>
                      </a:r>
                      <a:r>
                        <a:rPr lang="en-US" sz="2200" i="1" dirty="0">
                          <a:latin typeface="Calibri" pitchFamily="34" charset="0"/>
                          <a:ea typeface="Calibri"/>
                          <a:cs typeface="Times New Roman"/>
                        </a:rPr>
                        <a:t> </a:t>
                      </a:r>
                      <a:r>
                        <a:rPr lang="en-US" sz="2200" dirty="0">
                          <a:latin typeface="Calibri" pitchFamily="34" charset="0"/>
                          <a:ea typeface="Calibri"/>
                          <a:cs typeface="Times New Roman"/>
                        </a:rPr>
                        <a:t>with clozapine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468265">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Seizures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l">
                        <a:lnSpc>
                          <a:spcPct val="115000"/>
                        </a:lnSpc>
                        <a:spcBef>
                          <a:spcPts val="0"/>
                        </a:spcBef>
                        <a:spcAft>
                          <a:spcPts val="0"/>
                        </a:spcAft>
                      </a:pPr>
                      <a:r>
                        <a:rPr lang="en-US" sz="2200" dirty="0">
                          <a:latin typeface="Calibri" pitchFamily="34" charset="0"/>
                          <a:ea typeface="Calibri"/>
                          <a:cs typeface="Times New Roman"/>
                        </a:rPr>
                        <a:t>Cloz&gt;Olan&gt;</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a:t>
                      </a: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=Zip=Ari=</a:t>
                      </a:r>
                      <a:r>
                        <a:rPr lang="en-US" sz="2200" dirty="0" err="1">
                          <a:latin typeface="Calibri" pitchFamily="34" charset="0"/>
                          <a:ea typeface="Calibri"/>
                          <a:cs typeface="Times New Roman"/>
                        </a:rPr>
                        <a:t>Lur</a:t>
                      </a:r>
                      <a:endParaRPr lang="en-US" sz="22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4"/>
                  </a:ext>
                </a:extLst>
              </a:tr>
              <a:tr h="468265">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err="1">
                          <a:latin typeface="Calibri" pitchFamily="34" charset="0"/>
                          <a:ea typeface="Calibri"/>
                          <a:cs typeface="Times New Roman"/>
                        </a:rPr>
                        <a:t>Anticholinergic</a:t>
                      </a:r>
                      <a:endParaRPr lang="en-US" sz="2200" b="1"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l">
                        <a:lnSpc>
                          <a:spcPct val="115000"/>
                        </a:lnSpc>
                        <a:spcBef>
                          <a:spcPts val="0"/>
                        </a:spcBef>
                        <a:spcAft>
                          <a:spcPts val="0"/>
                        </a:spcAft>
                      </a:pPr>
                      <a:r>
                        <a:rPr lang="en-US" sz="2200" dirty="0" err="1">
                          <a:latin typeface="Calibri" pitchFamily="34" charset="0"/>
                          <a:ea typeface="Calibri"/>
                          <a:cs typeface="Times New Roman"/>
                        </a:rPr>
                        <a:t>Cloz</a:t>
                      </a:r>
                      <a:r>
                        <a:rPr lang="en-US" sz="2200" dirty="0">
                          <a:latin typeface="Calibri" pitchFamily="34" charset="0"/>
                          <a:ea typeface="Calibri"/>
                          <a:cs typeface="Times New Roman"/>
                        </a:rPr>
                        <a:t>&gt;Olan&gt;</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a:t>
                      </a: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=Ari=</a:t>
                      </a:r>
                      <a:r>
                        <a:rPr lang="en-US" sz="2200" dirty="0" err="1">
                          <a:latin typeface="Calibri" pitchFamily="34" charset="0"/>
                          <a:ea typeface="Calibri"/>
                          <a:cs typeface="Times New Roman"/>
                        </a:rPr>
                        <a:t>Lur</a:t>
                      </a:r>
                      <a:endParaRPr lang="en-US" sz="22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5"/>
                  </a:ext>
                </a:extLst>
              </a:tr>
              <a:tr h="839225">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Orthostatic</a:t>
                      </a:r>
                    </a:p>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Hypotension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l">
                        <a:lnSpc>
                          <a:spcPct val="115000"/>
                        </a:lnSpc>
                        <a:spcBef>
                          <a:spcPts val="0"/>
                        </a:spcBef>
                        <a:spcAft>
                          <a:spcPts val="0"/>
                        </a:spcAft>
                      </a:pPr>
                      <a:r>
                        <a:rPr lang="en-US" sz="2200" dirty="0" err="1">
                          <a:latin typeface="Calibri" pitchFamily="34" charset="0"/>
                          <a:ea typeface="Calibri"/>
                          <a:cs typeface="Times New Roman"/>
                        </a:rPr>
                        <a:t>Cloz</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=Olan&gt;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a:t>
                      </a: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=Zip&gt;Ari=</a:t>
                      </a:r>
                      <a:r>
                        <a:rPr lang="en-US" sz="2200" dirty="0" err="1">
                          <a:latin typeface="Calibri" pitchFamily="34" charset="0"/>
                          <a:ea typeface="Calibri"/>
                          <a:cs typeface="Times New Roman"/>
                        </a:rPr>
                        <a:t>Lur</a:t>
                      </a:r>
                      <a:endParaRPr lang="en-US" sz="22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6"/>
                  </a:ext>
                </a:extLst>
              </a:tr>
            </a:tbl>
          </a:graphicData>
        </a:graphic>
      </p:graphicFrame>
      <p:sp>
        <p:nvSpPr>
          <p:cNvPr id="5" name="TextBox 4"/>
          <p:cNvSpPr txBox="1"/>
          <p:nvPr/>
        </p:nvSpPr>
        <p:spPr>
          <a:xfrm>
            <a:off x="914400" y="5486400"/>
            <a:ext cx="8342194" cy="969496"/>
          </a:xfrm>
          <a:prstGeom prst="rect">
            <a:avLst/>
          </a:prstGeom>
          <a:noFill/>
          <a:ln>
            <a:noFill/>
          </a:ln>
        </p:spPr>
        <p:txBody>
          <a:bodyPr wrap="square" rtlCol="0">
            <a:spAutoFit/>
          </a:bodyPr>
          <a:lstStyle/>
          <a:p>
            <a:pPr marL="342900" indent="-342900">
              <a:buFont typeface="Wingdings" panose="05000000000000000000" pitchFamily="2" charset="2"/>
              <a:buChar char="Ø"/>
            </a:pPr>
            <a:r>
              <a:rPr lang="en-US" sz="1900" b="1" u="sng" dirty="0" err="1"/>
              <a:t>Lurasidone</a:t>
            </a:r>
            <a:r>
              <a:rPr lang="en-US" sz="1900" b="1" dirty="0"/>
              <a:t>: </a:t>
            </a:r>
            <a:r>
              <a:rPr lang="en-US" sz="1900" dirty="0"/>
              <a:t>Nausea, insomnia, agitation</a:t>
            </a:r>
          </a:p>
          <a:p>
            <a:pPr marL="342900" indent="-342900">
              <a:buFont typeface="Wingdings" panose="05000000000000000000" pitchFamily="2" charset="2"/>
              <a:buChar char="Ø"/>
            </a:pPr>
            <a:r>
              <a:rPr lang="en-US" sz="1900" b="1" u="sng" dirty="0"/>
              <a:t>Clozapine</a:t>
            </a:r>
            <a:r>
              <a:rPr lang="en-US" sz="1900" b="1" dirty="0"/>
              <a:t>: </a:t>
            </a:r>
            <a:r>
              <a:rPr lang="en-US" sz="1900" dirty="0"/>
              <a:t>Urinary incontinence, constipation, </a:t>
            </a:r>
            <a:r>
              <a:rPr lang="en-US" sz="1900" dirty="0" err="1"/>
              <a:t>sialorrhea</a:t>
            </a:r>
            <a:endParaRPr lang="en-US" sz="1900" dirty="0"/>
          </a:p>
          <a:p>
            <a:pPr marL="342900" indent="-342900">
              <a:buFont typeface="Wingdings" panose="05000000000000000000" pitchFamily="2" charset="2"/>
              <a:buChar char="Ø"/>
            </a:pPr>
            <a:r>
              <a:rPr lang="en-US" sz="1900" b="1" u="sng" dirty="0" err="1"/>
              <a:t>Asenapine</a:t>
            </a:r>
            <a:r>
              <a:rPr lang="en-US" sz="1900" b="1" dirty="0"/>
              <a:t>: </a:t>
            </a:r>
            <a:r>
              <a:rPr lang="en-US" sz="1900" dirty="0"/>
              <a:t>Hypertriglyceridemia, weight gain, sedation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241565531"/>
              </p:ext>
            </p:extLst>
          </p:nvPr>
        </p:nvGraphicFramePr>
        <p:xfrm>
          <a:off x="617621" y="1066800"/>
          <a:ext cx="8382000" cy="3935139"/>
        </p:xfrm>
        <a:graphic>
          <a:graphicData uri="http://schemas.openxmlformats.org/drawingml/2006/table">
            <a:tbl>
              <a:tblPr/>
              <a:tblGrid>
                <a:gridCol w="2590800">
                  <a:extLst>
                    <a:ext uri="{9D8B030D-6E8A-4147-A177-3AD203B41FA5}">
                      <a16:colId xmlns:a16="http://schemas.microsoft.com/office/drawing/2014/main" xmlns="" val="20000"/>
                    </a:ext>
                  </a:extLst>
                </a:gridCol>
                <a:gridCol w="5791200">
                  <a:extLst>
                    <a:ext uri="{9D8B030D-6E8A-4147-A177-3AD203B41FA5}">
                      <a16:colId xmlns:a16="http://schemas.microsoft.com/office/drawing/2014/main" xmlns="" val="20001"/>
                    </a:ext>
                  </a:extLst>
                </a:gridCol>
              </a:tblGrid>
              <a:tr h="467423">
                <a:tc>
                  <a:txBody>
                    <a:bodyPr/>
                    <a:lstStyle/>
                    <a:p>
                      <a:pPr marL="0" marR="0" algn="l">
                        <a:lnSpc>
                          <a:spcPct val="115000"/>
                        </a:lnSpc>
                        <a:spcBef>
                          <a:spcPts val="0"/>
                        </a:spcBef>
                        <a:spcAft>
                          <a:spcPts val="0"/>
                        </a:spcAft>
                      </a:pPr>
                      <a:r>
                        <a:rPr lang="en-US" sz="2400" b="1" i="0" dirty="0">
                          <a:solidFill>
                            <a:schemeClr val="bg1"/>
                          </a:solidFill>
                          <a:latin typeface="Calibri"/>
                          <a:ea typeface="Calibri"/>
                          <a:cs typeface="Times New Roman"/>
                        </a:rPr>
                        <a:t>Effect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15000"/>
                        </a:lnSpc>
                        <a:spcBef>
                          <a:spcPts val="0"/>
                        </a:spcBef>
                        <a:spcAft>
                          <a:spcPts val="0"/>
                        </a:spcAft>
                      </a:pPr>
                      <a:r>
                        <a:rPr lang="en-US" sz="2400" b="1" i="0" dirty="0">
                          <a:solidFill>
                            <a:schemeClr val="bg1"/>
                          </a:solidFill>
                          <a:latin typeface="Calibri"/>
                          <a:ea typeface="Calibri"/>
                          <a:cs typeface="Times New Roman"/>
                        </a:rPr>
                        <a:t>Drugs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xmlns="" val="10000"/>
                  </a:ext>
                </a:extLst>
              </a:tr>
              <a:tr h="675577">
                <a:tc>
                  <a:txBody>
                    <a:bodyPr/>
                    <a:lstStyle/>
                    <a:p>
                      <a:pPr marL="0" marR="0" algn="l">
                        <a:lnSpc>
                          <a:spcPct val="115000"/>
                        </a:lnSpc>
                        <a:spcBef>
                          <a:spcPts val="0"/>
                        </a:spcBef>
                        <a:spcAft>
                          <a:spcPts val="0"/>
                        </a:spcAft>
                      </a:pPr>
                      <a:r>
                        <a:rPr lang="en-US" sz="2200" b="1" dirty="0">
                          <a:latin typeface="Calibri" pitchFamily="34" charset="0"/>
                          <a:ea typeface="Calibri"/>
                          <a:cs typeface="Times New Roman"/>
                        </a:rPr>
                        <a:t>Sedation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2200" dirty="0">
                          <a:latin typeface="Calibri" pitchFamily="34" charset="0"/>
                          <a:ea typeface="Calibri"/>
                          <a:cs typeface="Times New Roman"/>
                        </a:rPr>
                        <a:t>Cloz&gt;Olan=</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Lur</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a:t>
                      </a: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=Zip=Ari</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701134">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err="1">
                          <a:latin typeface="Calibri" pitchFamily="34" charset="0"/>
                          <a:ea typeface="Calibri"/>
                          <a:cs typeface="Times New Roman"/>
                        </a:rPr>
                        <a:t>QTc</a:t>
                      </a:r>
                      <a:r>
                        <a:rPr lang="en-US" sz="2200" b="1" dirty="0">
                          <a:latin typeface="Calibri" pitchFamily="34" charset="0"/>
                          <a:ea typeface="Calibri"/>
                          <a:cs typeface="Times New Roman"/>
                        </a:rPr>
                        <a:t> Prolongation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l">
                        <a:lnSpc>
                          <a:spcPct val="115000"/>
                        </a:lnSpc>
                        <a:spcBef>
                          <a:spcPts val="0"/>
                        </a:spcBef>
                        <a:spcAft>
                          <a:spcPts val="0"/>
                        </a:spcAft>
                      </a:pPr>
                      <a:r>
                        <a:rPr lang="en-US" sz="2200" dirty="0">
                          <a:latin typeface="Calibri" pitchFamily="34" charset="0"/>
                          <a:ea typeface="Calibri"/>
                          <a:cs typeface="Times New Roman"/>
                        </a:rPr>
                        <a:t>Zip&gt;</a:t>
                      </a: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a:t>
                      </a:r>
                      <a:r>
                        <a:rPr lang="en-US" sz="2200" dirty="0" err="1">
                          <a:latin typeface="Calibri" pitchFamily="34" charset="0"/>
                          <a:ea typeface="Calibri"/>
                          <a:cs typeface="Times New Roman"/>
                        </a:rPr>
                        <a:t>Ilo</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&gt;Olan=Ari&gt;</a:t>
                      </a:r>
                      <a:r>
                        <a:rPr lang="en-US" sz="2200" dirty="0" err="1">
                          <a:latin typeface="Calibri" pitchFamily="34" charset="0"/>
                          <a:ea typeface="Calibri"/>
                          <a:cs typeface="Times New Roman"/>
                        </a:rPr>
                        <a:t>Lur</a:t>
                      </a:r>
                      <a:endParaRPr lang="en-US" sz="22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2"/>
                  </a:ext>
                </a:extLst>
              </a:tr>
              <a:tr h="701134">
                <a:tc>
                  <a:txBody>
                    <a:bodyPr/>
                    <a:lstStyle/>
                    <a:p>
                      <a:pPr marL="0" marR="0" algn="l">
                        <a:lnSpc>
                          <a:spcPct val="115000"/>
                        </a:lnSpc>
                        <a:spcBef>
                          <a:spcPts val="0"/>
                        </a:spcBef>
                        <a:spcAft>
                          <a:spcPts val="0"/>
                        </a:spcAft>
                      </a:pPr>
                      <a:r>
                        <a:rPr lang="en-US" sz="2200" b="1" dirty="0">
                          <a:latin typeface="Calibri" pitchFamily="34" charset="0"/>
                          <a:ea typeface="Calibri"/>
                          <a:cs typeface="Times New Roman"/>
                        </a:rPr>
                        <a:t>Weight Gain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Calibri" pitchFamily="34" charset="0"/>
                          <a:ea typeface="Calibri"/>
                          <a:cs typeface="Times New Roman"/>
                        </a:rPr>
                        <a:t>Cloz=Olan&gt;</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&gt;Zip=</a:t>
                      </a: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&gt;Ari&gt;</a:t>
                      </a:r>
                      <a:r>
                        <a:rPr lang="en-US" sz="2200" dirty="0" err="1">
                          <a:latin typeface="Calibri" pitchFamily="34" charset="0"/>
                          <a:ea typeface="Calibri"/>
                          <a:cs typeface="Times New Roman"/>
                        </a:rPr>
                        <a:t>Lur</a:t>
                      </a:r>
                      <a:endParaRPr lang="en-US" sz="22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779038">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Increased</a:t>
                      </a:r>
                      <a:r>
                        <a:rPr lang="en-US" sz="2200" b="1" baseline="0" dirty="0">
                          <a:latin typeface="Calibri" pitchFamily="34" charset="0"/>
                          <a:ea typeface="Calibri"/>
                          <a:cs typeface="Times New Roman"/>
                        </a:rPr>
                        <a:t> Blood Glucose</a:t>
                      </a:r>
                      <a:endParaRPr lang="en-US" sz="2200" b="1"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l">
                        <a:lnSpc>
                          <a:spcPct val="115000"/>
                        </a:lnSpc>
                        <a:spcBef>
                          <a:spcPts val="0"/>
                        </a:spcBef>
                        <a:spcAft>
                          <a:spcPts val="0"/>
                        </a:spcAft>
                      </a:pPr>
                      <a:r>
                        <a:rPr lang="en-US" sz="2200" dirty="0">
                          <a:latin typeface="Calibri" pitchFamily="34" charset="0"/>
                          <a:ea typeface="Calibri"/>
                          <a:cs typeface="Times New Roman"/>
                        </a:rPr>
                        <a:t>Cloz=Olan&gt;</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&gt;Zip=Ari=</a:t>
                      </a: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Lur</a:t>
                      </a:r>
                      <a:endParaRPr lang="en-US" sz="22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4"/>
                  </a:ext>
                </a:extLst>
              </a:tr>
              <a:tr h="610833">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b="1" dirty="0">
                          <a:latin typeface="Calibri" pitchFamily="34" charset="0"/>
                          <a:ea typeface="Calibri"/>
                          <a:cs typeface="Times New Roman"/>
                        </a:rPr>
                        <a:t>Lipid</a:t>
                      </a:r>
                      <a:r>
                        <a:rPr lang="en-US" sz="2200" b="1" baseline="0" dirty="0">
                          <a:latin typeface="Calibri" pitchFamily="34" charset="0"/>
                          <a:ea typeface="Calibri"/>
                          <a:cs typeface="Times New Roman"/>
                        </a:rPr>
                        <a:t> Abnormalities</a:t>
                      </a:r>
                      <a:endParaRPr lang="en-US" sz="2200" b="1"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l">
                        <a:lnSpc>
                          <a:spcPct val="115000"/>
                        </a:lnSpc>
                        <a:spcBef>
                          <a:spcPts val="0"/>
                        </a:spcBef>
                        <a:spcAft>
                          <a:spcPts val="0"/>
                        </a:spcAft>
                      </a:pPr>
                      <a:r>
                        <a:rPr lang="en-US" sz="2200" dirty="0" err="1">
                          <a:latin typeface="Calibri" pitchFamily="34" charset="0"/>
                          <a:ea typeface="Calibri"/>
                          <a:cs typeface="Times New Roman"/>
                        </a:rPr>
                        <a:t>Cloz</a:t>
                      </a:r>
                      <a:r>
                        <a:rPr lang="en-US" sz="2200" dirty="0">
                          <a:latin typeface="Calibri" pitchFamily="34" charset="0"/>
                          <a:ea typeface="Calibri"/>
                          <a:cs typeface="Times New Roman"/>
                        </a:rPr>
                        <a:t>=Olan&gt;</a:t>
                      </a:r>
                      <a:r>
                        <a:rPr lang="en-US" sz="2200" dirty="0" err="1">
                          <a:latin typeface="Calibri" pitchFamily="34" charset="0"/>
                          <a:ea typeface="Calibri"/>
                          <a:cs typeface="Times New Roman"/>
                        </a:rPr>
                        <a:t>Quet</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Risp</a:t>
                      </a:r>
                      <a:r>
                        <a:rPr lang="en-US" sz="2200" dirty="0">
                          <a:latin typeface="Calibri" pitchFamily="34" charset="0"/>
                          <a:ea typeface="Calibri"/>
                          <a:cs typeface="Times New Roman"/>
                        </a:rPr>
                        <a:t>&gt;Zip=Ari=</a:t>
                      </a:r>
                      <a:r>
                        <a:rPr lang="en-US" sz="2200" dirty="0" err="1">
                          <a:latin typeface="Calibri" pitchFamily="34" charset="0"/>
                          <a:ea typeface="Calibri"/>
                          <a:cs typeface="Times New Roman"/>
                        </a:rPr>
                        <a:t>Pali</a:t>
                      </a:r>
                      <a:r>
                        <a:rPr lang="en-US" sz="2200" dirty="0">
                          <a:latin typeface="Calibri" pitchFamily="34" charset="0"/>
                          <a:ea typeface="Calibri"/>
                          <a:cs typeface="Times New Roman"/>
                        </a:rPr>
                        <a:t>&gt;</a:t>
                      </a:r>
                      <a:r>
                        <a:rPr lang="en-US" sz="2200" dirty="0" err="1">
                          <a:latin typeface="Calibri" pitchFamily="34" charset="0"/>
                          <a:ea typeface="Calibri"/>
                          <a:cs typeface="Times New Roman"/>
                        </a:rPr>
                        <a:t>Lur</a:t>
                      </a:r>
                      <a:endParaRPr lang="en-US" sz="2200" dirty="0">
                        <a:latin typeface="Calibri" pitchFamily="34" charset="0"/>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5"/>
                  </a:ext>
                </a:extLst>
              </a:tr>
            </a:tbl>
          </a:graphicData>
        </a:graphic>
      </p:graphicFrame>
      <p:sp>
        <p:nvSpPr>
          <p:cNvPr id="3" name="TextBox 2"/>
          <p:cNvSpPr txBox="1"/>
          <p:nvPr/>
        </p:nvSpPr>
        <p:spPr>
          <a:xfrm>
            <a:off x="1112472" y="5181600"/>
            <a:ext cx="8055591" cy="969496"/>
          </a:xfrm>
          <a:prstGeom prst="rect">
            <a:avLst/>
          </a:prstGeom>
          <a:noFill/>
          <a:ln>
            <a:noFill/>
          </a:ln>
        </p:spPr>
        <p:txBody>
          <a:bodyPr wrap="square" rtlCol="0">
            <a:spAutoFit/>
          </a:bodyPr>
          <a:lstStyle/>
          <a:p>
            <a:pPr marL="285750" indent="-285750">
              <a:buFont typeface="Wingdings" panose="05000000000000000000" pitchFamily="2" charset="2"/>
              <a:buChar char="Ø"/>
            </a:pPr>
            <a:r>
              <a:rPr lang="en-US" sz="1900" b="1" u="sng" dirty="0" err="1"/>
              <a:t>Brexpiprazole</a:t>
            </a:r>
            <a:r>
              <a:rPr lang="en-US" sz="1900" dirty="0"/>
              <a:t>: weight gain, agitation, akathisia </a:t>
            </a:r>
          </a:p>
          <a:p>
            <a:pPr marL="285750" indent="-285750">
              <a:buFont typeface="Wingdings" panose="05000000000000000000" pitchFamily="2" charset="2"/>
              <a:buChar char="Ø"/>
            </a:pPr>
            <a:r>
              <a:rPr lang="en-US" sz="1900" b="1" u="sng" dirty="0" err="1"/>
              <a:t>Cariprazine</a:t>
            </a:r>
            <a:r>
              <a:rPr lang="en-US" sz="1900" dirty="0"/>
              <a:t>: sedation, akathisia, constipation</a:t>
            </a:r>
          </a:p>
          <a:p>
            <a:pPr marL="285750" indent="-285750">
              <a:buFont typeface="Wingdings" panose="05000000000000000000" pitchFamily="2" charset="2"/>
              <a:buChar char="Ø"/>
            </a:pPr>
            <a:r>
              <a:rPr lang="en-US" sz="1900" b="1" u="sng" dirty="0" err="1"/>
              <a:t>Pimavanserin</a:t>
            </a:r>
            <a:r>
              <a:rPr lang="en-US" sz="1900" dirty="0"/>
              <a:t>: constipation, </a:t>
            </a:r>
            <a:r>
              <a:rPr lang="en-US" sz="1900" dirty="0" err="1"/>
              <a:t>QTc</a:t>
            </a:r>
            <a:r>
              <a:rPr lang="en-US" sz="1900" dirty="0"/>
              <a:t> prolongation </a:t>
            </a:r>
          </a:p>
        </p:txBody>
      </p:sp>
      <p:sp>
        <p:nvSpPr>
          <p:cNvPr id="5" name="Title 1"/>
          <p:cNvSpPr txBox="1">
            <a:spLocks/>
          </p:cNvSpPr>
          <p:nvPr/>
        </p:nvSpPr>
        <p:spPr>
          <a:xfrm>
            <a:off x="609600" y="152400"/>
            <a:ext cx="8229600" cy="1066800"/>
          </a:xfrm>
          <a:prstGeom prst="rect">
            <a:avLst/>
          </a:prstGeom>
        </p:spPr>
        <p:txBody>
          <a:bodyPr vert="horz" lIns="91440" tIns="45720" rIns="91440" bIns="45720" rtlCol="0" anchor="t">
            <a:normAutofit/>
          </a:bodyPr>
          <a:lst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600" b="1" dirty="0"/>
              <a:t>Comparative 2</a:t>
            </a:r>
            <a:r>
              <a:rPr lang="en-US" sz="3600" b="1" baseline="30000" dirty="0"/>
              <a:t>nd</a:t>
            </a:r>
            <a:r>
              <a:rPr lang="en-US" sz="3600" b="1" dirty="0"/>
              <a:t> Gen Adverse Events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769" y="1301361"/>
            <a:ext cx="7046231" cy="2584839"/>
          </a:xfrm>
        </p:spPr>
        <p:txBody>
          <a:bodyPr>
            <a:noAutofit/>
          </a:bodyPr>
          <a:lstStyle/>
          <a:p>
            <a:r>
              <a:rPr lang="en-US" sz="5400" dirty="0"/>
              <a:t>Metabolism &amp; drug interactions</a:t>
            </a:r>
          </a:p>
        </p:txBody>
      </p:sp>
      <p:sp>
        <p:nvSpPr>
          <p:cNvPr id="5" name="Text Placeholder 4">
            <a:extLst>
              <a:ext uri="{FF2B5EF4-FFF2-40B4-BE49-F238E27FC236}">
                <a16:creationId xmlns:a16="http://schemas.microsoft.com/office/drawing/2014/main" xmlns="" id="{534D52D2-E34E-4807-A00E-FFAC3DA1BEC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43735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1066800"/>
          </a:xfrm>
        </p:spPr>
        <p:txBody>
          <a:bodyPr>
            <a:noAutofit/>
          </a:bodyPr>
          <a:lstStyle/>
          <a:p>
            <a:r>
              <a:rPr lang="en-US" sz="3600" b="1" dirty="0"/>
              <a:t>Metabolism &amp; Drug Interactions</a:t>
            </a:r>
          </a:p>
        </p:txBody>
      </p:sp>
      <p:sp>
        <p:nvSpPr>
          <p:cNvPr id="3" name="Content Placeholder 2"/>
          <p:cNvSpPr>
            <a:spLocks noGrp="1"/>
          </p:cNvSpPr>
          <p:nvPr>
            <p:ph idx="1"/>
          </p:nvPr>
        </p:nvSpPr>
        <p:spPr>
          <a:xfrm>
            <a:off x="685800" y="1371600"/>
            <a:ext cx="8458200" cy="5486400"/>
          </a:xfrm>
        </p:spPr>
        <p:txBody>
          <a:bodyPr>
            <a:normAutofit/>
          </a:bodyPr>
          <a:lstStyle/>
          <a:p>
            <a:r>
              <a:rPr lang="en-US" sz="2800" dirty="0"/>
              <a:t>Most antipsychotics are metabolized hepatically</a:t>
            </a:r>
          </a:p>
          <a:p>
            <a:pPr lvl="1"/>
            <a:r>
              <a:rPr lang="en-US" sz="2400" i="0" dirty="0"/>
              <a:t>Risperidone/paliperidone are </a:t>
            </a:r>
            <a:r>
              <a:rPr lang="en-US" sz="2400" i="0" dirty="0" err="1"/>
              <a:t>renally</a:t>
            </a:r>
            <a:r>
              <a:rPr lang="en-US" sz="2400" i="0" dirty="0"/>
              <a:t> eliminated</a:t>
            </a:r>
          </a:p>
          <a:p>
            <a:r>
              <a:rPr lang="en-US" sz="2800" dirty="0"/>
              <a:t>Cytochrome P450 Substrates</a:t>
            </a:r>
          </a:p>
          <a:p>
            <a:pPr lvl="1"/>
            <a:r>
              <a:rPr lang="en-US" sz="2400" i="0" dirty="0" err="1"/>
              <a:t>Asenapine</a:t>
            </a:r>
            <a:r>
              <a:rPr lang="en-US" sz="2400" i="0" dirty="0"/>
              <a:t>, clozapine, olanzapine: </a:t>
            </a:r>
            <a:r>
              <a:rPr lang="en-US" sz="2400" b="1" i="0" dirty="0"/>
              <a:t>1A2</a:t>
            </a:r>
          </a:p>
          <a:p>
            <a:pPr lvl="1"/>
            <a:r>
              <a:rPr lang="en-US" sz="2400" i="0" dirty="0"/>
              <a:t>Risperidone, aripiprazole, </a:t>
            </a:r>
            <a:r>
              <a:rPr lang="en-US" sz="2400" i="0" dirty="0" err="1"/>
              <a:t>iloperidone</a:t>
            </a:r>
            <a:r>
              <a:rPr lang="en-US" sz="2400" i="0" dirty="0"/>
              <a:t>, </a:t>
            </a:r>
            <a:r>
              <a:rPr lang="en-US" sz="2400" i="0" dirty="0" err="1"/>
              <a:t>brexpiprazole</a:t>
            </a:r>
            <a:r>
              <a:rPr lang="en-US" sz="2400" i="0" dirty="0"/>
              <a:t>: </a:t>
            </a:r>
            <a:r>
              <a:rPr lang="en-US" sz="2400" b="1" i="0" dirty="0"/>
              <a:t>2D6</a:t>
            </a:r>
          </a:p>
          <a:p>
            <a:pPr lvl="1"/>
            <a:r>
              <a:rPr lang="en-US" sz="2400" i="0" dirty="0"/>
              <a:t>Quetiapine, ziprasidone, aripiprazole, </a:t>
            </a:r>
            <a:r>
              <a:rPr lang="en-US" sz="2400" i="0" dirty="0" err="1"/>
              <a:t>lurasidone</a:t>
            </a:r>
            <a:r>
              <a:rPr lang="en-US" sz="2400" i="0" dirty="0"/>
              <a:t>, </a:t>
            </a:r>
            <a:r>
              <a:rPr lang="en-US" sz="2400" i="0" dirty="0" err="1"/>
              <a:t>iloperidone</a:t>
            </a:r>
            <a:r>
              <a:rPr lang="en-US" sz="2400" i="0" dirty="0"/>
              <a:t>, olanzapine, </a:t>
            </a:r>
            <a:r>
              <a:rPr lang="en-US" sz="2400" i="0" dirty="0" err="1"/>
              <a:t>paliperidone</a:t>
            </a:r>
            <a:r>
              <a:rPr lang="en-US" sz="2400" i="0" dirty="0"/>
              <a:t>, </a:t>
            </a:r>
            <a:r>
              <a:rPr lang="en-US" sz="2400" i="0" dirty="0" err="1"/>
              <a:t>pimavanserin</a:t>
            </a:r>
            <a:r>
              <a:rPr lang="en-US" sz="2400" i="0" dirty="0"/>
              <a:t>, </a:t>
            </a:r>
            <a:r>
              <a:rPr lang="en-US" sz="2400" i="0" dirty="0" err="1"/>
              <a:t>cariprazine</a:t>
            </a:r>
            <a:r>
              <a:rPr lang="en-US" sz="2400" i="0" dirty="0"/>
              <a:t>: </a:t>
            </a:r>
            <a:r>
              <a:rPr lang="en-US" sz="2400" b="1" i="0" dirty="0"/>
              <a:t>3A4</a:t>
            </a:r>
          </a:p>
          <a:p>
            <a:pPr lvl="1"/>
            <a:r>
              <a:rPr lang="en-US" sz="2400" i="0" dirty="0"/>
              <a:t>Clozapine: </a:t>
            </a:r>
            <a:r>
              <a:rPr lang="en-US" sz="2400" b="1" i="0" dirty="0"/>
              <a:t>2C19</a:t>
            </a:r>
            <a:endParaRPr lang="en-US" sz="2400" i="0" dirty="0"/>
          </a:p>
          <a:p>
            <a:r>
              <a:rPr lang="en-US" sz="2800" dirty="0"/>
              <a:t>Benzodiazepines with </a:t>
            </a:r>
            <a:r>
              <a:rPr lang="en-US" sz="2800" dirty="0" err="1"/>
              <a:t>clozapine</a:t>
            </a:r>
            <a:r>
              <a:rPr lang="en-US" sz="2800" dirty="0"/>
              <a:t>/</a:t>
            </a:r>
            <a:r>
              <a:rPr lang="en-US" sz="2800" dirty="0" err="1"/>
              <a:t>olanzapine</a:t>
            </a:r>
            <a:endParaRPr lang="en-US" sz="2800" dirty="0"/>
          </a:p>
          <a:p>
            <a:pPr lvl="1"/>
            <a:r>
              <a:rPr lang="en-US" sz="2400" i="0" dirty="0"/>
              <a:t>Increased risk of hypotension</a:t>
            </a:r>
          </a:p>
          <a:p>
            <a:pPr lvl="1"/>
            <a:r>
              <a:rPr lang="en-US" sz="2400" b="1" i="0" dirty="0"/>
              <a:t>Avoid IM olanzapine (short acting) with benzodiazepines</a:t>
            </a:r>
          </a:p>
          <a:p>
            <a:pPr lvl="1"/>
            <a:endParaRPr lang="en-US" dirty="0"/>
          </a:p>
          <a:p>
            <a:endParaRPr lang="en-US" dirty="0"/>
          </a:p>
          <a:p>
            <a:endParaRPr lang="en-US" dirty="0"/>
          </a:p>
          <a:p>
            <a:pPr lvl="1">
              <a:buNone/>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769" y="1301361"/>
            <a:ext cx="6665231" cy="2584839"/>
          </a:xfrm>
        </p:spPr>
        <p:txBody>
          <a:bodyPr>
            <a:normAutofit/>
          </a:bodyPr>
          <a:lstStyle/>
          <a:p>
            <a:r>
              <a:rPr lang="en-US" sz="7000" dirty="0"/>
              <a:t>clozapine</a:t>
            </a:r>
          </a:p>
        </p:txBody>
      </p:sp>
      <p:sp>
        <p:nvSpPr>
          <p:cNvPr id="5" name="Text Placeholder 4">
            <a:extLst>
              <a:ext uri="{FF2B5EF4-FFF2-40B4-BE49-F238E27FC236}">
                <a16:creationId xmlns:a16="http://schemas.microsoft.com/office/drawing/2014/main" xmlns="" id="{070EBE5C-AC1E-42FC-8F94-871F99BF62F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942144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200900" cy="825861"/>
          </a:xfrm>
        </p:spPr>
        <p:txBody>
          <a:bodyPr>
            <a:normAutofit/>
          </a:bodyPr>
          <a:lstStyle/>
          <a:p>
            <a:r>
              <a:rPr lang="en-US" sz="4000" b="1" dirty="0"/>
              <a:t>When Do We Use Clozapine?</a:t>
            </a:r>
          </a:p>
        </p:txBody>
      </p:sp>
      <p:sp>
        <p:nvSpPr>
          <p:cNvPr id="3" name="Content Placeholder 2"/>
          <p:cNvSpPr>
            <a:spLocks noGrp="1"/>
          </p:cNvSpPr>
          <p:nvPr>
            <p:ph idx="1"/>
          </p:nvPr>
        </p:nvSpPr>
        <p:spPr>
          <a:xfrm>
            <a:off x="685800" y="1828800"/>
            <a:ext cx="8229600" cy="4175760"/>
          </a:xfrm>
        </p:spPr>
        <p:txBody>
          <a:bodyPr/>
          <a:lstStyle/>
          <a:p>
            <a:r>
              <a:rPr lang="en-US" sz="2800" dirty="0"/>
              <a:t>Kane Criteria:</a:t>
            </a:r>
          </a:p>
          <a:p>
            <a:pPr lvl="1"/>
            <a:r>
              <a:rPr lang="en-US" sz="2400" i="0" dirty="0"/>
              <a:t>Trial of 3 different agents </a:t>
            </a:r>
          </a:p>
          <a:p>
            <a:pPr lvl="2"/>
            <a:r>
              <a:rPr lang="en-US" sz="2200" i="0" dirty="0"/>
              <a:t>From separate chemical classes</a:t>
            </a:r>
          </a:p>
          <a:p>
            <a:pPr lvl="1"/>
            <a:r>
              <a:rPr lang="en-US" sz="2400" i="0" dirty="0"/>
              <a:t>Dosages </a:t>
            </a:r>
            <a:r>
              <a:rPr lang="en-US" sz="2400" i="0" u="sng" dirty="0"/>
              <a:t>&gt;</a:t>
            </a:r>
            <a:r>
              <a:rPr lang="en-US" sz="2400" i="0" dirty="0"/>
              <a:t>1000mg of chlorpromazine (or equivalent)</a:t>
            </a:r>
          </a:p>
          <a:p>
            <a:pPr lvl="1"/>
            <a:r>
              <a:rPr lang="en-US" sz="2400" i="0" dirty="0"/>
              <a:t>Treatment lasted at least 6 weeks without significant symptomatic relief</a:t>
            </a:r>
          </a:p>
          <a:p>
            <a:pPr lvl="1"/>
            <a:endParaRPr lang="en-US" dirty="0"/>
          </a:p>
        </p:txBody>
      </p:sp>
      <p:sp>
        <p:nvSpPr>
          <p:cNvPr id="4" name="TextBox 3"/>
          <p:cNvSpPr txBox="1"/>
          <p:nvPr/>
        </p:nvSpPr>
        <p:spPr>
          <a:xfrm>
            <a:off x="685800" y="6400800"/>
            <a:ext cx="2370162" cy="276999"/>
          </a:xfrm>
          <a:prstGeom prst="rect">
            <a:avLst/>
          </a:prstGeom>
          <a:noFill/>
        </p:spPr>
        <p:txBody>
          <a:bodyPr wrap="square" rtlCol="0">
            <a:spAutoFit/>
          </a:bodyPr>
          <a:lstStyle/>
          <a:p>
            <a:r>
              <a:rPr lang="en-US" sz="1200" dirty="0"/>
              <a:t>Kane, et al. 1988; 45:789-96</a:t>
            </a:r>
          </a:p>
        </p:txBody>
      </p:sp>
    </p:spTree>
    <p:extLst>
      <p:ext uri="{BB962C8B-B14F-4D97-AF65-F5344CB8AC3E}">
        <p14:creationId xmlns:p14="http://schemas.microsoft.com/office/powerpoint/2010/main" val="37881037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338" y="304800"/>
            <a:ext cx="8229600" cy="1066800"/>
          </a:xfrm>
        </p:spPr>
        <p:txBody>
          <a:bodyPr>
            <a:normAutofit/>
          </a:bodyPr>
          <a:lstStyle/>
          <a:p>
            <a:r>
              <a:rPr lang="en-US" sz="4000" b="1" dirty="0"/>
              <a:t>Clozapine</a:t>
            </a:r>
            <a:r>
              <a:rPr lang="en-US" sz="4000" dirty="0"/>
              <a:t> </a:t>
            </a:r>
          </a:p>
        </p:txBody>
      </p:sp>
      <p:sp>
        <p:nvSpPr>
          <p:cNvPr id="3" name="Content Placeholder 2"/>
          <p:cNvSpPr>
            <a:spLocks noGrp="1"/>
          </p:cNvSpPr>
          <p:nvPr>
            <p:ph idx="1"/>
          </p:nvPr>
        </p:nvSpPr>
        <p:spPr>
          <a:xfrm>
            <a:off x="843348" y="1168052"/>
            <a:ext cx="8225589" cy="5257800"/>
          </a:xfrm>
        </p:spPr>
        <p:txBody>
          <a:bodyPr>
            <a:normAutofit fontScale="92500" lnSpcReduction="10000"/>
          </a:bodyPr>
          <a:lstStyle/>
          <a:p>
            <a:r>
              <a:rPr lang="en-US" sz="2800" dirty="0"/>
              <a:t>Boxed Warnings:</a:t>
            </a:r>
          </a:p>
          <a:p>
            <a:pPr lvl="1"/>
            <a:r>
              <a:rPr lang="en-US" sz="2600" i="0" dirty="0"/>
              <a:t>Agranulocytosis (&lt;1.0%)</a:t>
            </a:r>
          </a:p>
          <a:p>
            <a:pPr lvl="1"/>
            <a:r>
              <a:rPr lang="en-US" sz="2600" i="0" dirty="0"/>
              <a:t>Seizures (dose dependent)</a:t>
            </a:r>
          </a:p>
          <a:p>
            <a:pPr lvl="2"/>
            <a:r>
              <a:rPr lang="en-US" sz="2400" dirty="0"/>
              <a:t>Roughly 1% risk per 100mg</a:t>
            </a:r>
          </a:p>
          <a:p>
            <a:pPr lvl="1"/>
            <a:r>
              <a:rPr lang="en-US" sz="2600" i="0" dirty="0"/>
              <a:t>Myocarditis</a:t>
            </a:r>
          </a:p>
          <a:p>
            <a:pPr lvl="1"/>
            <a:r>
              <a:rPr lang="en-US" sz="2600" i="0" dirty="0"/>
              <a:t>Other adverse cardiovascular and respiratory effects</a:t>
            </a:r>
          </a:p>
          <a:p>
            <a:pPr lvl="1"/>
            <a:endParaRPr lang="en-US" sz="2600" i="0" dirty="0"/>
          </a:p>
          <a:p>
            <a:r>
              <a:rPr lang="en-US" sz="2800" dirty="0"/>
              <a:t>Dose Dependent Side Effects:</a:t>
            </a:r>
          </a:p>
          <a:p>
            <a:pPr lvl="1"/>
            <a:r>
              <a:rPr lang="en-US" sz="2600" i="0" dirty="0"/>
              <a:t>Orthostatic hypotension</a:t>
            </a:r>
          </a:p>
          <a:p>
            <a:pPr lvl="1"/>
            <a:r>
              <a:rPr lang="en-US" sz="2600" i="0" dirty="0"/>
              <a:t>Tachycardia</a:t>
            </a:r>
          </a:p>
          <a:p>
            <a:pPr lvl="1"/>
            <a:r>
              <a:rPr lang="en-US" sz="2600" i="0" dirty="0"/>
              <a:t>Seizures</a:t>
            </a:r>
          </a:p>
          <a:p>
            <a:pPr lvl="1"/>
            <a:r>
              <a:rPr lang="en-US" sz="2600" i="0" dirty="0"/>
              <a:t>Sedation</a:t>
            </a:r>
          </a:p>
          <a:p>
            <a:endParaRPr lang="en-US" sz="2400" i="0" dirty="0"/>
          </a:p>
          <a:p>
            <a:pPr>
              <a:buNone/>
            </a:pPr>
            <a:endParaRPr lang="en-US" dirty="0"/>
          </a:p>
        </p:txBody>
      </p:sp>
      <p:sp>
        <p:nvSpPr>
          <p:cNvPr id="5" name="TextBox 4"/>
          <p:cNvSpPr txBox="1"/>
          <p:nvPr/>
        </p:nvSpPr>
        <p:spPr>
          <a:xfrm>
            <a:off x="608462" y="6425852"/>
            <a:ext cx="8306938" cy="400110"/>
          </a:xfrm>
          <a:prstGeom prst="rect">
            <a:avLst/>
          </a:prstGeom>
          <a:noFill/>
        </p:spPr>
        <p:txBody>
          <a:bodyPr wrap="square" rtlCol="0">
            <a:spAutoFit/>
          </a:bodyPr>
          <a:lstStyle/>
          <a:p>
            <a:r>
              <a:rPr lang="en-US" sz="1000" dirty="0" err="1"/>
              <a:t>Crismon</a:t>
            </a:r>
            <a:r>
              <a:rPr lang="en-US" sz="1000" dirty="0"/>
              <a:t> L, Argo TR, Buckley PF, et al. Chapter 50. Schizophrenia. In: </a:t>
            </a:r>
            <a:r>
              <a:rPr lang="en-US" sz="1000" dirty="0" err="1"/>
              <a:t>DiPiro</a:t>
            </a:r>
            <a:r>
              <a:rPr lang="en-US" sz="1000" dirty="0"/>
              <a:t> JT, Talbert RL, Yee GC, et al. </a:t>
            </a:r>
            <a:r>
              <a:rPr lang="en-US" sz="1000" i="1" dirty="0"/>
              <a:t>Pharmacotherapy:  A Pathophysiologic Approach, 9e. </a:t>
            </a:r>
            <a:r>
              <a:rPr lang="en-US" sz="1000" dirty="0"/>
              <a:t>New York, NY: McGraw-Hill; 2014.</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28700" y="304800"/>
            <a:ext cx="7200900" cy="685800"/>
          </a:xfrm>
        </p:spPr>
        <p:txBody>
          <a:bodyPr>
            <a:normAutofit/>
          </a:bodyPr>
          <a:lstStyle/>
          <a:p>
            <a:r>
              <a:rPr lang="en-US" sz="4000" b="1" dirty="0"/>
              <a:t>Summary</a:t>
            </a:r>
          </a:p>
        </p:txBody>
      </p:sp>
      <p:sp>
        <p:nvSpPr>
          <p:cNvPr id="2" name="Content Placeholder 1"/>
          <p:cNvSpPr>
            <a:spLocks noGrp="1"/>
          </p:cNvSpPr>
          <p:nvPr>
            <p:ph idx="1"/>
          </p:nvPr>
        </p:nvSpPr>
        <p:spPr>
          <a:xfrm>
            <a:off x="914400" y="1371600"/>
            <a:ext cx="7772400" cy="4800600"/>
          </a:xfrm>
        </p:spPr>
        <p:txBody>
          <a:bodyPr>
            <a:normAutofit fontScale="25000" lnSpcReduction="20000"/>
          </a:bodyPr>
          <a:lstStyle/>
          <a:p>
            <a:r>
              <a:rPr lang="en-US" sz="10400" dirty="0"/>
              <a:t>Schizophrenia is a debilitating psychiatric disorder that affects a person’s social and occupational functioning</a:t>
            </a:r>
          </a:p>
          <a:p>
            <a:pPr marL="45720" indent="0">
              <a:buNone/>
            </a:pPr>
            <a:endParaRPr lang="en-US" sz="4000" dirty="0"/>
          </a:p>
          <a:p>
            <a:r>
              <a:rPr lang="en-US" sz="10400" dirty="0"/>
              <a:t>Presenting symptoms of schizophrenia include both positive (hallucinations) and negative (anhedonia) symptoms</a:t>
            </a:r>
          </a:p>
          <a:p>
            <a:pPr marL="45720" indent="0">
              <a:buNone/>
            </a:pPr>
            <a:endParaRPr lang="en-US" sz="4000" dirty="0"/>
          </a:p>
          <a:p>
            <a:r>
              <a:rPr lang="en-US" sz="10400" dirty="0"/>
              <a:t>Treatment options include 1</a:t>
            </a:r>
            <a:r>
              <a:rPr lang="en-US" sz="10400" baseline="30000" dirty="0"/>
              <a:t>st</a:t>
            </a:r>
            <a:r>
              <a:rPr lang="en-US" sz="10400" dirty="0"/>
              <a:t> and 2</a:t>
            </a:r>
            <a:r>
              <a:rPr lang="en-US" sz="10400" baseline="30000" dirty="0"/>
              <a:t>nd</a:t>
            </a:r>
            <a:r>
              <a:rPr lang="en-US" sz="10400" dirty="0"/>
              <a:t> generation antipsychotics; medication options differ in side effect profile, formulations, cost, and drug interactions</a:t>
            </a:r>
          </a:p>
          <a:p>
            <a:pPr marL="45720" indent="0">
              <a:buNone/>
            </a:pPr>
            <a:endParaRPr lang="en-US" sz="4000" dirty="0"/>
          </a:p>
          <a:p>
            <a:endParaRPr lang="en-US" dirty="0"/>
          </a:p>
          <a:p>
            <a:endParaRPr lang="en-US" dirty="0"/>
          </a:p>
          <a:p>
            <a:endParaRPr lang="en-US" dirty="0"/>
          </a:p>
        </p:txBody>
      </p:sp>
    </p:spTree>
    <p:extLst>
      <p:ext uri="{BB962C8B-B14F-4D97-AF65-F5344CB8AC3E}">
        <p14:creationId xmlns:p14="http://schemas.microsoft.com/office/powerpoint/2010/main" val="69462862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A8C6FF6BDAF404CBB4DBEE1F6EB2AFC" ma:contentTypeVersion="0" ma:contentTypeDescription="Create a new document." ma:contentTypeScope="" ma:versionID="7f9f4c3af7b7786c0add0d42a7fca65f">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61FFD7-CBBB-4FC5-B75F-6C20304DB126}">
  <ds:schemaRefs>
    <ds:schemaRef ds:uri="http://schemas.microsoft.com/sharepoint/v3/contenttype/forms"/>
  </ds:schemaRefs>
</ds:datastoreItem>
</file>

<file path=customXml/itemProps2.xml><?xml version="1.0" encoding="utf-8"?>
<ds:datastoreItem xmlns:ds="http://schemas.openxmlformats.org/officeDocument/2006/customXml" ds:itemID="{E2071294-9761-4284-9F39-2E3382D0E441}">
  <ds:schemaRefs>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http://purl.org/dc/terms/"/>
    <ds:schemaRef ds:uri="http://purl.org/dc/elements/1.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95C6271B-5C5D-483C-B78A-07773D187A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TM10001105[[fn=Crop]]</Template>
  <TotalTime>27670</TotalTime>
  <Words>7960</Words>
  <Application>Microsoft Office PowerPoint</Application>
  <PresentationFormat>On-screen Show (4:3)</PresentationFormat>
  <Paragraphs>1464</Paragraphs>
  <Slides>56</Slides>
  <Notes>56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Arial</vt:lpstr>
      <vt:lpstr>Calibri</vt:lpstr>
      <vt:lpstr>Cambria</vt:lpstr>
      <vt:lpstr>Franklin Gothic Book</vt:lpstr>
      <vt:lpstr>Franklin Gothic Medium</vt:lpstr>
      <vt:lpstr>Times New Roman</vt:lpstr>
      <vt:lpstr>Wingdings</vt:lpstr>
      <vt:lpstr>Crop</vt:lpstr>
      <vt:lpstr>Antipsychotic Medications     </vt:lpstr>
      <vt:lpstr>What is Schizophrenia?</vt:lpstr>
      <vt:lpstr>Symptom Domains</vt:lpstr>
      <vt:lpstr>PowerPoint Presentation</vt:lpstr>
      <vt:lpstr>PowerPoint Presentation</vt:lpstr>
      <vt:lpstr>PowerPoint Presentation</vt:lpstr>
      <vt:lpstr>Schizophrenia Hypotheses </vt:lpstr>
      <vt:lpstr>Dopamine Hypothesis</vt:lpstr>
      <vt:lpstr>Dopamine Thresholds for Effects</vt:lpstr>
      <vt:lpstr>Dopamine Thresholds for Effects</vt:lpstr>
      <vt:lpstr>Clinical Antipsychotic Trials of Intervention Effectiveness (CATIE) </vt:lpstr>
      <vt:lpstr>How Do We Choose a Medication?</vt:lpstr>
      <vt:lpstr>antipsychotics</vt:lpstr>
      <vt:lpstr>1st Generation/Typical Antipsychotics</vt:lpstr>
      <vt:lpstr>1st Generation/Typical Antipsychotics</vt:lpstr>
      <vt:lpstr>1st Generation/Typical Antipsychotics*</vt:lpstr>
      <vt:lpstr>1st Generation Antipsychotics: High Potency Agents</vt:lpstr>
      <vt:lpstr>1st Generation Antipsychotics:                          Mid-Low Potency Agents</vt:lpstr>
      <vt:lpstr>1st Generation Antipsychotic Formulations</vt:lpstr>
      <vt:lpstr>2nd Generation/Atypical Antipsychotics</vt:lpstr>
      <vt:lpstr>2nd Generation/Atypical Antipsychotics</vt:lpstr>
      <vt:lpstr>2nd Generation/Atypical Antipsychotics</vt:lpstr>
      <vt:lpstr>“ATYPICALS”- RELATIVE POTENCY </vt:lpstr>
      <vt:lpstr>“The Pines”</vt:lpstr>
      <vt:lpstr>“The Dones”</vt:lpstr>
      <vt:lpstr>“The Ips” (and Pimavanserin)</vt:lpstr>
      <vt:lpstr>Antipsychotics: Long acting Injections</vt:lpstr>
      <vt:lpstr>1st Generation Antipsychotics: LAI</vt:lpstr>
      <vt:lpstr>2nd Generation Antipsychotics: LAI</vt:lpstr>
      <vt:lpstr>PowerPoint Presentation</vt:lpstr>
      <vt:lpstr>Adverse reaction profiles</vt:lpstr>
      <vt:lpstr>Extrapyramidal Side Effects</vt:lpstr>
      <vt:lpstr>Acute Dystonia</vt:lpstr>
      <vt:lpstr>Pseudoparkinsonism</vt:lpstr>
      <vt:lpstr>Akathisia</vt:lpstr>
      <vt:lpstr>Tardive Dyskinesia</vt:lpstr>
      <vt:lpstr>VMAT2-inhibitors</vt:lpstr>
      <vt:lpstr>Rating Scales: Extrapyramidal Effects</vt:lpstr>
      <vt:lpstr>Mortality in Dementia-Related Psychosis</vt:lpstr>
      <vt:lpstr>Endocrine Adverse Effects</vt:lpstr>
      <vt:lpstr>Neuroleptic Malignant Syndrome (NMS)</vt:lpstr>
      <vt:lpstr>EKG Changes: QTc Prolongation</vt:lpstr>
      <vt:lpstr>Metabolic Adverse Effects</vt:lpstr>
      <vt:lpstr>Monitoring of Metabolic Effects</vt:lpstr>
      <vt:lpstr>Adverse Effect Profile: 1St Generation</vt:lpstr>
      <vt:lpstr>Adverse Effect Profile: 1st Generation</vt:lpstr>
      <vt:lpstr>Adverse Effect Profile: 2nd Generation</vt:lpstr>
      <vt:lpstr>Adverse Effect Profile: 2nd Generation</vt:lpstr>
      <vt:lpstr>Comparative 2nd Gen Adverse Events</vt:lpstr>
      <vt:lpstr>PowerPoint Presentation</vt:lpstr>
      <vt:lpstr>Metabolism &amp; drug interactions</vt:lpstr>
      <vt:lpstr>Metabolism &amp; Drug Interactions</vt:lpstr>
      <vt:lpstr>clozapine</vt:lpstr>
      <vt:lpstr>When Do We Use Clozapine?</vt:lpstr>
      <vt:lpstr>Clozapine </vt:lpstr>
      <vt:lpstr>Summary</vt:lpstr>
    </vt:vector>
  </TitlesOfParts>
  <Company>Cleveland VA Medical Center</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ANTIPSYCHOTICS</dc:title>
  <dc:creator>VHACLEPalmeE</dc:creator>
  <cp:lastModifiedBy>RHMN01AEFW20shared</cp:lastModifiedBy>
  <cp:revision>1546</cp:revision>
  <cp:lastPrinted>2018-09-12T20:36:34Z</cp:lastPrinted>
  <dcterms:created xsi:type="dcterms:W3CDTF">2012-07-17T14:11:07Z</dcterms:created>
  <dcterms:modified xsi:type="dcterms:W3CDTF">2020-08-27T18:15:43Z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0x010100DA8C6FF6BDAF404CBB4DBEE1F6EB2AFC</vt:lpwstr>
  </property>
</Properties>
</file>